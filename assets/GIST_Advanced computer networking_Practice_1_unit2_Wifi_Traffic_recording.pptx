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1011" r:id="rId3"/>
    <p:sldId id="1072" r:id="rId4"/>
    <p:sldId id="1073" r:id="rId5"/>
    <p:sldId id="1056" r:id="rId6"/>
    <p:sldId id="1074" r:id="rId7"/>
    <p:sldId id="1076" r:id="rId8"/>
    <p:sldId id="1077" r:id="rId9"/>
    <p:sldId id="1078" r:id="rId10"/>
    <p:sldId id="1079" r:id="rId11"/>
    <p:sldId id="1081" r:id="rId12"/>
    <p:sldId id="1075" r:id="rId13"/>
    <p:sldId id="1057" r:id="rId14"/>
    <p:sldId id="516" r:id="rId15"/>
    <p:sldId id="517" r:id="rId16"/>
    <p:sldId id="518" r:id="rId17"/>
    <p:sldId id="519" r:id="rId18"/>
    <p:sldId id="521" r:id="rId19"/>
    <p:sldId id="523" r:id="rId20"/>
    <p:sldId id="1131" r:id="rId21"/>
    <p:sldId id="1091" r:id="rId22"/>
    <p:sldId id="1092" r:id="rId23"/>
    <p:sldId id="1098" r:id="rId24"/>
    <p:sldId id="1094" r:id="rId25"/>
    <p:sldId id="1085" r:id="rId26"/>
    <p:sldId id="1105" r:id="rId27"/>
    <p:sldId id="1133" r:id="rId28"/>
    <p:sldId id="1106" r:id="rId29"/>
    <p:sldId id="1107" r:id="rId30"/>
    <p:sldId id="1108" r:id="rId31"/>
    <p:sldId id="1109" r:id="rId32"/>
    <p:sldId id="1110" r:id="rId33"/>
    <p:sldId id="1111" r:id="rId34"/>
    <p:sldId id="1112" r:id="rId35"/>
    <p:sldId id="1113" r:id="rId36"/>
    <p:sldId id="1114" r:id="rId37"/>
    <p:sldId id="1115" r:id="rId38"/>
    <p:sldId id="1116" r:id="rId39"/>
    <p:sldId id="1086" r:id="rId40"/>
    <p:sldId id="1117" r:id="rId41"/>
    <p:sldId id="1118" r:id="rId42"/>
    <p:sldId id="1087" r:id="rId43"/>
    <p:sldId id="1119" r:id="rId44"/>
    <p:sldId id="1120" r:id="rId45"/>
    <p:sldId id="1121" r:id="rId46"/>
    <p:sldId id="1088" r:id="rId47"/>
    <p:sldId id="1122" r:id="rId48"/>
    <p:sldId id="1123" r:id="rId49"/>
    <p:sldId id="1089" r:id="rId50"/>
    <p:sldId id="1130" r:id="rId51"/>
    <p:sldId id="1129" r:id="rId52"/>
    <p:sldId id="1126" r:id="rId53"/>
    <p:sldId id="1127" r:id="rId54"/>
    <p:sldId id="1090" r:id="rId55"/>
    <p:sldId id="1058" r:id="rId5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393" userDrawn="1">
          <p15:clr>
            <a:srgbClr val="A4A3A4"/>
          </p15:clr>
        </p15:guide>
        <p15:guide id="3" pos="506" userDrawn="1">
          <p15:clr>
            <a:srgbClr val="A4A3A4"/>
          </p15:clr>
        </p15:guide>
        <p15:guide id="4" pos="688" userDrawn="1">
          <p15:clr>
            <a:srgbClr val="A4A3A4"/>
          </p15:clr>
        </p15:guide>
        <p15:guide id="6" orient="horz" pos="323" userDrawn="1">
          <p15:clr>
            <a:srgbClr val="A4A3A4"/>
          </p15:clr>
        </p15:guide>
        <p15:guide id="7" pos="914" userDrawn="1">
          <p15:clr>
            <a:srgbClr val="A4A3A4"/>
          </p15:clr>
        </p15:guide>
        <p15:guide id="8" pos="234" userDrawn="1">
          <p15:clr>
            <a:srgbClr val="A4A3A4"/>
          </p15:clr>
        </p15:guide>
        <p15:guide id="9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1D6"/>
    <a:srgbClr val="1E88B8"/>
    <a:srgbClr val="0076A3"/>
    <a:srgbClr val="F5F5F5"/>
    <a:srgbClr val="439028"/>
    <a:srgbClr val="E65E1A"/>
    <a:srgbClr val="D8EEF8"/>
    <a:srgbClr val="64BEE6"/>
    <a:srgbClr val="C3E6F5"/>
    <a:srgbClr val="2BA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75" autoAdjust="0"/>
    <p:restoredTop sz="79879" autoAdjust="0"/>
  </p:normalViewPr>
  <p:slideViewPr>
    <p:cSldViewPr snapToGrid="0">
      <p:cViewPr varScale="1">
        <p:scale>
          <a:sx n="80" d="100"/>
          <a:sy n="80" d="100"/>
        </p:scale>
        <p:origin x="68" y="1084"/>
      </p:cViewPr>
      <p:guideLst>
        <p:guide pos="3840"/>
        <p:guide pos="393"/>
        <p:guide pos="506"/>
        <p:guide pos="688"/>
        <p:guide orient="horz" pos="323"/>
        <p:guide pos="914"/>
        <p:guide pos="234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retendard Light" panose="02000403000000020004" pitchFamily="2" charset="-127"/>
                <a:ea typeface="Pretendard Light" panose="020004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retendard Light" panose="02000403000000020004" pitchFamily="2" charset="-127"/>
                <a:ea typeface="Pretendard Light" panose="02000403000000020004" pitchFamily="2" charset="-127"/>
              </a:defRPr>
            </a:lvl1pPr>
          </a:lstStyle>
          <a:p>
            <a:fld id="{E9881DAD-29D0-4462-A015-AE6325E2BB42}" type="datetimeFigureOut">
              <a:rPr lang="ko-KR" altLang="en-US" smtClean="0"/>
              <a:pPr/>
              <a:t>2025-11-21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retendard Light" panose="02000403000000020004" pitchFamily="2" charset="-127"/>
                <a:ea typeface="Pretendard Light" panose="020004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retendard Light" panose="02000403000000020004" pitchFamily="2" charset="-127"/>
                <a:ea typeface="Pretendard Light" panose="02000403000000020004" pitchFamily="2" charset="-127"/>
              </a:defRPr>
            </a:lvl1pPr>
          </a:lstStyle>
          <a:p>
            <a:fld id="{11F0AF40-D5B6-4D0F-960D-F933654242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7519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 Light" panose="02000403000000020004" pitchFamily="2" charset="-127"/>
        <a:ea typeface="Pretendard Light" panose="02000403000000020004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981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9F73-2B06-5F96-DEE7-1E0C1D66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163D3-4740-4379-CC5F-382EBB914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2F227-3512-4550-9DBB-51635017D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A317F-5BB6-7F66-7898-FC75E484CE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323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EB8B9-064F-C5A6-0A8D-98EE7AE0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76B3A-DAE5-8EE0-B6F2-22261E980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54146-BD3C-5635-8F07-E93728A85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CF211-AC53-A3E2-4433-4F23618F9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11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B0029-E675-20CC-F2D2-5D74442E1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686F4-989C-065D-401D-61177C0E9A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649B2-59B6-5A36-0A71-BB05DEEC3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31EFE-1075-0FAC-BE93-699962665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86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C7FD4-5321-A44A-725F-3C4242EB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85DDA-DE50-F1DB-C81D-4F07D914C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3AD21E-3D96-025F-2ACC-E11FFCF99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4D1C9-8CB9-247F-418D-D30AC2565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70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4A4D-7E2A-A040-178F-B807572B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7D397-B634-81CD-309C-6EAE72243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4EE3A-D0CA-BE3A-65C8-BE5150B6A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012C4-3D63-9773-8C5B-ABD96A5CCC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293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BD082-DC20-7E81-5BE6-0FB25E6C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7D1C76-044C-D363-1CE4-F1B7880B5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B5647-A833-AC55-A298-F0BDBA8DF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1FC57-E1D6-E4E4-16E9-14C7115F8F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008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2B5C9-E586-C99A-513C-4B5C2A12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C76D7-FC26-8EB1-B6FA-22A6F14FC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965A2C-FBD7-BC30-B561-8757FB2FE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2E3EA-951F-2D87-B0DC-395AF6956E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985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E1FD-2C60-3819-0273-E0EF6A358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3843B-2E86-BEDE-8BDD-D94B2C391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82867-1A2D-E27B-9E01-F7DB798EF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5A57A-9C7F-2FA0-242B-0AD600BB7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850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505F0-3453-0117-6BCE-C3FD1430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D0D84-69EF-B951-8283-6BF6001FB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7E63B-A357-F8DE-0F67-F514110BB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F7FB5-1B81-5891-E5A8-7A9FC5DDD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576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89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897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734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704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16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CA5AA-B72B-3F94-E84F-546DFBE43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3E96BF-D46C-DF3D-96EB-F64DA50AE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FE902-A871-A223-0D84-7C8080A37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D65E1-95AD-97B7-E2A2-548269D4CD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5003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505F0-3453-0117-6BCE-C3FD1430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6D0D84-69EF-B951-8283-6BF6001FB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7E63B-A357-F8DE-0F67-F514110BB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F7FB5-1B81-5891-E5A8-7A9FC5DDD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9462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AC9C-3B45-D10C-0617-D9B0F514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056EE-6D37-BA38-5EDA-A2E614CF6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EE183-6C22-4CFA-8B39-B1B653AD5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8BF77B-0DFE-E6D7-BCA2-4A0867671A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177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9944-D4F2-5C43-849E-AD56A15E0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AD43A-A442-E9AD-BF62-DEAEFCE7F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5112E-FB3B-43D9-5C14-B1A5682CA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5F3C-8802-A95E-4E00-E5192A5DD9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0990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D1F1C-FE4D-A035-414C-9956F331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69355-9B82-21DA-F1B3-5826C3139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2D2238-4B3A-7777-8746-4F0E6D754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EA335-EEBD-E03C-1CA7-90DB3C8BC5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8889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42C0E-59D6-488C-CC40-E90BCF5A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3D917-5835-8472-0233-57874A4102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74EA8-FEEC-AE30-AE98-7EA97627D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A3770-F45A-89B3-CAF0-73C831AD4D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4666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59654-DAC8-2836-CD15-79219E34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4315F-1BAD-411D-C970-654397FE7E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7546E9-0FAE-D10F-776A-7B67CA07D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4A3A9-6ECA-40B1-D4A0-D258C7789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8095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60BEF-16D8-443E-8CD6-48E9B8DF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5DF29-8334-CCBE-B3E3-8A60069FB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BD96E-A895-DDF9-581F-B611B386A9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165C8-3118-2855-9B30-A46E91B6D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66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DC74-7FA3-9040-A2EA-C27F0EC1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0229A-FC00-D9E9-4785-75CF92555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C6D0A-CC59-2880-632D-DEE019AF5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F20E8-C05A-5892-D571-90B333699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591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1DC74-7FA3-9040-A2EA-C27F0EC1E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0229A-FC00-D9E9-4785-75CF92555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EC6D0A-CC59-2880-632D-DEE019AF5C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F20E8-C05A-5892-D571-90B333699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5269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CDD63-AA1A-62CD-D010-3C9AFA5B3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4C13A-6F34-5E24-2A13-CF7158C6E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259F62-19E1-46EE-366D-98197C885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F4719-ABD6-2B14-FEDA-1D1FA0362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2649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C8B3A-AC34-6E03-C2A3-1D9DF35B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A4C0C-04DE-19AA-7B99-A34A8474B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7E52CD-EEF3-825F-652C-D19D3AC5E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1F188-A8F7-379A-0640-8A9E0BE27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3271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AF205-8856-CABD-D8F3-A009C2ED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A155F4-35EE-8875-A2C9-4131434FE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9414F-3E0E-2CFB-2892-381E54563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74005-6B31-7C2E-E68D-DC4884A245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9639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66AF-4619-FB4B-9B90-E174DF641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D22FD-3BA9-A5F3-5375-430687D32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CAAF6-A0B6-15C4-EBE5-9620CE17C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74A45-F645-CB00-EE83-ABB282EBE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1082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9625-EEB6-2A6E-93AA-887F834A4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4369CC-D2CA-6A19-F4C6-B9A2426B6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B91DE-E230-C274-EC60-0C52BC036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EDBF2-0CB4-662C-AD0A-1874194D23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2459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43CB-73EA-20EA-D58A-C32016C73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B8B9D-D117-F324-44A2-84539A9A1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F32FD-2ACF-48E8-A6D0-5CA651EDE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45BF1-A8B3-C14F-7249-91FC6637D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2001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7838C-55C9-212A-8093-35E20675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2B0712-CD85-C16F-D547-F57664381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954F3-6020-8B54-3ADB-49CE7C531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EA45D-D855-95E8-A40F-25261C8549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2113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58E43-EDD1-4B05-98F8-5BB4636EE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EF2105-B6E0-6565-80D4-DE86EB707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81EEF-A962-7FA5-B598-DF9DD2403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07385-954A-942F-A363-5CA3D7650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4937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40B4-F2D3-CA1F-D442-6CC61696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E0608-E741-30E7-6BCC-EFF8802383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4F3835-7843-050E-6EA8-FF2607B39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5734E-768C-544E-7C64-57093A527F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0722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B5108-DD12-D4B6-08DA-9203F393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C0E469-67F5-4829-4B7E-3CED57882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8EEA44-3792-628E-D389-D83A61DBE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D9D20-A266-3172-B2CD-05FBB71241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0349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850F-6FA2-9C9A-E3F5-06F7E5B86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DEAF1-06C3-A0F6-38C1-FB1B5C65F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1CD6F-07ED-A7C1-56EF-7779ABE188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B88CC-480F-447D-C029-90537BA77F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47446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FC44-EF10-44C2-E787-D4C1F8799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721FB-516F-6B40-EFBC-3F5E63623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4ED3A-6949-7D48-7CAF-655315303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4BB2-D8CA-3499-6097-11A06F6B47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0202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61E6D-51FD-1E38-33C7-2D992826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B75DC-9B28-33C1-A665-B1230CE6B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14FCF-73DE-914E-BF3C-070184976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980F-A85E-2AB1-7266-3954C2918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0780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903B6-7A92-562D-01BD-E10681ED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FBE3D-E991-FA38-26EF-C1F7419AE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6DD74-6742-B5BB-694E-8606FC15E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AFB1D-3F8A-245B-8847-AEC088B5F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1085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5D5FB-9761-8593-7C0A-73C05C6C3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7A5E3-C06F-7646-962A-E32DFC87B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74834-4AC0-4E6C-12F1-9351203B1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989B0-0696-26BB-B0BC-B238440D0F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6966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FC0F3-3B00-13B3-AE5B-927699CBA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CDD68-CF9C-70C5-8EBA-420FFABB0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7AA771-6D6F-80ED-7D15-0E6BDC74E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D00AD-8E9D-06DC-9F3A-0279EF59E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0922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46B52-D8C2-C28E-C4D2-2939E128E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9F102-8AB7-B236-8A47-9EDB7D7A7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F1BA93-80C6-2956-D5FB-4B4E1BD10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A96A9-108B-A5B5-709B-6E929491C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2197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37CDE-CCD7-9CE7-118C-2CF0ADDA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02032-62CC-7B64-A4F9-99E4AC2D0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0CD69-EEC0-E023-41A5-D897C98CA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4D765-AD49-B6DF-89FD-8D65AB472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05374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BAA0-326A-67B6-38A4-798DB793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D9DC5-AC02-584C-3D89-C74F7A737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F2FB3-B0F9-E56C-55F4-5E9009A2A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947BC-83DC-E595-78E7-629BD2476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02124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F0C1B-6908-5B41-9CF4-E28945DCD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5455C-0401-0E8B-86E8-BA91874E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C17877-D401-3C42-DD16-AFB223308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85BB3-6CC1-CA8D-2A5E-819E53E83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0390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104A2-1C18-0232-CFFC-DED555CD2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F7BFF-233E-F931-0598-F4287E7C8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29031-7463-8DD6-453E-32F0C2228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016E-40B8-E223-E112-F68DD32BF2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8475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0FC24-057E-90F3-F9F9-F3C96589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CFD47C-4ED5-56D7-1651-F9510197E0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D17A2-FA7F-D79D-2728-3DDEA750A9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2622D-DB14-4A91-4425-A58BFB741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44767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4080-1FC3-1600-306A-B452129C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28C34-52D7-5D89-301D-2C4FF628F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8B32C-37FF-1757-5674-BD3FC1F9E5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1410D-AA59-273B-4B2D-827F8D23F4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95096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C801-6E49-0638-9053-A8FFB837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4EC0B-606D-26EF-1AC4-397810624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23839-F144-3D63-C3D6-985FF0E70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869D2-D77F-D606-849E-21E3BA4ECC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92601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56BE5-E1FE-0D87-95C9-CF19F4D2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923E87-256E-45F6-F9D5-93B162EBC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A5A1D7-8D48-4DC4-E1FC-BC3EA6B46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89E7D-F71D-DFBA-33ED-02EF597698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41768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434F-F9BD-F5E0-1C91-FBA9DE10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24914-3C5C-DE8C-14B9-AE8C1CD4C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6D0986-413E-F99C-1AF0-45BB9D1C21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21556-AC7A-418F-1A22-D6D4D7CC4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4978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FD5FE-ED31-30C9-048B-DFB6D97D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0CFD4-AAC3-D5C4-CC8B-A31EC0F9E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8F75B2-A674-6B21-948F-838A77D9A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B8B3C-88AA-A489-0943-BF0485DAB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F0AF40-D5B6-4D0F-960D-F933654242EC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99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CC0F0B0-4140-1C76-63C4-54B46EEA8F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86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컴퓨터, 노트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74971-476E-8EF1-582B-D144623DA9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그림 9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985EB3-79D9-E4EC-1CB5-14184EB266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187777"/>
            <a:ext cx="2639786" cy="62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45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6" y="128179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Objectives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EF6A61-7120-6522-097E-B94E4DDFA020}"/>
              </a:ext>
            </a:extLst>
          </p:cNvPr>
          <p:cNvSpPr/>
          <p:nvPr userDrawn="1"/>
        </p:nvSpPr>
        <p:spPr>
          <a:xfrm>
            <a:off x="849086" y="396784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Contents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862EB3-5CA8-A1A2-900C-F4B22AD351B2}"/>
              </a:ext>
            </a:extLst>
          </p:cNvPr>
          <p:cNvSpPr/>
          <p:nvPr userDrawn="1"/>
        </p:nvSpPr>
        <p:spPr>
          <a:xfrm>
            <a:off x="395651" y="394601"/>
            <a:ext cx="4704249" cy="338554"/>
          </a:xfrm>
          <a:prstGeom prst="roundRect">
            <a:avLst>
              <a:gd name="adj" fmla="val 278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Local Area Network Technology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80A7C-61FF-DACF-BF53-2CF707272C59}"/>
              </a:ext>
            </a:extLst>
          </p:cNvPr>
          <p:cNvSpPr txBox="1"/>
          <p:nvPr userDrawn="1"/>
        </p:nvSpPr>
        <p:spPr>
          <a:xfrm>
            <a:off x="460183" y="32268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Unit 2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7091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6" y="1281793"/>
            <a:ext cx="1657350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Objectives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EF6A61-7120-6522-097E-B94E4DDFA020}"/>
              </a:ext>
            </a:extLst>
          </p:cNvPr>
          <p:cNvSpPr/>
          <p:nvPr userDrawn="1"/>
        </p:nvSpPr>
        <p:spPr>
          <a:xfrm>
            <a:off x="849085" y="3967843"/>
            <a:ext cx="2820389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Overview/roadmap</a:t>
            </a:r>
            <a:endParaRPr lang="en-US" altLang="ko-KR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E862EB3-5CA8-A1A2-900C-F4B22AD351B2}"/>
              </a:ext>
            </a:extLst>
          </p:cNvPr>
          <p:cNvSpPr/>
          <p:nvPr userDrawn="1"/>
        </p:nvSpPr>
        <p:spPr>
          <a:xfrm>
            <a:off x="395651" y="394601"/>
            <a:ext cx="4704249" cy="338554"/>
          </a:xfrm>
          <a:prstGeom prst="roundRect">
            <a:avLst>
              <a:gd name="adj" fmla="val 278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Local Area Network Technology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80A7C-61FF-DACF-BF53-2CF707272C59}"/>
              </a:ext>
            </a:extLst>
          </p:cNvPr>
          <p:cNvSpPr txBox="1"/>
          <p:nvPr userDrawn="1"/>
        </p:nvSpPr>
        <p:spPr>
          <a:xfrm>
            <a:off x="460183" y="32268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Unit 2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702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5" y="1281793"/>
            <a:ext cx="1652815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Objectives</a:t>
            </a: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E09BBB3-8829-CED4-BD87-891EF8712698}"/>
              </a:ext>
            </a:extLst>
          </p:cNvPr>
          <p:cNvSpPr/>
          <p:nvPr userDrawn="1"/>
        </p:nvSpPr>
        <p:spPr>
          <a:xfrm>
            <a:off x="142043" y="3932808"/>
            <a:ext cx="2024108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B7B96E-B2A4-6053-D90E-CB18C570C194}"/>
              </a:ext>
            </a:extLst>
          </p:cNvPr>
          <p:cNvSpPr/>
          <p:nvPr userDrawn="1"/>
        </p:nvSpPr>
        <p:spPr>
          <a:xfrm>
            <a:off x="872969" y="3116062"/>
            <a:ext cx="10419427" cy="17045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C4698A-A964-A397-1421-DECC69B9D5A6}"/>
              </a:ext>
            </a:extLst>
          </p:cNvPr>
          <p:cNvPicPr>
            <a:picLocks/>
          </p:cNvPicPr>
          <p:nvPr userDrawn="1"/>
        </p:nvPicPr>
        <p:blipFill>
          <a:blip r:embed="rId4"/>
          <a:srcRect l="2" r="13123" b="5286"/>
          <a:stretch>
            <a:fillRect/>
          </a:stretch>
        </p:blipFill>
        <p:spPr>
          <a:xfrm>
            <a:off x="11270131" y="2985493"/>
            <a:ext cx="66208" cy="1615083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F5AD41E-C780-E6BF-7365-4AEDC8860725}"/>
              </a:ext>
            </a:extLst>
          </p:cNvPr>
          <p:cNvSpPr/>
          <p:nvPr userDrawn="1"/>
        </p:nvSpPr>
        <p:spPr>
          <a:xfrm>
            <a:off x="395651" y="394601"/>
            <a:ext cx="4704249" cy="338554"/>
          </a:xfrm>
          <a:prstGeom prst="roundRect">
            <a:avLst>
              <a:gd name="adj" fmla="val 278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Local Area Network Technology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5DB86-2271-E1A2-1CDF-B0AE612E1876}"/>
              </a:ext>
            </a:extLst>
          </p:cNvPr>
          <p:cNvSpPr txBox="1"/>
          <p:nvPr userDrawn="1"/>
        </p:nvSpPr>
        <p:spPr>
          <a:xfrm>
            <a:off x="460183" y="32268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Unit 2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5453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5" y="1281793"/>
            <a:ext cx="2879535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Overview/roadmap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E09BBB3-8829-CED4-BD87-891EF8712698}"/>
              </a:ext>
            </a:extLst>
          </p:cNvPr>
          <p:cNvSpPr/>
          <p:nvPr userDrawn="1"/>
        </p:nvSpPr>
        <p:spPr>
          <a:xfrm>
            <a:off x="142043" y="3932808"/>
            <a:ext cx="2024108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B7B96E-B2A4-6053-D90E-CB18C570C194}"/>
              </a:ext>
            </a:extLst>
          </p:cNvPr>
          <p:cNvSpPr/>
          <p:nvPr userDrawn="1"/>
        </p:nvSpPr>
        <p:spPr>
          <a:xfrm>
            <a:off x="872969" y="3116062"/>
            <a:ext cx="10419427" cy="17045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C4698A-A964-A397-1421-DECC69B9D5A6}"/>
              </a:ext>
            </a:extLst>
          </p:cNvPr>
          <p:cNvPicPr>
            <a:picLocks/>
          </p:cNvPicPr>
          <p:nvPr userDrawn="1"/>
        </p:nvPicPr>
        <p:blipFill>
          <a:blip r:embed="rId4"/>
          <a:srcRect l="2" r="13123" b="5286"/>
          <a:stretch>
            <a:fillRect/>
          </a:stretch>
        </p:blipFill>
        <p:spPr>
          <a:xfrm>
            <a:off x="11270131" y="2985493"/>
            <a:ext cx="66208" cy="1615083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7D04108-FDC7-1DAC-C8F5-08AEB6CD0A93}"/>
              </a:ext>
            </a:extLst>
          </p:cNvPr>
          <p:cNvSpPr/>
          <p:nvPr userDrawn="1"/>
        </p:nvSpPr>
        <p:spPr>
          <a:xfrm>
            <a:off x="395651" y="394601"/>
            <a:ext cx="4704249" cy="338554"/>
          </a:xfrm>
          <a:prstGeom prst="roundRect">
            <a:avLst>
              <a:gd name="adj" fmla="val 278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Local Area Network Technology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6EA3F-BBF1-9F46-9419-06253666E507}"/>
              </a:ext>
            </a:extLst>
          </p:cNvPr>
          <p:cNvSpPr txBox="1"/>
          <p:nvPr userDrawn="1"/>
        </p:nvSpPr>
        <p:spPr>
          <a:xfrm>
            <a:off x="460183" y="32268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Unit 2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134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DB7BA6-6C5A-CC32-41A0-24BFD9C0D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4D02A3F-6247-9A9D-4F19-B05330988786}"/>
              </a:ext>
            </a:extLst>
          </p:cNvPr>
          <p:cNvSpPr/>
          <p:nvPr userDrawn="1"/>
        </p:nvSpPr>
        <p:spPr>
          <a:xfrm>
            <a:off x="849085" y="1281793"/>
            <a:ext cx="1512375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Contents</a:t>
            </a:r>
            <a:endParaRPr lang="ko-KR" altLang="en-US" sz="2000" b="1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7" name="그림 6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EB621A-BC91-C8D7-B7AB-BDB45BD57F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DE09BBB3-8829-CED4-BD87-891EF8712698}"/>
              </a:ext>
            </a:extLst>
          </p:cNvPr>
          <p:cNvSpPr/>
          <p:nvPr userDrawn="1"/>
        </p:nvSpPr>
        <p:spPr>
          <a:xfrm>
            <a:off x="142043" y="3932808"/>
            <a:ext cx="2024108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B7B96E-B2A4-6053-D90E-CB18C570C194}"/>
              </a:ext>
            </a:extLst>
          </p:cNvPr>
          <p:cNvSpPr/>
          <p:nvPr userDrawn="1"/>
        </p:nvSpPr>
        <p:spPr>
          <a:xfrm>
            <a:off x="872969" y="3116062"/>
            <a:ext cx="10419427" cy="170451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C4698A-A964-A397-1421-DECC69B9D5A6}"/>
              </a:ext>
            </a:extLst>
          </p:cNvPr>
          <p:cNvPicPr>
            <a:picLocks/>
          </p:cNvPicPr>
          <p:nvPr userDrawn="1"/>
        </p:nvPicPr>
        <p:blipFill>
          <a:blip r:embed="rId4"/>
          <a:srcRect l="2" r="13123" b="5286"/>
          <a:stretch>
            <a:fillRect/>
          </a:stretch>
        </p:blipFill>
        <p:spPr>
          <a:xfrm>
            <a:off x="11270131" y="2985493"/>
            <a:ext cx="66208" cy="1615083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7D04108-FDC7-1DAC-C8F5-08AEB6CD0A93}"/>
              </a:ext>
            </a:extLst>
          </p:cNvPr>
          <p:cNvSpPr/>
          <p:nvPr userDrawn="1"/>
        </p:nvSpPr>
        <p:spPr>
          <a:xfrm>
            <a:off x="395651" y="394601"/>
            <a:ext cx="4704249" cy="338554"/>
          </a:xfrm>
          <a:prstGeom prst="roundRect">
            <a:avLst>
              <a:gd name="adj" fmla="val 278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Local Area Network Technology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D6EA3F-BBF1-9F46-9419-06253666E507}"/>
              </a:ext>
            </a:extLst>
          </p:cNvPr>
          <p:cNvSpPr txBox="1"/>
          <p:nvPr userDrawn="1"/>
        </p:nvSpPr>
        <p:spPr>
          <a:xfrm>
            <a:off x="460183" y="32268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Unit 2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0917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라인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FB4BB1E-5FC2-4309-21E8-F9848F2634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60299A-5BC8-B86D-134D-A9FEF68090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28966"/>
            <a:ext cx="2639786" cy="623492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32E3D5B-03E3-6B1C-B9AE-2F6DF35F845D}"/>
              </a:ext>
            </a:extLst>
          </p:cNvPr>
          <p:cNvSpPr/>
          <p:nvPr userDrawn="1"/>
        </p:nvSpPr>
        <p:spPr>
          <a:xfrm>
            <a:off x="395651" y="394601"/>
            <a:ext cx="4704249" cy="338554"/>
          </a:xfrm>
          <a:prstGeom prst="roundRect">
            <a:avLst>
              <a:gd name="adj" fmla="val 278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Local Area Network Technology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98E5F7-8F02-1EF9-CD3F-58DFEE39B0A4}"/>
              </a:ext>
            </a:extLst>
          </p:cNvPr>
          <p:cNvSpPr txBox="1"/>
          <p:nvPr userDrawn="1"/>
        </p:nvSpPr>
        <p:spPr>
          <a:xfrm>
            <a:off x="460183" y="32268"/>
            <a:ext cx="8338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Unit 2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6862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783FCF-F238-4D47-4122-4F4C44D34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FC8D51F-3D32-F0F8-0570-68313C57DE4C}"/>
              </a:ext>
            </a:extLst>
          </p:cNvPr>
          <p:cNvSpPr/>
          <p:nvPr userDrawn="1"/>
        </p:nvSpPr>
        <p:spPr>
          <a:xfrm>
            <a:off x="0" y="996043"/>
            <a:ext cx="1094017" cy="416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1800" b="1" spc="-90" baseline="0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Practice</a:t>
            </a:r>
            <a:endParaRPr lang="ko-KR" altLang="en-US" sz="1800" b="1" spc="-90" baseline="0" dirty="0">
              <a:solidFill>
                <a:schemeClr val="tx1"/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  <p:pic>
        <p:nvPicPr>
          <p:cNvPr id="3" name="그림 2" descr="스크린샷, 폰트, 텍스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68EA07-8D41-6B73-BA20-44A98DF3B1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1" b="14571"/>
          <a:stretch>
            <a:fillRect/>
          </a:stretch>
        </p:blipFill>
        <p:spPr>
          <a:xfrm>
            <a:off x="9552214" y="245442"/>
            <a:ext cx="2639786" cy="623492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6FBF79-EAF0-39D7-1CA2-4C80E3FA5277}"/>
              </a:ext>
            </a:extLst>
          </p:cNvPr>
          <p:cNvSpPr/>
          <p:nvPr userDrawn="1"/>
        </p:nvSpPr>
        <p:spPr>
          <a:xfrm>
            <a:off x="395651" y="394601"/>
            <a:ext cx="4704249" cy="338554"/>
          </a:xfrm>
          <a:prstGeom prst="roundRect">
            <a:avLst>
              <a:gd name="adj" fmla="val 2780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Local Area Network Technology</a:t>
            </a:r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4F8E67-0FDB-D4F9-001C-B15165DE6278}"/>
              </a:ext>
            </a:extLst>
          </p:cNvPr>
          <p:cNvSpPr txBox="1"/>
          <p:nvPr userDrawn="1"/>
        </p:nvSpPr>
        <p:spPr>
          <a:xfrm>
            <a:off x="460183" y="32268"/>
            <a:ext cx="8290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말싸미815" panose="02020600000000000000" pitchFamily="18" charset="-127"/>
                <a:ea typeface="말싸미815" panose="02020600000000000000" pitchFamily="18" charset="-127"/>
              </a:rPr>
              <a:t>Unit 2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말싸미815" panose="02020600000000000000" pitchFamily="18" charset="-127"/>
              <a:ea typeface="말싸미815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3558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9BCE40-24B2-567B-53C1-3F06ED91B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6AEC81-E756-A201-4018-753B48C91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C2B6E-0DC8-95AB-AFCD-A8CA0BDA3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defRPr>
            </a:lvl1pPr>
          </a:lstStyle>
          <a:p>
            <a:fld id="{D0A54C5D-CAEA-481F-9E3C-DFCA8FF6AF9F}" type="datetimeFigureOut">
              <a:rPr lang="ko-KR" altLang="en-US" smtClean="0"/>
              <a:pPr/>
              <a:t>2025-11-21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F08408-0AE4-9B6A-7D21-534892EB3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20A9D-C8DE-E46E-E422-1A617D89E5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defRPr>
            </a:lvl1pPr>
          </a:lstStyle>
          <a:p>
            <a:fld id="{7FF8E5E5-B2BF-4DA4-A3BB-10F5BC228E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395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4" r:id="rId5"/>
    <p:sldLayoutId id="2147483655" r:id="rId6"/>
    <p:sldLayoutId id="2147483657" r:id="rId7"/>
    <p:sldLayoutId id="2147483652" r:id="rId8"/>
    <p:sldLayoutId id="2147483653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twork-2025/Lab2-Wi-Fi_Traffic_Monitori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6.svg"/><Relationship Id="rId4" Type="http://schemas.openxmlformats.org/officeDocument/2006/relationships/image" Target="../media/image8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twork-2025/Lab2-Wi-Fi_Traffic_Monitor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github.com/network-2025/Lab2-Wi-Fi_Traffic_Monitoring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0CB8ED-652E-2D80-DEF3-DA11E01FA3A9}"/>
              </a:ext>
            </a:extLst>
          </p:cNvPr>
          <p:cNvSpPr txBox="1"/>
          <p:nvPr/>
        </p:nvSpPr>
        <p:spPr>
          <a:xfrm>
            <a:off x="4213113" y="5213831"/>
            <a:ext cx="38972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Pretendard Medium" panose="02000603000000020004" pitchFamily="2" charset="-127"/>
                <a:ea typeface="Pretendard Medium" panose="02000603000000020004" pitchFamily="2" charset="-127"/>
              </a:rPr>
              <a:t>Wi-Fi Traffic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313253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272EFE-19CA-7357-CA3D-A47E6988B1F1}"/>
              </a:ext>
            </a:extLst>
          </p:cNvPr>
          <p:cNvSpPr txBox="1"/>
          <p:nvPr/>
        </p:nvSpPr>
        <p:spPr>
          <a:xfrm>
            <a:off x="2739391" y="3133919"/>
            <a:ext cx="6713220" cy="5901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Wi-Fi Traffic Monitoring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B0A28-6947-46D6-BCC4-E7F276A62FA0}"/>
              </a:ext>
            </a:extLst>
          </p:cNvPr>
          <p:cNvSpPr txBox="1"/>
          <p:nvPr/>
        </p:nvSpPr>
        <p:spPr>
          <a:xfrm>
            <a:off x="4791986" y="3972583"/>
            <a:ext cx="2608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 err="1">
                <a:hlinkClick r:id="rId3"/>
              </a:rPr>
              <a:t>github</a:t>
            </a:r>
            <a:r>
              <a:rPr lang="en-US" altLang="ko-KR" sz="3200" b="1" dirty="0">
                <a:hlinkClick r:id="rId3"/>
              </a:rPr>
              <a:t> page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6643E-4418-4113-B21F-99F59E7C4B36}"/>
              </a:ext>
            </a:extLst>
          </p:cNvPr>
          <p:cNvSpPr txBox="1"/>
          <p:nvPr/>
        </p:nvSpPr>
        <p:spPr>
          <a:xfrm>
            <a:off x="2863713" y="4644822"/>
            <a:ext cx="6917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/>
              <a:t>https://github.com/network-2025/Lab2-Wi-Fi_Traffic_Monitoring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050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32FC01-4D8F-28D7-3EDF-99B80C01FE3F}"/>
              </a:ext>
            </a:extLst>
          </p:cNvPr>
          <p:cNvSpPr txBox="1"/>
          <p:nvPr/>
        </p:nvSpPr>
        <p:spPr>
          <a:xfrm>
            <a:off x="1104312" y="1752960"/>
            <a:ext cx="9590749" cy="1713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Understand the fundamental principles of local Wi-fi network traffic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Learn a practical method for capturing and analyzing data packets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Explore how traffic monitoring can be used for performance analysis, security, and general network 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1A2658-FA74-D744-C5C0-C3205629F08F}"/>
              </a:ext>
            </a:extLst>
          </p:cNvPr>
          <p:cNvSpPr txBox="1"/>
          <p:nvPr/>
        </p:nvSpPr>
        <p:spPr>
          <a:xfrm>
            <a:off x="1104312" y="4530450"/>
            <a:ext cx="9590749" cy="1713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Introduction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Lab setup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Dashboard and observation</a:t>
            </a:r>
          </a:p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Advance suggestions</a:t>
            </a:r>
          </a:p>
        </p:txBody>
      </p:sp>
    </p:spTree>
    <p:extLst>
      <p:ext uri="{BB962C8B-B14F-4D97-AF65-F5344CB8AC3E}">
        <p14:creationId xmlns:p14="http://schemas.microsoft.com/office/powerpoint/2010/main" val="2507538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07F81-DEB5-77A9-40B0-AEA64360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9C35D5-E6E2-DB04-DB59-BA19D1DC4C8B}"/>
              </a:ext>
            </a:extLst>
          </p:cNvPr>
          <p:cNvSpPr txBox="1"/>
          <p:nvPr/>
        </p:nvSpPr>
        <p:spPr>
          <a:xfrm>
            <a:off x="2739391" y="2851886"/>
            <a:ext cx="6713220" cy="11542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Introduction</a:t>
            </a:r>
          </a:p>
          <a:p>
            <a:pPr algn="ctr">
              <a:lnSpc>
                <a:spcPts val="4500"/>
              </a:lnSpc>
            </a:pPr>
            <a:r>
              <a:rPr lang="en-US" altLang="ko-KR" sz="24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Wi-Fi Traffic Monitoring -</a:t>
            </a:r>
          </a:p>
        </p:txBody>
      </p:sp>
    </p:spTree>
    <p:extLst>
      <p:ext uri="{BB962C8B-B14F-4D97-AF65-F5344CB8AC3E}">
        <p14:creationId xmlns:p14="http://schemas.microsoft.com/office/powerpoint/2010/main" val="2391620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63584-074C-C01B-8033-5EF5C5DA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08E372A-1518-43BA-464E-A803842B60AA}"/>
              </a:ext>
            </a:extLst>
          </p:cNvPr>
          <p:cNvGrpSpPr/>
          <p:nvPr/>
        </p:nvGrpSpPr>
        <p:grpSpPr>
          <a:xfrm>
            <a:off x="164064" y="1119724"/>
            <a:ext cx="8781648" cy="523220"/>
            <a:chOff x="164064" y="1119724"/>
            <a:chExt cx="878164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AC16E8F-C534-1E3A-F468-101B8A7868B6}"/>
                </a:ext>
              </a:extLst>
            </p:cNvPr>
            <p:cNvSpPr txBox="1"/>
            <p:nvPr/>
          </p:nvSpPr>
          <p:spPr>
            <a:xfrm>
              <a:off x="769499" y="1119724"/>
              <a:ext cx="81762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Wi-Fi Traffic and Why Monitor it?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64DE211-F7BC-FC54-46DA-13F24FF758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750" name="그룹 749">
            <a:extLst>
              <a:ext uri="{FF2B5EF4-FFF2-40B4-BE49-F238E27FC236}">
                <a16:creationId xmlns:a16="http://schemas.microsoft.com/office/drawing/2014/main" id="{4FFE73B4-7CE4-241F-7879-6D3E6532F9ED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751" name="그룹 750">
              <a:extLst>
                <a:ext uri="{FF2B5EF4-FFF2-40B4-BE49-F238E27FC236}">
                  <a16:creationId xmlns:a16="http://schemas.microsoft.com/office/drawing/2014/main" id="{0DEE0F37-0B32-281D-659A-729EA45DF1D3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754" name="직사각형 753">
                <a:extLst>
                  <a:ext uri="{FF2B5EF4-FFF2-40B4-BE49-F238E27FC236}">
                    <a16:creationId xmlns:a16="http://schemas.microsoft.com/office/drawing/2014/main" id="{676A3D1B-5AD9-4506-BB82-8D9289D4E52A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755" name="직사각형 754">
                <a:extLst>
                  <a:ext uri="{FF2B5EF4-FFF2-40B4-BE49-F238E27FC236}">
                    <a16:creationId xmlns:a16="http://schemas.microsoft.com/office/drawing/2014/main" id="{24CFFE83-12BC-9FA6-86F6-AD08D4CC57DF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752" name="TextBox 751">
              <a:extLst>
                <a:ext uri="{FF2B5EF4-FFF2-40B4-BE49-F238E27FC236}">
                  <a16:creationId xmlns:a16="http://schemas.microsoft.com/office/drawing/2014/main" id="{7DB006F2-837F-D96B-000A-AC9D526B8EAC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753" name="TextBox 752">
              <a:extLst>
                <a:ext uri="{FF2B5EF4-FFF2-40B4-BE49-F238E27FC236}">
                  <a16:creationId xmlns:a16="http://schemas.microsoft.com/office/drawing/2014/main" id="{9500CFB6-2141-39B2-8BE9-5D316DF990C5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390504B8-81D5-6DF7-64E7-D029DF4DEB32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is </a:t>
            </a: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Wi-Fi Traffic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?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E6331034-984F-D98C-62AF-28F5A65EAB5A}"/>
              </a:ext>
            </a:extLst>
          </p:cNvPr>
          <p:cNvSpPr txBox="1"/>
          <p:nvPr/>
        </p:nvSpPr>
        <p:spPr>
          <a:xfrm>
            <a:off x="813522" y="2115158"/>
            <a:ext cx="7757984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flow of data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between your devices and the router.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It's the invisible conversation happening on your network.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ADE25AE-3AAA-C311-D832-FE5EA4AFA880}"/>
              </a:ext>
            </a:extLst>
          </p:cNvPr>
          <p:cNvSpPr txBox="1"/>
          <p:nvPr/>
        </p:nvSpPr>
        <p:spPr>
          <a:xfrm>
            <a:off x="668702" y="301633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monitor it?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445DDE83-C318-DA8C-C9BF-FE396A337682}"/>
              </a:ext>
            </a:extLst>
          </p:cNvPr>
          <p:cNvSpPr txBox="1"/>
          <p:nvPr/>
        </p:nvSpPr>
        <p:spPr>
          <a:xfrm>
            <a:off x="813522" y="3570758"/>
            <a:ext cx="5282478" cy="2448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Security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Detect threats &amp; unauthorized devices.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Performance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Find bottlenecks &amp; manage bandwidth.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Troubleshooting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Diagnose connection issues.</a:t>
            </a:r>
          </a:p>
        </p:txBody>
      </p: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13B46ADF-6E1B-83A6-7933-BDF3F9CBF173}"/>
              </a:ext>
            </a:extLst>
          </p:cNvPr>
          <p:cNvGrpSpPr>
            <a:grpSpLocks noChangeAspect="1"/>
          </p:cNvGrpSpPr>
          <p:nvPr/>
        </p:nvGrpSpPr>
        <p:grpSpPr>
          <a:xfrm>
            <a:off x="6096000" y="3186830"/>
            <a:ext cx="5897272" cy="2099010"/>
            <a:chOff x="7713517" y="3239137"/>
            <a:chExt cx="3524590" cy="1254504"/>
          </a:xfrm>
        </p:grpSpPr>
        <p:pic>
          <p:nvPicPr>
            <p:cNvPr id="1028" name="Picture 12">
              <a:extLst>
                <a:ext uri="{FF2B5EF4-FFF2-40B4-BE49-F238E27FC236}">
                  <a16:creationId xmlns:a16="http://schemas.microsoft.com/office/drawing/2014/main" id="{8CDABABC-96B8-7E88-1DA5-19D7C5D325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544" t="29478" r="1879" b="39357"/>
            <a:stretch/>
          </p:blipFill>
          <p:spPr>
            <a:xfrm>
              <a:off x="7713517" y="3239137"/>
              <a:ext cx="3524590" cy="1254504"/>
            </a:xfrm>
            <a:prstGeom prst="rect">
              <a:avLst/>
            </a:prstGeom>
          </p:spPr>
        </p:pic>
        <p:sp>
          <p:nvSpPr>
            <p:cNvPr id="1029" name="Freeform 13">
              <a:extLst>
                <a:ext uri="{FF2B5EF4-FFF2-40B4-BE49-F238E27FC236}">
                  <a16:creationId xmlns:a16="http://schemas.microsoft.com/office/drawing/2014/main" id="{957FF968-57BA-BF62-8D22-66527E2CC225}"/>
                </a:ext>
              </a:extLst>
            </p:cNvPr>
            <p:cNvSpPr/>
            <p:nvPr/>
          </p:nvSpPr>
          <p:spPr>
            <a:xfrm flipV="1">
              <a:off x="8775164" y="3805609"/>
              <a:ext cx="1581873" cy="495116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087" h="5298098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2816497" y="3368066"/>
                  </a:lnTo>
                  <a:lnTo>
                    <a:pt x="3075366" y="5297441"/>
                  </a:lnTo>
                  <a:cubicBezTo>
                    <a:pt x="3209182" y="5308474"/>
                    <a:pt x="4071274" y="5176166"/>
                    <a:pt x="4205087" y="5173817"/>
                  </a:cubicBezTo>
                </a:path>
              </a:pathLst>
            </a:custGeom>
            <a:noFill/>
            <a:ln w="31750">
              <a:solidFill>
                <a:srgbClr val="C0000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 Light" panose="02000403000000020004" pitchFamily="2" charset="-127"/>
                <a:ea typeface="+mn-ea"/>
                <a:cs typeface="+mn-cs"/>
              </a:endParaRPr>
            </a:p>
          </p:txBody>
        </p:sp>
        <p:sp>
          <p:nvSpPr>
            <p:cNvPr id="1030" name="Freeform 14">
              <a:extLst>
                <a:ext uri="{FF2B5EF4-FFF2-40B4-BE49-F238E27FC236}">
                  <a16:creationId xmlns:a16="http://schemas.microsoft.com/office/drawing/2014/main" id="{A1DF1498-B98F-0AB7-89CD-58FFE80A33AF}"/>
                </a:ext>
              </a:extLst>
            </p:cNvPr>
            <p:cNvSpPr/>
            <p:nvPr/>
          </p:nvSpPr>
          <p:spPr>
            <a:xfrm flipV="1">
              <a:off x="8723807" y="3774486"/>
              <a:ext cx="1610101" cy="429159"/>
            </a:xfrm>
            <a:custGeom>
              <a:avLst/>
              <a:gdLst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3913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621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998374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650434 w 2769704"/>
                <a:gd name="connsiteY5" fmla="*/ 2001078 h 2637182"/>
                <a:gd name="connsiteX6" fmla="*/ 2769704 w 2769704"/>
                <a:gd name="connsiteY6" fmla="*/ 2637182 h 2637182"/>
                <a:gd name="connsiteX0" fmla="*/ 0 w 2769704"/>
                <a:gd name="connsiteY0" fmla="*/ 0 h 2637182"/>
                <a:gd name="connsiteX1" fmla="*/ 980661 w 2769704"/>
                <a:gd name="connsiteY1" fmla="*/ 1007165 h 2637182"/>
                <a:gd name="connsiteX2" fmla="*/ 2014330 w 2769704"/>
                <a:gd name="connsiteY2" fmla="*/ 1011756 h 2637182"/>
                <a:gd name="connsiteX3" fmla="*/ 2478156 w 2769704"/>
                <a:gd name="connsiteY3" fmla="*/ 1007165 h 2637182"/>
                <a:gd name="connsiteX4" fmla="*/ 2054087 w 2769704"/>
                <a:gd name="connsiteY4" fmla="*/ 1709530 h 2637182"/>
                <a:gd name="connsiteX5" fmla="*/ 2753026 w 2769704"/>
                <a:gd name="connsiteY5" fmla="*/ 2050143 h 2637182"/>
                <a:gd name="connsiteX6" fmla="*/ 2769704 w 2769704"/>
                <a:gd name="connsiteY6" fmla="*/ 2637182 h 2637182"/>
                <a:gd name="connsiteX0" fmla="*/ 0 w 2753026"/>
                <a:gd name="connsiteY0" fmla="*/ 0 h 2628261"/>
                <a:gd name="connsiteX1" fmla="*/ 980661 w 2753026"/>
                <a:gd name="connsiteY1" fmla="*/ 1007165 h 2628261"/>
                <a:gd name="connsiteX2" fmla="*/ 2014330 w 2753026"/>
                <a:gd name="connsiteY2" fmla="*/ 1011756 h 2628261"/>
                <a:gd name="connsiteX3" fmla="*/ 2478156 w 2753026"/>
                <a:gd name="connsiteY3" fmla="*/ 1007165 h 2628261"/>
                <a:gd name="connsiteX4" fmla="*/ 2054087 w 2753026"/>
                <a:gd name="connsiteY4" fmla="*/ 1709530 h 2628261"/>
                <a:gd name="connsiteX5" fmla="*/ 2753026 w 2753026"/>
                <a:gd name="connsiteY5" fmla="*/ 2050143 h 2628261"/>
                <a:gd name="connsiteX6" fmla="*/ 2742942 w 2753026"/>
                <a:gd name="connsiteY6" fmla="*/ 2628261 h 2628261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4 w 2760784"/>
                <a:gd name="connsiteY6" fmla="*/ 2820062 h 2820062"/>
                <a:gd name="connsiteX0" fmla="*/ 0 w 2760784"/>
                <a:gd name="connsiteY0" fmla="*/ 0 h 2820062"/>
                <a:gd name="connsiteX1" fmla="*/ 980661 w 2760784"/>
                <a:gd name="connsiteY1" fmla="*/ 1007165 h 2820062"/>
                <a:gd name="connsiteX2" fmla="*/ 2014330 w 2760784"/>
                <a:gd name="connsiteY2" fmla="*/ 1011756 h 2820062"/>
                <a:gd name="connsiteX3" fmla="*/ 2478156 w 2760784"/>
                <a:gd name="connsiteY3" fmla="*/ 1007165 h 2820062"/>
                <a:gd name="connsiteX4" fmla="*/ 2054087 w 2760784"/>
                <a:gd name="connsiteY4" fmla="*/ 1709530 h 2820062"/>
                <a:gd name="connsiteX5" fmla="*/ 2753026 w 2760784"/>
                <a:gd name="connsiteY5" fmla="*/ 2050143 h 2820062"/>
                <a:gd name="connsiteX6" fmla="*/ 2760783 w 2760784"/>
                <a:gd name="connsiteY6" fmla="*/ 2639768 h 2820062"/>
                <a:gd name="connsiteX7" fmla="*/ 2760784 w 2760784"/>
                <a:gd name="connsiteY7" fmla="*/ 2820062 h 2820062"/>
                <a:gd name="connsiteX0" fmla="*/ 0 w 3188991"/>
                <a:gd name="connsiteY0" fmla="*/ 0 h 2681787"/>
                <a:gd name="connsiteX1" fmla="*/ 980661 w 3188991"/>
                <a:gd name="connsiteY1" fmla="*/ 1007165 h 2681787"/>
                <a:gd name="connsiteX2" fmla="*/ 2014330 w 3188991"/>
                <a:gd name="connsiteY2" fmla="*/ 1011756 h 2681787"/>
                <a:gd name="connsiteX3" fmla="*/ 2478156 w 3188991"/>
                <a:gd name="connsiteY3" fmla="*/ 1007165 h 2681787"/>
                <a:gd name="connsiteX4" fmla="*/ 2054087 w 3188991"/>
                <a:gd name="connsiteY4" fmla="*/ 1709530 h 2681787"/>
                <a:gd name="connsiteX5" fmla="*/ 2753026 w 3188991"/>
                <a:gd name="connsiteY5" fmla="*/ 2050143 h 2681787"/>
                <a:gd name="connsiteX6" fmla="*/ 2760783 w 3188991"/>
                <a:gd name="connsiteY6" fmla="*/ 2639768 h 2681787"/>
                <a:gd name="connsiteX7" fmla="*/ 3188991 w 3188991"/>
                <a:gd name="connsiteY7" fmla="*/ 2681787 h 2681787"/>
                <a:gd name="connsiteX0" fmla="*/ 0 w 3188991"/>
                <a:gd name="connsiteY0" fmla="*/ 0 h 2691285"/>
                <a:gd name="connsiteX1" fmla="*/ 980661 w 3188991"/>
                <a:gd name="connsiteY1" fmla="*/ 1007165 h 2691285"/>
                <a:gd name="connsiteX2" fmla="*/ 2014330 w 3188991"/>
                <a:gd name="connsiteY2" fmla="*/ 1011756 h 2691285"/>
                <a:gd name="connsiteX3" fmla="*/ 2478156 w 3188991"/>
                <a:gd name="connsiteY3" fmla="*/ 1007165 h 2691285"/>
                <a:gd name="connsiteX4" fmla="*/ 2054087 w 3188991"/>
                <a:gd name="connsiteY4" fmla="*/ 1709530 h 2691285"/>
                <a:gd name="connsiteX5" fmla="*/ 2753026 w 3188991"/>
                <a:gd name="connsiteY5" fmla="*/ 2050143 h 2691285"/>
                <a:gd name="connsiteX6" fmla="*/ 2760783 w 3188991"/>
                <a:gd name="connsiteY6" fmla="*/ 2639768 h 2691285"/>
                <a:gd name="connsiteX7" fmla="*/ 3188991 w 3188991"/>
                <a:gd name="connsiteY7" fmla="*/ 2681787 h 2691285"/>
                <a:gd name="connsiteX0" fmla="*/ 0 w 3188991"/>
                <a:gd name="connsiteY0" fmla="*/ 0 h 2700394"/>
                <a:gd name="connsiteX1" fmla="*/ 980661 w 3188991"/>
                <a:gd name="connsiteY1" fmla="*/ 1007165 h 2700394"/>
                <a:gd name="connsiteX2" fmla="*/ 2014330 w 3188991"/>
                <a:gd name="connsiteY2" fmla="*/ 1011756 h 2700394"/>
                <a:gd name="connsiteX3" fmla="*/ 2478156 w 3188991"/>
                <a:gd name="connsiteY3" fmla="*/ 1007165 h 2700394"/>
                <a:gd name="connsiteX4" fmla="*/ 2054087 w 3188991"/>
                <a:gd name="connsiteY4" fmla="*/ 1709530 h 2700394"/>
                <a:gd name="connsiteX5" fmla="*/ 2753026 w 3188991"/>
                <a:gd name="connsiteY5" fmla="*/ 2050143 h 2700394"/>
                <a:gd name="connsiteX6" fmla="*/ 2765243 w 3188991"/>
                <a:gd name="connsiteY6" fmla="*/ 2662071 h 2700394"/>
                <a:gd name="connsiteX7" fmla="*/ 3188991 w 3188991"/>
                <a:gd name="connsiteY7" fmla="*/ 2681787 h 2700394"/>
                <a:gd name="connsiteX0" fmla="*/ 0 w 3188991"/>
                <a:gd name="connsiteY0" fmla="*/ 0 h 2686921"/>
                <a:gd name="connsiteX1" fmla="*/ 980661 w 3188991"/>
                <a:gd name="connsiteY1" fmla="*/ 1007165 h 2686921"/>
                <a:gd name="connsiteX2" fmla="*/ 2014330 w 3188991"/>
                <a:gd name="connsiteY2" fmla="*/ 1011756 h 2686921"/>
                <a:gd name="connsiteX3" fmla="*/ 2478156 w 3188991"/>
                <a:gd name="connsiteY3" fmla="*/ 1007165 h 2686921"/>
                <a:gd name="connsiteX4" fmla="*/ 2054087 w 3188991"/>
                <a:gd name="connsiteY4" fmla="*/ 1709530 h 2686921"/>
                <a:gd name="connsiteX5" fmla="*/ 2753026 w 3188991"/>
                <a:gd name="connsiteY5" fmla="*/ 2050143 h 2686921"/>
                <a:gd name="connsiteX6" fmla="*/ 2765243 w 3188991"/>
                <a:gd name="connsiteY6" fmla="*/ 2662071 h 2686921"/>
                <a:gd name="connsiteX7" fmla="*/ 3188991 w 3188991"/>
                <a:gd name="connsiteY7" fmla="*/ 2681787 h 2686921"/>
                <a:gd name="connsiteX0" fmla="*/ 0 w 3188991"/>
                <a:gd name="connsiteY0" fmla="*/ 0 h 2689619"/>
                <a:gd name="connsiteX1" fmla="*/ 980661 w 3188991"/>
                <a:gd name="connsiteY1" fmla="*/ 1007165 h 2689619"/>
                <a:gd name="connsiteX2" fmla="*/ 2014330 w 3188991"/>
                <a:gd name="connsiteY2" fmla="*/ 1011756 h 2689619"/>
                <a:gd name="connsiteX3" fmla="*/ 2478156 w 3188991"/>
                <a:gd name="connsiteY3" fmla="*/ 1007165 h 2689619"/>
                <a:gd name="connsiteX4" fmla="*/ 2054087 w 3188991"/>
                <a:gd name="connsiteY4" fmla="*/ 1709530 h 2689619"/>
                <a:gd name="connsiteX5" fmla="*/ 2753026 w 3188991"/>
                <a:gd name="connsiteY5" fmla="*/ 2050143 h 2689619"/>
                <a:gd name="connsiteX6" fmla="*/ 2769703 w 3188991"/>
                <a:gd name="connsiteY6" fmla="*/ 2675452 h 2689619"/>
                <a:gd name="connsiteX7" fmla="*/ 3188991 w 3188991"/>
                <a:gd name="connsiteY7" fmla="*/ 2681787 h 2689619"/>
                <a:gd name="connsiteX0" fmla="*/ 0 w 3188991"/>
                <a:gd name="connsiteY0" fmla="*/ 0 h 2681967"/>
                <a:gd name="connsiteX1" fmla="*/ 980661 w 3188991"/>
                <a:gd name="connsiteY1" fmla="*/ 1007165 h 2681967"/>
                <a:gd name="connsiteX2" fmla="*/ 2014330 w 3188991"/>
                <a:gd name="connsiteY2" fmla="*/ 1011756 h 2681967"/>
                <a:gd name="connsiteX3" fmla="*/ 2478156 w 3188991"/>
                <a:gd name="connsiteY3" fmla="*/ 1007165 h 2681967"/>
                <a:gd name="connsiteX4" fmla="*/ 2054087 w 3188991"/>
                <a:gd name="connsiteY4" fmla="*/ 1709530 h 2681967"/>
                <a:gd name="connsiteX5" fmla="*/ 2753026 w 3188991"/>
                <a:gd name="connsiteY5" fmla="*/ 2050143 h 2681967"/>
                <a:gd name="connsiteX6" fmla="*/ 2769703 w 3188991"/>
                <a:gd name="connsiteY6" fmla="*/ 2675452 h 2681967"/>
                <a:gd name="connsiteX7" fmla="*/ 3188991 w 3188991"/>
                <a:gd name="connsiteY7" fmla="*/ 2681787 h 2681967"/>
                <a:gd name="connsiteX0" fmla="*/ 0 w 3188991"/>
                <a:gd name="connsiteY0" fmla="*/ 0 h 2687647"/>
                <a:gd name="connsiteX1" fmla="*/ 980661 w 3188991"/>
                <a:gd name="connsiteY1" fmla="*/ 1007165 h 2687647"/>
                <a:gd name="connsiteX2" fmla="*/ 2014330 w 3188991"/>
                <a:gd name="connsiteY2" fmla="*/ 1011756 h 2687647"/>
                <a:gd name="connsiteX3" fmla="*/ 2478156 w 3188991"/>
                <a:gd name="connsiteY3" fmla="*/ 1007165 h 2687647"/>
                <a:gd name="connsiteX4" fmla="*/ 2054087 w 3188991"/>
                <a:gd name="connsiteY4" fmla="*/ 1709530 h 2687647"/>
                <a:gd name="connsiteX5" fmla="*/ 2753026 w 3188991"/>
                <a:gd name="connsiteY5" fmla="*/ 2050143 h 2687647"/>
                <a:gd name="connsiteX6" fmla="*/ 2769703 w 3188991"/>
                <a:gd name="connsiteY6" fmla="*/ 2675452 h 2687647"/>
                <a:gd name="connsiteX7" fmla="*/ 3188991 w 3188991"/>
                <a:gd name="connsiteY7" fmla="*/ 2681787 h 2687647"/>
                <a:gd name="connsiteX0" fmla="*/ 0 w 3064097"/>
                <a:gd name="connsiteY0" fmla="*/ 0 h 2687647"/>
                <a:gd name="connsiteX1" fmla="*/ 980661 w 3064097"/>
                <a:gd name="connsiteY1" fmla="*/ 1007165 h 2687647"/>
                <a:gd name="connsiteX2" fmla="*/ 2014330 w 3064097"/>
                <a:gd name="connsiteY2" fmla="*/ 1011756 h 2687647"/>
                <a:gd name="connsiteX3" fmla="*/ 2478156 w 3064097"/>
                <a:gd name="connsiteY3" fmla="*/ 1007165 h 2687647"/>
                <a:gd name="connsiteX4" fmla="*/ 2054087 w 3064097"/>
                <a:gd name="connsiteY4" fmla="*/ 1709530 h 2687647"/>
                <a:gd name="connsiteX5" fmla="*/ 2753026 w 3064097"/>
                <a:gd name="connsiteY5" fmla="*/ 2050143 h 2687647"/>
                <a:gd name="connsiteX6" fmla="*/ 2769703 w 3064097"/>
                <a:gd name="connsiteY6" fmla="*/ 2675452 h 2687647"/>
                <a:gd name="connsiteX7" fmla="*/ 3064097 w 3064097"/>
                <a:gd name="connsiteY7" fmla="*/ 2681787 h 2687647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3064097"/>
                <a:gd name="connsiteY0" fmla="*/ 0 h 2683755"/>
                <a:gd name="connsiteX1" fmla="*/ 980661 w 3064097"/>
                <a:gd name="connsiteY1" fmla="*/ 1007165 h 2683755"/>
                <a:gd name="connsiteX2" fmla="*/ 2014330 w 3064097"/>
                <a:gd name="connsiteY2" fmla="*/ 1011756 h 2683755"/>
                <a:gd name="connsiteX3" fmla="*/ 2478156 w 3064097"/>
                <a:gd name="connsiteY3" fmla="*/ 1007165 h 2683755"/>
                <a:gd name="connsiteX4" fmla="*/ 2054087 w 3064097"/>
                <a:gd name="connsiteY4" fmla="*/ 1709530 h 2683755"/>
                <a:gd name="connsiteX5" fmla="*/ 2753026 w 3064097"/>
                <a:gd name="connsiteY5" fmla="*/ 2050143 h 2683755"/>
                <a:gd name="connsiteX6" fmla="*/ 2769703 w 3064097"/>
                <a:gd name="connsiteY6" fmla="*/ 2675452 h 2683755"/>
                <a:gd name="connsiteX7" fmla="*/ 3064097 w 3064097"/>
                <a:gd name="connsiteY7" fmla="*/ 2681787 h 2683755"/>
                <a:gd name="connsiteX0" fmla="*/ 0 w 4205087"/>
                <a:gd name="connsiteY0" fmla="*/ 0 h 4917290"/>
                <a:gd name="connsiteX1" fmla="*/ 980661 w 4205087"/>
                <a:gd name="connsiteY1" fmla="*/ 1007165 h 4917290"/>
                <a:gd name="connsiteX2" fmla="*/ 2014330 w 4205087"/>
                <a:gd name="connsiteY2" fmla="*/ 1011756 h 4917290"/>
                <a:gd name="connsiteX3" fmla="*/ 2478156 w 4205087"/>
                <a:gd name="connsiteY3" fmla="*/ 1007165 h 4917290"/>
                <a:gd name="connsiteX4" fmla="*/ 2054087 w 4205087"/>
                <a:gd name="connsiteY4" fmla="*/ 1709530 h 4917290"/>
                <a:gd name="connsiteX5" fmla="*/ 2753026 w 4205087"/>
                <a:gd name="connsiteY5" fmla="*/ 2050143 h 4917290"/>
                <a:gd name="connsiteX6" fmla="*/ 2769703 w 4205087"/>
                <a:gd name="connsiteY6" fmla="*/ 2675452 h 4917290"/>
                <a:gd name="connsiteX7" fmla="*/ 4205087 w 4205087"/>
                <a:gd name="connsiteY7" fmla="*/ 4917290 h 4917290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53026 w 4205087"/>
                <a:gd name="connsiteY5" fmla="*/ 2050143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054087 w 4205087"/>
                <a:gd name="connsiteY4" fmla="*/ 1709530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80661 w 4205087"/>
                <a:gd name="connsiteY1" fmla="*/ 1007165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478156 w 4205087"/>
                <a:gd name="connsiteY3" fmla="*/ 1007165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29499 w 4205087"/>
                <a:gd name="connsiteY4" fmla="*/ 1308286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939912 w 4205087"/>
                <a:gd name="connsiteY1" fmla="*/ 1293766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556665 w 4205087"/>
                <a:gd name="connsiteY4" fmla="*/ 849722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518907 w 4205087"/>
                <a:gd name="connsiteY3" fmla="*/ 720563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14330 w 4205087"/>
                <a:gd name="connsiteY2" fmla="*/ 1011756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780192 w 4205087"/>
                <a:gd name="connsiteY5" fmla="*/ 2852631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2026431 w 4205087"/>
                <a:gd name="connsiteY2" fmla="*/ 1385734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677684 w 4205087"/>
                <a:gd name="connsiteY4" fmla="*/ 1194934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4917315"/>
                <a:gd name="connsiteX1" fmla="*/ 1145642 w 4205087"/>
                <a:gd name="connsiteY1" fmla="*/ 1610210 h 4917315"/>
                <a:gd name="connsiteX2" fmla="*/ 1276117 w 4205087"/>
                <a:gd name="connsiteY2" fmla="*/ 1558340 h 4917315"/>
                <a:gd name="connsiteX3" fmla="*/ 2700435 w 4205087"/>
                <a:gd name="connsiteY3" fmla="*/ 1180845 h 4917315"/>
                <a:gd name="connsiteX4" fmla="*/ 2713991 w 4205087"/>
                <a:gd name="connsiteY4" fmla="*/ 1223701 h 4917315"/>
                <a:gd name="connsiteX5" fmla="*/ 2816497 w 4205087"/>
                <a:gd name="connsiteY5" fmla="*/ 3111539 h 4917315"/>
                <a:gd name="connsiteX6" fmla="*/ 2701787 w 4205087"/>
                <a:gd name="connsiteY6" fmla="*/ 4738996 h 4917315"/>
                <a:gd name="connsiteX7" fmla="*/ 4205087 w 4205087"/>
                <a:gd name="connsiteY7" fmla="*/ 4917290 h 4917315"/>
                <a:gd name="connsiteX0" fmla="*/ 0 w 4205087"/>
                <a:gd name="connsiteY0" fmla="*/ 0 h 5142121"/>
                <a:gd name="connsiteX1" fmla="*/ 1145642 w 4205087"/>
                <a:gd name="connsiteY1" fmla="*/ 1610210 h 5142121"/>
                <a:gd name="connsiteX2" fmla="*/ 1276117 w 4205087"/>
                <a:gd name="connsiteY2" fmla="*/ 1558340 h 5142121"/>
                <a:gd name="connsiteX3" fmla="*/ 2700435 w 4205087"/>
                <a:gd name="connsiteY3" fmla="*/ 1180845 h 5142121"/>
                <a:gd name="connsiteX4" fmla="*/ 2713991 w 4205087"/>
                <a:gd name="connsiteY4" fmla="*/ 1223701 h 5142121"/>
                <a:gd name="connsiteX5" fmla="*/ 2816497 w 4205087"/>
                <a:gd name="connsiteY5" fmla="*/ 3111539 h 5142121"/>
                <a:gd name="connsiteX6" fmla="*/ 2750195 w 4205087"/>
                <a:gd name="connsiteY6" fmla="*/ 5141743 h 5142121"/>
                <a:gd name="connsiteX7" fmla="*/ 4205087 w 4205087"/>
                <a:gd name="connsiteY7" fmla="*/ 4917290 h 5142121"/>
                <a:gd name="connsiteX0" fmla="*/ 0 w 4205087"/>
                <a:gd name="connsiteY0" fmla="*/ 256527 h 5398648"/>
                <a:gd name="connsiteX1" fmla="*/ 1145642 w 4205087"/>
                <a:gd name="connsiteY1" fmla="*/ 1866737 h 5398648"/>
                <a:gd name="connsiteX2" fmla="*/ 50473 w 4205087"/>
                <a:gd name="connsiteY2" fmla="*/ 0 h 5398648"/>
                <a:gd name="connsiteX3" fmla="*/ 2700435 w 4205087"/>
                <a:gd name="connsiteY3" fmla="*/ 1437372 h 5398648"/>
                <a:gd name="connsiteX4" fmla="*/ 2713991 w 4205087"/>
                <a:gd name="connsiteY4" fmla="*/ 1480228 h 5398648"/>
                <a:gd name="connsiteX5" fmla="*/ 2816497 w 4205087"/>
                <a:gd name="connsiteY5" fmla="*/ 3368066 h 5398648"/>
                <a:gd name="connsiteX6" fmla="*/ 2750195 w 4205087"/>
                <a:gd name="connsiteY6" fmla="*/ 5398270 h 5398648"/>
                <a:gd name="connsiteX7" fmla="*/ 4205087 w 4205087"/>
                <a:gd name="connsiteY7" fmla="*/ 5173817 h 5398648"/>
                <a:gd name="connsiteX0" fmla="*/ 4782461 w 8987548"/>
                <a:gd name="connsiteY0" fmla="*/ 256527 h 5398648"/>
                <a:gd name="connsiteX1" fmla="*/ 0 w 8987548"/>
                <a:gd name="connsiteY1" fmla="*/ 3379134 h 5398648"/>
                <a:gd name="connsiteX2" fmla="*/ 4832934 w 8987548"/>
                <a:gd name="connsiteY2" fmla="*/ 0 h 5398648"/>
                <a:gd name="connsiteX3" fmla="*/ 7482896 w 8987548"/>
                <a:gd name="connsiteY3" fmla="*/ 1437372 h 5398648"/>
                <a:gd name="connsiteX4" fmla="*/ 7496452 w 8987548"/>
                <a:gd name="connsiteY4" fmla="*/ 1480228 h 5398648"/>
                <a:gd name="connsiteX5" fmla="*/ 7598958 w 8987548"/>
                <a:gd name="connsiteY5" fmla="*/ 3368066 h 5398648"/>
                <a:gd name="connsiteX6" fmla="*/ 7532656 w 8987548"/>
                <a:gd name="connsiteY6" fmla="*/ 5398270 h 5398648"/>
                <a:gd name="connsiteX7" fmla="*/ 8987548 w 8987548"/>
                <a:gd name="connsiteY7" fmla="*/ 5173817 h 5398648"/>
                <a:gd name="connsiteX0" fmla="*/ 4782461 w 8987548"/>
                <a:gd name="connsiteY0" fmla="*/ 256527 h 5298098"/>
                <a:gd name="connsiteX1" fmla="*/ 0 w 8987548"/>
                <a:gd name="connsiteY1" fmla="*/ 3379134 h 5298098"/>
                <a:gd name="connsiteX2" fmla="*/ 4832934 w 8987548"/>
                <a:gd name="connsiteY2" fmla="*/ 0 h 5298098"/>
                <a:gd name="connsiteX3" fmla="*/ 7482896 w 8987548"/>
                <a:gd name="connsiteY3" fmla="*/ 1437372 h 5298098"/>
                <a:gd name="connsiteX4" fmla="*/ 7496452 w 8987548"/>
                <a:gd name="connsiteY4" fmla="*/ 1480228 h 5298098"/>
                <a:gd name="connsiteX5" fmla="*/ 7598958 w 8987548"/>
                <a:gd name="connsiteY5" fmla="*/ 3368066 h 5298098"/>
                <a:gd name="connsiteX6" fmla="*/ 7857827 w 8987548"/>
                <a:gd name="connsiteY6" fmla="*/ 5297441 h 5298098"/>
                <a:gd name="connsiteX7" fmla="*/ 8987548 w 8987548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2816497 w 4205087"/>
                <a:gd name="connsiteY5" fmla="*/ 3368066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298098"/>
                <a:gd name="connsiteX1" fmla="*/ 45066 w 4205087"/>
                <a:gd name="connsiteY1" fmla="*/ 51875 h 5298098"/>
                <a:gd name="connsiteX2" fmla="*/ 50473 w 4205087"/>
                <a:gd name="connsiteY2" fmla="*/ 0 h 5298098"/>
                <a:gd name="connsiteX3" fmla="*/ 2700435 w 4205087"/>
                <a:gd name="connsiteY3" fmla="*/ 1437372 h 5298098"/>
                <a:gd name="connsiteX4" fmla="*/ 2713991 w 4205087"/>
                <a:gd name="connsiteY4" fmla="*/ 1480228 h 5298098"/>
                <a:gd name="connsiteX5" fmla="*/ 1966050 w 4205087"/>
                <a:gd name="connsiteY5" fmla="*/ 3670548 h 5298098"/>
                <a:gd name="connsiteX6" fmla="*/ 3075366 w 4205087"/>
                <a:gd name="connsiteY6" fmla="*/ 5297441 h 5298098"/>
                <a:gd name="connsiteX7" fmla="*/ 4205087 w 4205087"/>
                <a:gd name="connsiteY7" fmla="*/ 5173817 h 5298098"/>
                <a:gd name="connsiteX0" fmla="*/ 0 w 4205087"/>
                <a:gd name="connsiteY0" fmla="*/ 256527 h 5173829"/>
                <a:gd name="connsiteX1" fmla="*/ 45066 w 4205087"/>
                <a:gd name="connsiteY1" fmla="*/ 51875 h 5173829"/>
                <a:gd name="connsiteX2" fmla="*/ 50473 w 4205087"/>
                <a:gd name="connsiteY2" fmla="*/ 0 h 5173829"/>
                <a:gd name="connsiteX3" fmla="*/ 2700435 w 4205087"/>
                <a:gd name="connsiteY3" fmla="*/ 1437372 h 5173829"/>
                <a:gd name="connsiteX4" fmla="*/ 2713991 w 4205087"/>
                <a:gd name="connsiteY4" fmla="*/ 1480228 h 5173829"/>
                <a:gd name="connsiteX5" fmla="*/ 1966050 w 4205087"/>
                <a:gd name="connsiteY5" fmla="*/ 3670548 h 5173829"/>
                <a:gd name="connsiteX6" fmla="*/ 2975313 w 4205087"/>
                <a:gd name="connsiteY6" fmla="*/ 4591659 h 5173829"/>
                <a:gd name="connsiteX7" fmla="*/ 4205087 w 4205087"/>
                <a:gd name="connsiteY7" fmla="*/ 5173817 h 5173829"/>
                <a:gd name="connsiteX0" fmla="*/ 0 w 4280125"/>
                <a:gd name="connsiteY0" fmla="*/ 256527 h 4592316"/>
                <a:gd name="connsiteX1" fmla="*/ 45066 w 4280125"/>
                <a:gd name="connsiteY1" fmla="*/ 51875 h 4592316"/>
                <a:gd name="connsiteX2" fmla="*/ 50473 w 4280125"/>
                <a:gd name="connsiteY2" fmla="*/ 0 h 4592316"/>
                <a:gd name="connsiteX3" fmla="*/ 2700435 w 4280125"/>
                <a:gd name="connsiteY3" fmla="*/ 1437372 h 4592316"/>
                <a:gd name="connsiteX4" fmla="*/ 2713991 w 4280125"/>
                <a:gd name="connsiteY4" fmla="*/ 1480228 h 4592316"/>
                <a:gd name="connsiteX5" fmla="*/ 1966050 w 4280125"/>
                <a:gd name="connsiteY5" fmla="*/ 3670548 h 4592316"/>
                <a:gd name="connsiteX6" fmla="*/ 2975313 w 4280125"/>
                <a:gd name="connsiteY6" fmla="*/ 4591659 h 4592316"/>
                <a:gd name="connsiteX7" fmla="*/ 4280125 w 4280125"/>
                <a:gd name="connsiteY7" fmla="*/ 4468037 h 4592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0125" h="4592316">
                  <a:moveTo>
                    <a:pt x="0" y="256527"/>
                  </a:moveTo>
                  <a:lnTo>
                    <a:pt x="45066" y="51875"/>
                  </a:lnTo>
                  <a:lnTo>
                    <a:pt x="50473" y="0"/>
                  </a:lnTo>
                  <a:lnTo>
                    <a:pt x="2700435" y="1437372"/>
                  </a:lnTo>
                  <a:lnTo>
                    <a:pt x="2713991" y="1480228"/>
                  </a:lnTo>
                  <a:lnTo>
                    <a:pt x="1966050" y="3670548"/>
                  </a:lnTo>
                  <a:lnTo>
                    <a:pt x="2975313" y="4591659"/>
                  </a:lnTo>
                  <a:cubicBezTo>
                    <a:pt x="3109129" y="4602692"/>
                    <a:pt x="4146312" y="4470386"/>
                    <a:pt x="4280125" y="4468037"/>
                  </a:cubicBezTo>
                </a:path>
              </a:pathLst>
            </a:custGeom>
            <a:noFill/>
            <a:ln w="31750">
              <a:solidFill>
                <a:srgbClr val="0000A8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en-US" dirty="0">
                <a:solidFill>
                  <a:srgbClr val="00B050"/>
                </a:solidFill>
                <a:latin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139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70D2-BAD0-FD5C-ED65-695E908B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77744B5-5FFC-6149-9C40-54A6C23C2096}"/>
              </a:ext>
            </a:extLst>
          </p:cNvPr>
          <p:cNvGrpSpPr/>
          <p:nvPr/>
        </p:nvGrpSpPr>
        <p:grpSpPr>
          <a:xfrm>
            <a:off x="164064" y="1119724"/>
            <a:ext cx="9416758" cy="523220"/>
            <a:chOff x="164064" y="1119724"/>
            <a:chExt cx="941675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2C7B7E-CBAD-62D4-095C-B6FB3882CAF0}"/>
                </a:ext>
              </a:extLst>
            </p:cNvPr>
            <p:cNvSpPr txBox="1"/>
            <p:nvPr/>
          </p:nvSpPr>
          <p:spPr>
            <a:xfrm>
              <a:off x="769499" y="1119724"/>
              <a:ext cx="88113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a packet? Anatomy of a Data Packet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FF1EEE1-DC61-2B6A-F8EB-6FD8B2271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831D86F-75D3-B963-E338-FFF66DA84149}"/>
              </a:ext>
            </a:extLst>
          </p:cNvPr>
          <p:cNvSpPr txBox="1"/>
          <p:nvPr/>
        </p:nvSpPr>
        <p:spPr>
          <a:xfrm>
            <a:off x="668702" y="1572160"/>
            <a:ext cx="9590749" cy="10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Every piece of data is sent in a packet, which is like a digital envelop. Each packet has three main parts: 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437B521C-8F3B-280E-F374-FD6EBCC537AE}"/>
              </a:ext>
            </a:extLst>
          </p:cNvPr>
          <p:cNvSpPr txBox="1"/>
          <p:nvPr/>
        </p:nvSpPr>
        <p:spPr>
          <a:xfrm>
            <a:off x="813522" y="2629508"/>
            <a:ext cx="528247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Header (The “Mailing Label”)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DEF43-E421-7F57-FF28-1B93E0010747}"/>
              </a:ext>
            </a:extLst>
          </p:cNvPr>
          <p:cNvSpPr txBox="1"/>
          <p:nvPr/>
        </p:nvSpPr>
        <p:spPr>
          <a:xfrm>
            <a:off x="1096104" y="3099876"/>
            <a:ext cx="10795822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Contains all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control information for delivery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&amp; Destination Addresses / Protocol / Port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1913A-3943-B6A1-FDC2-9C7088BC32ED}"/>
              </a:ext>
            </a:extLst>
          </p:cNvPr>
          <p:cNvSpPr txBox="1"/>
          <p:nvPr/>
        </p:nvSpPr>
        <p:spPr>
          <a:xfrm>
            <a:off x="813522" y="3894179"/>
            <a:ext cx="528247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Payload (The “Letter”)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3E9AF-D98F-0BDC-C05C-38ECF9C23959}"/>
              </a:ext>
            </a:extLst>
          </p:cNvPr>
          <p:cNvSpPr txBox="1"/>
          <p:nvPr/>
        </p:nvSpPr>
        <p:spPr>
          <a:xfrm>
            <a:off x="1096104" y="4364547"/>
            <a:ext cx="10795822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packets are delivering.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could be a piece of an email, part of a website, or a second of video.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B9E25-7FB2-9B51-29A3-2B39458023ED}"/>
              </a:ext>
            </a:extLst>
          </p:cNvPr>
          <p:cNvSpPr txBox="1"/>
          <p:nvPr/>
        </p:nvSpPr>
        <p:spPr>
          <a:xfrm>
            <a:off x="813522" y="5156501"/>
            <a:ext cx="528247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Trailer (The “Seal of Integrity”)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3D3DB-8A5A-549D-AD05-3AAF6A5D9EBA}"/>
              </a:ext>
            </a:extLst>
          </p:cNvPr>
          <p:cNvSpPr txBox="1"/>
          <p:nvPr/>
        </p:nvSpPr>
        <p:spPr>
          <a:xfrm>
            <a:off x="1096104" y="5626869"/>
            <a:ext cx="10795822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Marks the end of the packet and contains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error-checking information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Frame Check Sequence (FCS): Verifies that the data arrived without being corrupted.</a:t>
            </a:r>
          </a:p>
        </p:txBody>
      </p:sp>
    </p:spTree>
    <p:extLst>
      <p:ext uri="{BB962C8B-B14F-4D97-AF65-F5344CB8AC3E}">
        <p14:creationId xmlns:p14="http://schemas.microsoft.com/office/powerpoint/2010/main" val="4098339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9F28-8954-EA08-CA09-B50DD4C0F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FDC4548-3464-14AB-D4EC-DFB3DF3000E6}"/>
              </a:ext>
            </a:extLst>
          </p:cNvPr>
          <p:cNvGrpSpPr/>
          <p:nvPr/>
        </p:nvGrpSpPr>
        <p:grpSpPr>
          <a:xfrm>
            <a:off x="164064" y="1119724"/>
            <a:ext cx="6783793" cy="523220"/>
            <a:chOff x="164064" y="1119724"/>
            <a:chExt cx="6783793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1382544-41B6-B2A7-1279-7F2A5D9EA583}"/>
                </a:ext>
              </a:extLst>
            </p:cNvPr>
            <p:cNvSpPr txBox="1"/>
            <p:nvPr/>
          </p:nvSpPr>
          <p:spPr>
            <a:xfrm>
              <a:off x="769499" y="1119724"/>
              <a:ext cx="61783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Central Role of the Router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837196D-3969-6CA5-A481-789EF8C10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A4B3D0CB-F606-294C-3122-DFF6FF076CF0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Router: </a:t>
            </a: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Network’s Gateway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94224CDE-CC01-3321-D388-FE99C8FD36F3}"/>
              </a:ext>
            </a:extLst>
          </p:cNvPr>
          <p:cNvSpPr txBox="1"/>
          <p:nvPr/>
        </p:nvSpPr>
        <p:spPr>
          <a:xfrm>
            <a:off x="813522" y="2149448"/>
            <a:ext cx="9279168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router is the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single gateway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for all network traffic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All data packets must pass through it, making it the ideal monitoring point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Our system uses a standard home/office router-no special hardware needed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AFD8AE-123F-6223-416B-74E21ACEF94E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8011C29-8E1E-A1C3-320B-570C2CFD719C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1057FE3B-0DB9-186A-9F84-F28BAED9266B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B5C9663-4A8D-1A07-8DF7-20BA3C3D4218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5C8919-F7D3-36AF-6AC0-E1074ADDBC5A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26EB6E-663D-B27F-7CFA-70348C818E5D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97E5626-037E-7530-C6C6-8E5DCEA2A5A0}"/>
              </a:ext>
            </a:extLst>
          </p:cNvPr>
          <p:cNvGrpSpPr/>
          <p:nvPr/>
        </p:nvGrpSpPr>
        <p:grpSpPr>
          <a:xfrm>
            <a:off x="1201283" y="3609304"/>
            <a:ext cx="4377799" cy="2540877"/>
            <a:chOff x="3361553" y="3803614"/>
            <a:chExt cx="4377799" cy="2540877"/>
          </a:xfrm>
        </p:grpSpPr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C7A6C773-5DDE-F938-D9A7-9F84093A5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44010" y="4819087"/>
              <a:ext cx="609600" cy="400050"/>
            </a:xfrm>
            <a:prstGeom prst="rect">
              <a:avLst/>
            </a:prstGeom>
          </p:spPr>
        </p:pic>
        <p:pic>
          <p:nvPicPr>
            <p:cNvPr id="13" name="Picture 1613" descr="desktop_computer_stylized_medium">
              <a:extLst>
                <a:ext uri="{FF2B5EF4-FFF2-40B4-BE49-F238E27FC236}">
                  <a16:creationId xmlns:a16="http://schemas.microsoft.com/office/drawing/2014/main" id="{44478EEA-DA75-B288-82AE-BBDBB04C9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361554" y="4685401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4" name="Group 1507">
              <a:extLst>
                <a:ext uri="{FF2B5EF4-FFF2-40B4-BE49-F238E27FC236}">
                  <a16:creationId xmlns:a16="http://schemas.microsoft.com/office/drawing/2014/main" id="{FD86AD14-9332-03F4-DD2B-2A60B72FEF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1872" y="4635060"/>
              <a:ext cx="427480" cy="711995"/>
              <a:chOff x="4140" y="429"/>
              <a:chExt cx="1425" cy="2396"/>
            </a:xfrm>
          </p:grpSpPr>
          <p:sp>
            <p:nvSpPr>
              <p:cNvPr id="22" name="Freeform 1508">
                <a:extLst>
                  <a:ext uri="{FF2B5EF4-FFF2-40B4-BE49-F238E27FC236}">
                    <a16:creationId xmlns:a16="http://schemas.microsoft.com/office/drawing/2014/main" id="{5BCC37A5-B0C9-6EB9-253A-AD42BBDEA7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6 w 354"/>
                  <a:gd name="T1" fmla="*/ 0 h 2742"/>
                  <a:gd name="T2" fmla="*/ 30 w 354"/>
                  <a:gd name="T3" fmla="*/ 46 h 2742"/>
                  <a:gd name="T4" fmla="*/ 30 w 354"/>
                  <a:gd name="T5" fmla="*/ 354 h 2742"/>
                  <a:gd name="T6" fmla="*/ 0 w 354"/>
                  <a:gd name="T7" fmla="*/ 371 h 2742"/>
                  <a:gd name="T8" fmla="*/ 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3" name="Rectangle 1509">
                <a:extLst>
                  <a:ext uri="{FF2B5EF4-FFF2-40B4-BE49-F238E27FC236}">
                    <a16:creationId xmlns:a16="http://schemas.microsoft.com/office/drawing/2014/main" id="{44D75579-3A99-CF7C-1F94-84E458FFB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4" name="Freeform 1510">
                <a:extLst>
                  <a:ext uri="{FF2B5EF4-FFF2-40B4-BE49-F238E27FC236}">
                    <a16:creationId xmlns:a16="http://schemas.microsoft.com/office/drawing/2014/main" id="{AB6B38F9-6084-1F0B-8B96-CCFC51DDD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18 w 211"/>
                  <a:gd name="T3" fmla="*/ 30 h 2537"/>
                  <a:gd name="T4" fmla="*/ 2 w 211"/>
                  <a:gd name="T5" fmla="*/ 338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5" name="Freeform 1511">
                <a:extLst>
                  <a:ext uri="{FF2B5EF4-FFF2-40B4-BE49-F238E27FC236}">
                    <a16:creationId xmlns:a16="http://schemas.microsoft.com/office/drawing/2014/main" id="{D0D28812-5C02-AD97-9A78-DC0314FEC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8 h 226"/>
                  <a:gd name="T4" fmla="*/ 29 w 328"/>
                  <a:gd name="T5" fmla="*/ 32 h 226"/>
                  <a:gd name="T6" fmla="*/ 0 w 328"/>
                  <a:gd name="T7" fmla="*/ 1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26" name="Rectangle 1512">
                <a:extLst>
                  <a:ext uri="{FF2B5EF4-FFF2-40B4-BE49-F238E27FC236}">
                    <a16:creationId xmlns:a16="http://schemas.microsoft.com/office/drawing/2014/main" id="{B13C1A5F-025C-C857-D81F-4784E5EBC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7" name="Group 1513">
                <a:extLst>
                  <a:ext uri="{FF2B5EF4-FFF2-40B4-BE49-F238E27FC236}">
                    <a16:creationId xmlns:a16="http://schemas.microsoft.com/office/drawing/2014/main" id="{D39E2772-6CEA-624B-BDC8-395D1896BF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52" name="AutoShape 1514">
                  <a:extLst>
                    <a:ext uri="{FF2B5EF4-FFF2-40B4-BE49-F238E27FC236}">
                      <a16:creationId xmlns:a16="http://schemas.microsoft.com/office/drawing/2014/main" id="{CDF2D61D-09D4-3489-BB92-64CAE375B8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3" name="AutoShape 1515">
                  <a:extLst>
                    <a:ext uri="{FF2B5EF4-FFF2-40B4-BE49-F238E27FC236}">
                      <a16:creationId xmlns:a16="http://schemas.microsoft.com/office/drawing/2014/main" id="{F6AAE72E-C5AD-EC79-417C-E9EF69540C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28" name="Rectangle 1516">
                <a:extLst>
                  <a:ext uri="{FF2B5EF4-FFF2-40B4-BE49-F238E27FC236}">
                    <a16:creationId xmlns:a16="http://schemas.microsoft.com/office/drawing/2014/main" id="{E5C5BC70-497A-216B-AABC-1231F6D96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29" name="Group 1517">
                <a:extLst>
                  <a:ext uri="{FF2B5EF4-FFF2-40B4-BE49-F238E27FC236}">
                    <a16:creationId xmlns:a16="http://schemas.microsoft.com/office/drawing/2014/main" id="{9B43199A-FEA0-09CF-B31F-6296315455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50" name="AutoShape 1518">
                  <a:extLst>
                    <a:ext uri="{FF2B5EF4-FFF2-40B4-BE49-F238E27FC236}">
                      <a16:creationId xmlns:a16="http://schemas.microsoft.com/office/drawing/2014/main" id="{2A037B5B-6E41-21C8-27CF-96F276AA6E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51" name="AutoShape 1519">
                  <a:extLst>
                    <a:ext uri="{FF2B5EF4-FFF2-40B4-BE49-F238E27FC236}">
                      <a16:creationId xmlns:a16="http://schemas.microsoft.com/office/drawing/2014/main" id="{0276C9BE-5248-DD5B-E165-E014C47049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0" name="Rectangle 1520">
                <a:extLst>
                  <a:ext uri="{FF2B5EF4-FFF2-40B4-BE49-F238E27FC236}">
                    <a16:creationId xmlns:a16="http://schemas.microsoft.com/office/drawing/2014/main" id="{20AD8ABE-681D-7E17-3E27-0DB32856E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1" name="Rectangle 1521">
                <a:extLst>
                  <a:ext uri="{FF2B5EF4-FFF2-40B4-BE49-F238E27FC236}">
                    <a16:creationId xmlns:a16="http://schemas.microsoft.com/office/drawing/2014/main" id="{AB6E94A9-5741-D64B-4F34-3E90BED45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2" name="Group 1522">
                <a:extLst>
                  <a:ext uri="{FF2B5EF4-FFF2-40B4-BE49-F238E27FC236}">
                    <a16:creationId xmlns:a16="http://schemas.microsoft.com/office/drawing/2014/main" id="{9B83E3D7-BDDF-0F43-BC89-1E8900EE56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48" name="AutoShape 1523">
                  <a:extLst>
                    <a:ext uri="{FF2B5EF4-FFF2-40B4-BE49-F238E27FC236}">
                      <a16:creationId xmlns:a16="http://schemas.microsoft.com/office/drawing/2014/main" id="{97AE7F10-046E-F25D-CB63-FC74D1324A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9"/>
                  <a:ext cx="720" cy="13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9" name="AutoShape 1524">
                  <a:extLst>
                    <a:ext uri="{FF2B5EF4-FFF2-40B4-BE49-F238E27FC236}">
                      <a16:creationId xmlns:a16="http://schemas.microsoft.com/office/drawing/2014/main" id="{EC672142-875B-7BCA-A0A6-4CB78FB3A0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3" name="Freeform 1525">
                <a:extLst>
                  <a:ext uri="{FF2B5EF4-FFF2-40B4-BE49-F238E27FC236}">
                    <a16:creationId xmlns:a16="http://schemas.microsoft.com/office/drawing/2014/main" id="{196A17AB-CE11-29A2-4C27-CB97A7081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9 w 328"/>
                  <a:gd name="T3" fmla="*/ 17 h 226"/>
                  <a:gd name="T4" fmla="*/ 29 w 328"/>
                  <a:gd name="T5" fmla="*/ 30 h 226"/>
                  <a:gd name="T6" fmla="*/ 0 w 328"/>
                  <a:gd name="T7" fmla="*/ 1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grpSp>
            <p:nvGrpSpPr>
              <p:cNvPr id="34" name="Group 1526">
                <a:extLst>
                  <a:ext uri="{FF2B5EF4-FFF2-40B4-BE49-F238E27FC236}">
                    <a16:creationId xmlns:a16="http://schemas.microsoft.com/office/drawing/2014/main" id="{12B5BDAB-3BDE-52AA-A220-0190E308CF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46" name="AutoShape 1527">
                  <a:extLst>
                    <a:ext uri="{FF2B5EF4-FFF2-40B4-BE49-F238E27FC236}">
                      <a16:creationId xmlns:a16="http://schemas.microsoft.com/office/drawing/2014/main" id="{EF182B60-1B3F-8368-FF6D-F6F9A61681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  <p:sp>
              <p:nvSpPr>
                <p:cNvPr id="47" name="AutoShape 1528">
                  <a:extLst>
                    <a:ext uri="{FF2B5EF4-FFF2-40B4-BE49-F238E27FC236}">
                      <a16:creationId xmlns:a16="http://schemas.microsoft.com/office/drawing/2014/main" id="{434E7A50-0D41-AC38-EBF0-C8629B7C5A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</a:endParaRPr>
                </a:p>
              </p:txBody>
            </p:sp>
          </p:grpSp>
          <p:sp>
            <p:nvSpPr>
              <p:cNvPr id="35" name="Rectangle 1529">
                <a:extLst>
                  <a:ext uri="{FF2B5EF4-FFF2-40B4-BE49-F238E27FC236}">
                    <a16:creationId xmlns:a16="http://schemas.microsoft.com/office/drawing/2014/main" id="{E7ED4240-DE83-591E-211F-CE8B408E6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6" name="Freeform 1530">
                <a:extLst>
                  <a:ext uri="{FF2B5EF4-FFF2-40B4-BE49-F238E27FC236}">
                    <a16:creationId xmlns:a16="http://schemas.microsoft.com/office/drawing/2014/main" id="{440845E1-1ABE-A533-B9E9-DFB42EF59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6 w 296"/>
                  <a:gd name="T3" fmla="*/ 18 h 256"/>
                  <a:gd name="T4" fmla="*/ 26 w 296"/>
                  <a:gd name="T5" fmla="*/ 34 h 256"/>
                  <a:gd name="T6" fmla="*/ 0 w 296"/>
                  <a:gd name="T7" fmla="*/ 1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7" name="Freeform 1531">
                <a:extLst>
                  <a:ext uri="{FF2B5EF4-FFF2-40B4-BE49-F238E27FC236}">
                    <a16:creationId xmlns:a16="http://schemas.microsoft.com/office/drawing/2014/main" id="{AB0B7CF2-D70F-EBEA-6936-32DE29E04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7 w 304"/>
                  <a:gd name="T3" fmla="*/ 23 h 288"/>
                  <a:gd name="T4" fmla="*/ 25 w 304"/>
                  <a:gd name="T5" fmla="*/ 40 h 288"/>
                  <a:gd name="T6" fmla="*/ 2 w 304"/>
                  <a:gd name="T7" fmla="*/ 17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8" name="Oval 1532">
                <a:extLst>
                  <a:ext uri="{FF2B5EF4-FFF2-40B4-BE49-F238E27FC236}">
                    <a16:creationId xmlns:a16="http://schemas.microsoft.com/office/drawing/2014/main" id="{891542A7-253C-2183-B3D5-BEEF345E9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39" name="Freeform 1533">
                <a:extLst>
                  <a:ext uri="{FF2B5EF4-FFF2-40B4-BE49-F238E27FC236}">
                    <a16:creationId xmlns:a16="http://schemas.microsoft.com/office/drawing/2014/main" id="{673E08EA-F1B0-A2E9-F4EB-E560C6F466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5 h 240"/>
                  <a:gd name="T2" fmla="*/ 2 w 306"/>
                  <a:gd name="T3" fmla="*/ 33 h 240"/>
                  <a:gd name="T4" fmla="*/ 27 w 306"/>
                  <a:gd name="T5" fmla="*/ 15 h 240"/>
                  <a:gd name="T6" fmla="*/ 26 w 306"/>
                  <a:gd name="T7" fmla="*/ 0 h 240"/>
                  <a:gd name="T8" fmla="*/ 0 w 306"/>
                  <a:gd name="T9" fmla="*/ 15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0" name="AutoShape 1534">
                <a:extLst>
                  <a:ext uri="{FF2B5EF4-FFF2-40B4-BE49-F238E27FC236}">
                    <a16:creationId xmlns:a16="http://schemas.microsoft.com/office/drawing/2014/main" id="{35287664-E16D-AC5E-C7D6-6AAD2C0AA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1" name="AutoShape 1535">
                <a:extLst>
                  <a:ext uri="{FF2B5EF4-FFF2-40B4-BE49-F238E27FC236}">
                    <a16:creationId xmlns:a16="http://schemas.microsoft.com/office/drawing/2014/main" id="{F0EC74AF-533E-DDB9-6943-5AABADE5F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2" name="Oval 1536">
                <a:extLst>
                  <a:ext uri="{FF2B5EF4-FFF2-40B4-BE49-F238E27FC236}">
                    <a16:creationId xmlns:a16="http://schemas.microsoft.com/office/drawing/2014/main" id="{70466922-566B-B767-BC1E-D89A1AAFB5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3" name="Oval 1537">
                <a:extLst>
                  <a:ext uri="{FF2B5EF4-FFF2-40B4-BE49-F238E27FC236}">
                    <a16:creationId xmlns:a16="http://schemas.microsoft.com/office/drawing/2014/main" id="{70E07E56-2EBF-73B0-AA3C-DB372A0500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4" name="Oval 1538">
                <a:extLst>
                  <a:ext uri="{FF2B5EF4-FFF2-40B4-BE49-F238E27FC236}">
                    <a16:creationId xmlns:a16="http://schemas.microsoft.com/office/drawing/2014/main" id="{10AB04D0-73C9-FF20-FCAE-1D9B3352B7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  <p:sp>
            <p:nvSpPr>
              <p:cNvPr id="45" name="Rectangle 1539">
                <a:extLst>
                  <a:ext uri="{FF2B5EF4-FFF2-40B4-BE49-F238E27FC236}">
                    <a16:creationId xmlns:a16="http://schemas.microsoft.com/office/drawing/2014/main" id="{32EE8BA8-876B-32F8-7FDD-974063627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endParaRPr>
              </a:p>
            </p:txBody>
          </p:sp>
        </p:grpSp>
        <p:pic>
          <p:nvPicPr>
            <p:cNvPr id="15" name="Picture 1613" descr="desktop_computer_stylized_medium">
              <a:extLst>
                <a:ext uri="{FF2B5EF4-FFF2-40B4-BE49-F238E27FC236}">
                  <a16:creationId xmlns:a16="http://schemas.microsoft.com/office/drawing/2014/main" id="{276718B2-31A9-4DAC-4A45-E72930A94E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428893" y="3803614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613" descr="desktop_computer_stylized_medium">
              <a:extLst>
                <a:ext uri="{FF2B5EF4-FFF2-40B4-BE49-F238E27FC236}">
                  <a16:creationId xmlns:a16="http://schemas.microsoft.com/office/drawing/2014/main" id="{84062408-C93A-C5D8-884F-E354AAE90F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361553" y="5688604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D01F48D1-51A1-83C4-B2FB-9F60F376D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933" y="5032056"/>
              <a:ext cx="906081" cy="938125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C41825B-33D7-B53E-46C7-6951ACE9300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62933" y="4131556"/>
              <a:ext cx="906081" cy="90049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54217860-1630-B344-6C02-E91E793CB93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62933" y="4983500"/>
              <a:ext cx="909081" cy="4571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A6E4712-D725-EAF7-533E-0CB92DB776D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013345"/>
              <a:ext cx="113665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B6E9C2-D2DB-EB5A-DFE9-CB6B5041AD5E}"/>
                </a:ext>
              </a:extLst>
            </p:cNvPr>
            <p:cNvSpPr txBox="1"/>
            <p:nvPr/>
          </p:nvSpPr>
          <p:spPr>
            <a:xfrm>
              <a:off x="4607638" y="5257610"/>
              <a:ext cx="2089910" cy="30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Router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773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79BB7-299B-4632-47A9-0EFF9F481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4F8DD4F-7177-651F-7927-0B748239C6BB}"/>
              </a:ext>
            </a:extLst>
          </p:cNvPr>
          <p:cNvGrpSpPr/>
          <p:nvPr/>
        </p:nvGrpSpPr>
        <p:grpSpPr>
          <a:xfrm>
            <a:off x="164064" y="1119724"/>
            <a:ext cx="8491633" cy="523220"/>
            <a:chOff x="164064" y="1119724"/>
            <a:chExt cx="8491633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7FCE276-63D3-902C-C5D8-5F24023B71D1}"/>
                </a:ext>
              </a:extLst>
            </p:cNvPr>
            <p:cNvSpPr txBox="1"/>
            <p:nvPr/>
          </p:nvSpPr>
          <p:spPr>
            <a:xfrm>
              <a:off x="769499" y="1119724"/>
              <a:ext cx="78861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How We Capture Traffic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C16EAAE-9925-C682-F987-5D7B470B1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8F2BC169-B80D-D360-A30A-AF779CFC9AB7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Port Forwarding / Mirroring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2118A74B-C1DD-CF47-550E-89FB2C2C60E3}"/>
              </a:ext>
            </a:extLst>
          </p:cNvPr>
          <p:cNvSpPr txBox="1"/>
          <p:nvPr/>
        </p:nvSpPr>
        <p:spPr>
          <a:xfrm>
            <a:off x="813521" y="2115158"/>
            <a:ext cx="10739723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router feature that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duplicates all traffic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and sends a copy to our monitoring device.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C20EC79F-049A-6A4D-DD13-53F0D13C9A11}"/>
              </a:ext>
            </a:extLst>
          </p:cNvPr>
          <p:cNvSpPr txBox="1"/>
          <p:nvPr/>
        </p:nvSpPr>
        <p:spPr>
          <a:xfrm>
            <a:off x="668702" y="2588149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Packet Sniffing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EBD3AE44-1BA6-4107-0E6A-C12BB0E53003}"/>
              </a:ext>
            </a:extLst>
          </p:cNvPr>
          <p:cNvSpPr txBox="1"/>
          <p:nvPr/>
        </p:nvSpPr>
        <p:spPr>
          <a:xfrm>
            <a:off x="813522" y="3131147"/>
            <a:ext cx="799900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Software on our monitoring device (e.g. Wireshark) that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captures and records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the copied packets for analysis.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498090F-17FB-1A1D-53CB-8087B93FC495}"/>
              </a:ext>
            </a:extLst>
          </p:cNvPr>
          <p:cNvGrpSpPr/>
          <p:nvPr/>
        </p:nvGrpSpPr>
        <p:grpSpPr>
          <a:xfrm>
            <a:off x="1195303" y="4213883"/>
            <a:ext cx="5887326" cy="2192585"/>
            <a:chOff x="2635483" y="4293893"/>
            <a:chExt cx="5887326" cy="2192585"/>
          </a:xfrm>
        </p:grpSpPr>
        <p:pic>
          <p:nvPicPr>
            <p:cNvPr id="3" name="Picture 1613" descr="desktop_computer_stylized_medium">
              <a:extLst>
                <a:ext uri="{FF2B5EF4-FFF2-40B4-BE49-F238E27FC236}">
                  <a16:creationId xmlns:a16="http://schemas.microsoft.com/office/drawing/2014/main" id="{3707A0DA-FB30-F072-3233-1C51777EFB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47514" y="4293893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1613" descr="desktop_computer_stylized_medium">
              <a:extLst>
                <a:ext uri="{FF2B5EF4-FFF2-40B4-BE49-F238E27FC236}">
                  <a16:creationId xmlns:a16="http://schemas.microsoft.com/office/drawing/2014/main" id="{6CC5BED7-56AC-951D-FA62-49BB3FCB3F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67756" y="5062242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그래픽 7">
              <a:extLst>
                <a:ext uri="{FF2B5EF4-FFF2-40B4-BE49-F238E27FC236}">
                  <a16:creationId xmlns:a16="http://schemas.microsoft.com/office/drawing/2014/main" id="{9A20C943-FC7B-02ED-49DB-4B37F04A0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14891" y="4518815"/>
              <a:ext cx="290200" cy="206042"/>
            </a:xfrm>
            <a:prstGeom prst="rect">
              <a:avLst/>
            </a:prstGeom>
          </p:spPr>
        </p:pic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8413EA95-AAA3-CD74-0C3F-7FC1501AF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35134" y="5287164"/>
              <a:ext cx="290200" cy="206042"/>
            </a:xfrm>
            <a:prstGeom prst="rect">
              <a:avLst/>
            </a:prstGeom>
          </p:spPr>
        </p:pic>
        <p:pic>
          <p:nvPicPr>
            <p:cNvPr id="10" name="그래픽 9">
              <a:extLst>
                <a:ext uri="{FF2B5EF4-FFF2-40B4-BE49-F238E27FC236}">
                  <a16:creationId xmlns:a16="http://schemas.microsoft.com/office/drawing/2014/main" id="{0A12385E-1843-DBCF-15DD-78B8107DD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35134" y="6055514"/>
              <a:ext cx="290200" cy="206042"/>
            </a:xfrm>
            <a:prstGeom prst="rect">
              <a:avLst/>
            </a:prstGeom>
          </p:spPr>
        </p:pic>
        <p:pic>
          <p:nvPicPr>
            <p:cNvPr id="11" name="Picture 1613" descr="desktop_computer_stylized_medium">
              <a:extLst>
                <a:ext uri="{FF2B5EF4-FFF2-40B4-BE49-F238E27FC236}">
                  <a16:creationId xmlns:a16="http://schemas.microsoft.com/office/drawing/2014/main" id="{C4777A26-261D-A88B-E039-47B80C6829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7625334" y="5830591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5">
              <a:extLst>
                <a:ext uri="{FF2B5EF4-FFF2-40B4-BE49-F238E27FC236}">
                  <a16:creationId xmlns:a16="http://schemas.microsoft.com/office/drawing/2014/main" id="{8CF07DE6-8935-FF66-1565-5AC41A479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67149" y="4970393"/>
              <a:ext cx="609600" cy="40005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DD461C2-200C-8783-85B2-A71162E9B75A}"/>
                </a:ext>
              </a:extLst>
            </p:cNvPr>
            <p:cNvSpPr txBox="1"/>
            <p:nvPr/>
          </p:nvSpPr>
          <p:spPr>
            <a:xfrm>
              <a:off x="4330777" y="5408916"/>
              <a:ext cx="2089910" cy="30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Router</a:t>
              </a:r>
            </a:p>
          </p:txBody>
        </p:sp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44E589C4-B50D-3796-95E6-AF92C5B35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410195" y="4819147"/>
              <a:ext cx="540486" cy="55129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AB3F323-156B-A41A-EBA5-53FA1E4E6B02}"/>
                </a:ext>
              </a:extLst>
            </p:cNvPr>
            <p:cNvSpPr txBox="1"/>
            <p:nvPr/>
          </p:nvSpPr>
          <p:spPr>
            <a:xfrm>
              <a:off x="2635483" y="5409251"/>
              <a:ext cx="2089910" cy="30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Internet</a:t>
              </a: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0BF4B136-8CF3-5E7D-87C1-5FB27F060E5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66949" y="5175988"/>
              <a:ext cx="1297601" cy="949367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A9EC032F-6598-FDD7-CFC7-DFB439460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2263" y="4628840"/>
              <a:ext cx="1261338" cy="547151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70DFD201-6542-F4CC-4768-D1931628B69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5952263" y="5175990"/>
              <a:ext cx="1312287" cy="194451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4056077-A4A8-D882-94AA-817C2837C8D5}"/>
                </a:ext>
              </a:extLst>
            </p:cNvPr>
            <p:cNvCxnSpPr>
              <a:cxnSpLocks/>
            </p:cNvCxnSpPr>
            <p:nvPr/>
          </p:nvCxnSpPr>
          <p:spPr>
            <a:xfrm>
              <a:off x="4149270" y="5175991"/>
              <a:ext cx="787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77AF81-5B57-444B-B164-EB635755D48E}"/>
                </a:ext>
              </a:extLst>
            </p:cNvPr>
            <p:cNvSpPr txBox="1"/>
            <p:nvPr/>
          </p:nvSpPr>
          <p:spPr>
            <a:xfrm>
              <a:off x="4330777" y="5665048"/>
              <a:ext cx="2089910" cy="30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Packet Capture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96768FB-DD4C-3DAD-BDF9-E275629F5A95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A77BA1A-50BA-B330-527A-32400F5F1E6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8258EB01-E9AB-8B54-AAE6-2E0CA6B690E3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B8A15970-23DD-41A6-36BB-DC0052B45B33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075745-ED4A-3BB7-13E0-9A726288E5F1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EC1346F-F99C-F1FC-E4AF-E4904AA6135D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76585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328DB-2198-8E2C-ED8E-5BFEED253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219CA9B-6A37-6EF3-4FDF-DEA6C3FA01A4}"/>
              </a:ext>
            </a:extLst>
          </p:cNvPr>
          <p:cNvGrpSpPr/>
          <p:nvPr/>
        </p:nvGrpSpPr>
        <p:grpSpPr>
          <a:xfrm>
            <a:off x="164064" y="1119724"/>
            <a:ext cx="10339638" cy="523220"/>
            <a:chOff x="164064" y="1119724"/>
            <a:chExt cx="1033963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182444A-997F-7188-61DA-045EC2769AA5}"/>
                </a:ext>
              </a:extLst>
            </p:cNvPr>
            <p:cNvSpPr txBox="1"/>
            <p:nvPr/>
          </p:nvSpPr>
          <p:spPr>
            <a:xfrm>
              <a:off x="769499" y="1119724"/>
              <a:ext cx="97342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Problem: Limitations of Commercial Routers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7DB5181-893D-48E0-592C-F439F4B8A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DFF29449-430D-F44E-ABBE-14AA65CDFCC6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Closed Systems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5D91D285-E30B-0225-3F21-E1B5E5BA660F}"/>
              </a:ext>
            </a:extLst>
          </p:cNvPr>
          <p:cNvSpPr txBox="1"/>
          <p:nvPr/>
        </p:nvSpPr>
        <p:spPr>
          <a:xfrm>
            <a:off x="813522" y="2115158"/>
            <a:ext cx="10453476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Most commercial routers run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specific OS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making it difficult to install custom software. 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45CA0588-5C11-8C84-0800-BDEA0EFFA6EB}"/>
              </a:ext>
            </a:extLst>
          </p:cNvPr>
          <p:cNvSpPr txBox="1"/>
          <p:nvPr/>
        </p:nvSpPr>
        <p:spPr>
          <a:xfrm>
            <a:off x="668702" y="2588149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Solution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: A Mini-PC as a Network “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Checkpoint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”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06915004-9542-4E65-1BDC-DCB55621E595}"/>
              </a:ext>
            </a:extLst>
          </p:cNvPr>
          <p:cNvSpPr txBox="1"/>
          <p:nvPr/>
        </p:nvSpPr>
        <p:spPr>
          <a:xfrm>
            <a:off x="813522" y="3131147"/>
            <a:ext cx="8033298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 a Linux-based Mini-PC to act as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transparent router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sits between your internet source and the existing Wi-Fi router, inspecting all incoming and outgoing traffic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8809C4C-D6F8-47DC-862C-2192F4FBC6D4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F3AF381-6B81-37BA-C178-16EF3131B73E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FA71279B-36E3-022D-53F3-434CB2A40EDF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F0A437E-8C50-1D31-7425-7EAE215DBE9D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5F6CA5-C8A9-8B87-F251-11426CC19EE8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F7BDA0-1704-572E-0F7E-9029C89B2DB8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2C4D4F2-81DD-FBE2-6381-0B70D01E5A39}"/>
              </a:ext>
            </a:extLst>
          </p:cNvPr>
          <p:cNvGrpSpPr/>
          <p:nvPr/>
        </p:nvGrpSpPr>
        <p:grpSpPr>
          <a:xfrm>
            <a:off x="1204136" y="4425412"/>
            <a:ext cx="5333663" cy="2326786"/>
            <a:chOff x="4438826" y="4425412"/>
            <a:chExt cx="5333663" cy="2326786"/>
          </a:xfrm>
        </p:grpSpPr>
        <p:pic>
          <p:nvPicPr>
            <p:cNvPr id="12" name="Picture 1613" descr="desktop_computer_stylized_medium">
              <a:extLst>
                <a:ext uri="{FF2B5EF4-FFF2-40B4-BE49-F238E27FC236}">
                  <a16:creationId xmlns:a16="http://schemas.microsoft.com/office/drawing/2014/main" id="{7E1539A7-479E-3342-A2F5-0180BD7952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97194" y="4425412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613" descr="desktop_computer_stylized_medium">
              <a:extLst>
                <a:ext uri="{FF2B5EF4-FFF2-40B4-BE49-F238E27FC236}">
                  <a16:creationId xmlns:a16="http://schemas.microsoft.com/office/drawing/2014/main" id="{B5A6E3FF-D2DB-C7D4-3A1A-DADBBBBE8C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917436" y="5193761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그래픽 13">
              <a:extLst>
                <a:ext uri="{FF2B5EF4-FFF2-40B4-BE49-F238E27FC236}">
                  <a16:creationId xmlns:a16="http://schemas.microsoft.com/office/drawing/2014/main" id="{1C7239A1-82F5-4032-EB94-08D54471F1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64571" y="4650334"/>
              <a:ext cx="290200" cy="206042"/>
            </a:xfrm>
            <a:prstGeom prst="rect">
              <a:avLst/>
            </a:prstGeom>
          </p:spPr>
        </p:pic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5C3A9297-7732-1519-2586-C194A416E06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84814" y="5418683"/>
              <a:ext cx="290200" cy="206042"/>
            </a:xfrm>
            <a:prstGeom prst="rect">
              <a:avLst/>
            </a:prstGeom>
          </p:spPr>
        </p:pic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FB163EFF-E1D1-AAF8-4FF2-80442A9E5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84814" y="6187033"/>
              <a:ext cx="290200" cy="206042"/>
            </a:xfrm>
            <a:prstGeom prst="rect">
              <a:avLst/>
            </a:prstGeom>
          </p:spPr>
        </p:pic>
        <p:pic>
          <p:nvPicPr>
            <p:cNvPr id="17" name="Picture 1613" descr="desktop_computer_stylized_medium">
              <a:extLst>
                <a:ext uri="{FF2B5EF4-FFF2-40B4-BE49-F238E27FC236}">
                  <a16:creationId xmlns:a16="http://schemas.microsoft.com/office/drawing/2014/main" id="{CE6516DE-82DF-72A4-3115-A5EF3A9DA8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75014" y="5962110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613" descr="desktop_computer_stylized_medium">
              <a:extLst>
                <a:ext uri="{FF2B5EF4-FFF2-40B4-BE49-F238E27FC236}">
                  <a16:creationId xmlns:a16="http://schemas.microsoft.com/office/drawing/2014/main" id="{A342D0C6-136C-795D-7241-EBDC53AA64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529184" y="5580535"/>
              <a:ext cx="855053" cy="655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5">
              <a:extLst>
                <a:ext uri="{FF2B5EF4-FFF2-40B4-BE49-F238E27FC236}">
                  <a16:creationId xmlns:a16="http://schemas.microsoft.com/office/drawing/2014/main" id="{845101AA-621A-D22B-870D-D3833038C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70492" y="4591063"/>
              <a:ext cx="609600" cy="40005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A833DA-40F3-724E-3922-B2107764716E}"/>
                </a:ext>
              </a:extLst>
            </p:cNvPr>
            <p:cNvSpPr txBox="1"/>
            <p:nvPr/>
          </p:nvSpPr>
          <p:spPr>
            <a:xfrm>
              <a:off x="6134120" y="5029586"/>
              <a:ext cx="2089910" cy="30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Router</a:t>
              </a:r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640BF8E2-B586-4698-8B3B-3F3497CEE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13538" y="4439817"/>
              <a:ext cx="540486" cy="55129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5C9A17A-2561-258E-EA08-C95558486615}"/>
                </a:ext>
              </a:extLst>
            </p:cNvPr>
            <p:cNvSpPr txBox="1"/>
            <p:nvPr/>
          </p:nvSpPr>
          <p:spPr>
            <a:xfrm>
              <a:off x="4438826" y="5029921"/>
              <a:ext cx="2089910" cy="3016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Internet</a:t>
              </a:r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8069D71-1DE0-DD40-DB48-4764729CE6B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05148" y="4796661"/>
              <a:ext cx="909082" cy="1460214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5145D375-14EB-B6CE-6A28-8A73BB3EA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067" y="4760359"/>
              <a:ext cx="850213" cy="45719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4696FCF9-3B1E-32FA-FA0B-78278E67B21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605149" y="4797324"/>
              <a:ext cx="909081" cy="704638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A33E865-07B1-DAA3-D228-6E8BC1A56CE4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7126662" y="5302432"/>
              <a:ext cx="45719" cy="295104"/>
            </a:xfrm>
            <a:custGeom>
              <a:avLst/>
              <a:gdLst>
                <a:gd name="T0" fmla="*/ 0 w 342"/>
                <a:gd name="T1" fmla="*/ 186 h 186"/>
                <a:gd name="T2" fmla="*/ 342 w 342"/>
                <a:gd name="T3" fmla="*/ 0 h 186"/>
                <a:gd name="T4" fmla="*/ 0 60000 65536"/>
                <a:gd name="T5" fmla="*/ 0 60000 65536"/>
                <a:gd name="T6" fmla="*/ 0 w 342"/>
                <a:gd name="T7" fmla="*/ 0 h 186"/>
                <a:gd name="T8" fmla="*/ 342 w 342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2" h="186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882DE0D7-94BC-A862-B175-FFBCC22376BC}"/>
                </a:ext>
              </a:extLst>
            </p:cNvPr>
            <p:cNvCxnSpPr>
              <a:cxnSpLocks/>
            </p:cNvCxnSpPr>
            <p:nvPr/>
          </p:nvCxnSpPr>
          <p:spPr>
            <a:xfrm>
              <a:off x="5952613" y="4796661"/>
              <a:ext cx="7874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0878D66-CD50-7210-CFB4-E8BC91A6A378}"/>
                </a:ext>
              </a:extLst>
            </p:cNvPr>
            <p:cNvSpPr txBox="1"/>
            <p:nvPr/>
          </p:nvSpPr>
          <p:spPr>
            <a:xfrm>
              <a:off x="5662972" y="6167423"/>
              <a:ext cx="28307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A Transparent Router</a:t>
              </a:r>
              <a:br>
                <a:rPr lang="en-US" sz="1600" b="1" dirty="0">
                  <a:solidFill>
                    <a:srgbClr val="C00000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rPr>
              </a:br>
              <a:r>
                <a:rPr lang="en-US" sz="1600" b="1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Mini-PC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4315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81392-8771-BD6B-58E7-713B7C58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61FA2FA-93D7-B554-7C01-0D5D48C7C211}"/>
              </a:ext>
            </a:extLst>
          </p:cNvPr>
          <p:cNvGrpSpPr/>
          <p:nvPr/>
        </p:nvGrpSpPr>
        <p:grpSpPr>
          <a:xfrm>
            <a:off x="164064" y="1119724"/>
            <a:ext cx="6904852" cy="523220"/>
            <a:chOff x="164064" y="1119724"/>
            <a:chExt cx="690485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4AA28B7-F310-9734-4C92-C03CFF645681}"/>
                </a:ext>
              </a:extLst>
            </p:cNvPr>
            <p:cNvSpPr txBox="1"/>
            <p:nvPr/>
          </p:nvSpPr>
          <p:spPr>
            <a:xfrm>
              <a:off x="769499" y="1119724"/>
              <a:ext cx="629941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Foundations of Packet Capture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C987C34-F5F2-13C0-0AA3-944786FC4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F4626A8-C3E6-0703-0358-3D1BBE068392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OSI Layers &amp; Capture Points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99B6AE79-9CB5-DA1D-6C9B-0E84294BB70D}"/>
              </a:ext>
            </a:extLst>
          </p:cNvPr>
          <p:cNvSpPr txBox="1"/>
          <p:nvPr/>
        </p:nvSpPr>
        <p:spPr>
          <a:xfrm>
            <a:off x="2493732" y="2149448"/>
            <a:ext cx="528247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Application Layer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3CA2F-4D8C-07AC-2462-8D2B13E8A983}"/>
              </a:ext>
            </a:extLst>
          </p:cNvPr>
          <p:cNvSpPr txBox="1"/>
          <p:nvPr/>
        </p:nvSpPr>
        <p:spPr>
          <a:xfrm>
            <a:off x="2776314" y="2619816"/>
            <a:ext cx="8093616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actual data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being sent. (content of a website or a message)</a:t>
            </a:r>
          </a:p>
        </p:txBody>
      </p:sp>
      <p:graphicFrame>
        <p:nvGraphicFramePr>
          <p:cNvPr id="3" name="표 7">
            <a:extLst>
              <a:ext uri="{FF2B5EF4-FFF2-40B4-BE49-F238E27FC236}">
                <a16:creationId xmlns:a16="http://schemas.microsoft.com/office/drawing/2014/main" id="{5EDBE09F-BEAC-9844-246C-879B9B2A8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196989"/>
              </p:ext>
            </p:extLst>
          </p:nvPr>
        </p:nvGraphicFramePr>
        <p:xfrm>
          <a:off x="825936" y="2323154"/>
          <a:ext cx="1666049" cy="419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049">
                  <a:extLst>
                    <a:ext uri="{9D8B030D-6E8A-4147-A177-3AD203B41FA5}">
                      <a16:colId xmlns:a16="http://schemas.microsoft.com/office/drawing/2014/main" val="3608686586"/>
                    </a:ext>
                  </a:extLst>
                </a:gridCol>
              </a:tblGrid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말싸미815" panose="02020600000000000000" pitchFamily="18" charset="-127"/>
                          <a:ea typeface="말싸미815" panose="02020600000000000000" pitchFamily="18" charset="-127"/>
                          <a:cs typeface="+mn-cs"/>
                        </a:rPr>
                        <a:t>Application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말싸미815" panose="02020600000000000000" pitchFamily="18" charset="-127"/>
                        <a:ea typeface="말싸미815" panose="02020600000000000000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56978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말싸미815" panose="02020600000000000000" pitchFamily="18" charset="-127"/>
                          <a:ea typeface="말싸미815" panose="02020600000000000000" pitchFamily="18" charset="-127"/>
                          <a:cs typeface="+mn-cs"/>
                        </a:rPr>
                        <a:t>Presentation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말싸미815" panose="02020600000000000000" pitchFamily="18" charset="-127"/>
                        <a:ea typeface="말싸미815" panose="02020600000000000000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23564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말싸미815" panose="02020600000000000000" pitchFamily="18" charset="-127"/>
                          <a:ea typeface="말싸미815" panose="02020600000000000000" pitchFamily="18" charset="-127"/>
                          <a:cs typeface="+mn-cs"/>
                        </a:rPr>
                        <a:t>Session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말싸미815" panose="02020600000000000000" pitchFamily="18" charset="-127"/>
                        <a:ea typeface="말싸미815" panose="02020600000000000000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473478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말싸미815" panose="02020600000000000000" pitchFamily="18" charset="-127"/>
                          <a:ea typeface="말싸미815" panose="02020600000000000000" pitchFamily="18" charset="-127"/>
                          <a:cs typeface="+mn-cs"/>
                        </a:rPr>
                        <a:t>Transport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말싸미815" panose="02020600000000000000" pitchFamily="18" charset="-127"/>
                        <a:ea typeface="말싸미815" panose="02020600000000000000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93374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말싸미815" panose="02020600000000000000" pitchFamily="18" charset="-127"/>
                          <a:ea typeface="말싸미815" panose="02020600000000000000" pitchFamily="18" charset="-127"/>
                          <a:cs typeface="+mn-cs"/>
                        </a:rPr>
                        <a:t>Network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866261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말싸미815" panose="02020600000000000000" pitchFamily="18" charset="-127"/>
                          <a:ea typeface="말싸미815" panose="02020600000000000000" pitchFamily="18" charset="-127"/>
                          <a:cs typeface="+mn-cs"/>
                        </a:rPr>
                        <a:t>Data Link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말싸미815" panose="02020600000000000000" pitchFamily="18" charset="-127"/>
                        <a:ea typeface="말싸미815" panose="02020600000000000000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9326103"/>
                  </a:ext>
                </a:extLst>
              </a:tr>
              <a:tr h="5986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말싸미815" panose="02020600000000000000" pitchFamily="18" charset="-127"/>
                          <a:ea typeface="말싸미815" panose="02020600000000000000" pitchFamily="18" charset="-127"/>
                          <a:cs typeface="+mn-cs"/>
                        </a:rPr>
                        <a:t>Physical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말싸미815" panose="02020600000000000000" pitchFamily="18" charset="-127"/>
                        <a:ea typeface="말싸미815" panose="02020600000000000000" pitchFamily="18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9958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3047C5E-19E8-6437-CCF5-9F2F237ED4F0}"/>
              </a:ext>
            </a:extLst>
          </p:cNvPr>
          <p:cNvSpPr txBox="1"/>
          <p:nvPr/>
        </p:nvSpPr>
        <p:spPr>
          <a:xfrm>
            <a:off x="2493732" y="3048924"/>
            <a:ext cx="732463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Network &amp; Transport Layers ( &lt;- </a:t>
            </a:r>
            <a:r>
              <a:rPr lang="en-US" altLang="ko-KR" sz="2000" dirty="0" err="1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Scapy’s</a:t>
            </a: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 Primary Domain)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B0DBBB-36F4-76DA-3632-B746BF06EE08}"/>
              </a:ext>
            </a:extLst>
          </p:cNvPr>
          <p:cNvSpPr txBox="1"/>
          <p:nvPr/>
        </p:nvSpPr>
        <p:spPr>
          <a:xfrm>
            <a:off x="2776314" y="3507862"/>
            <a:ext cx="8093616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contains the packet’s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IP address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and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port number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are designed to read and manipulate this critical information.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73F378-3198-E2DB-3BB2-A33A2A781761}"/>
              </a:ext>
            </a:extLst>
          </p:cNvPr>
          <p:cNvSpPr txBox="1"/>
          <p:nvPr/>
        </p:nvSpPr>
        <p:spPr>
          <a:xfrm>
            <a:off x="2493732" y="4297069"/>
            <a:ext cx="732463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Data Link Layer ( &lt;- Raw Socket Access)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D28282-24F8-40B5-0AB2-A0AE721DB41B}"/>
              </a:ext>
            </a:extLst>
          </p:cNvPr>
          <p:cNvSpPr txBox="1"/>
          <p:nvPr/>
        </p:nvSpPr>
        <p:spPr>
          <a:xfrm>
            <a:off x="2776314" y="4767437"/>
            <a:ext cx="8093616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lowest level we can access.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capture the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raw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complete data packet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directly from the physical network hardware.</a:t>
            </a:r>
          </a:p>
        </p:txBody>
      </p:sp>
    </p:spTree>
    <p:extLst>
      <p:ext uri="{BB962C8B-B14F-4D97-AF65-F5344CB8AC3E}">
        <p14:creationId xmlns:p14="http://schemas.microsoft.com/office/powerpoint/2010/main" val="3531205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EFEF2-0C7B-8422-5216-1D878F17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3582B09-66EC-373B-03B3-C98B8588E908}"/>
              </a:ext>
            </a:extLst>
          </p:cNvPr>
          <p:cNvGrpSpPr/>
          <p:nvPr/>
        </p:nvGrpSpPr>
        <p:grpSpPr>
          <a:xfrm>
            <a:off x="164064" y="1119724"/>
            <a:ext cx="9416758" cy="523220"/>
            <a:chOff x="164064" y="1119724"/>
            <a:chExt cx="941675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20AA57-FA73-DAF3-2FF2-52DEB63CFDEF}"/>
                </a:ext>
              </a:extLst>
            </p:cNvPr>
            <p:cNvSpPr txBox="1"/>
            <p:nvPr/>
          </p:nvSpPr>
          <p:spPr>
            <a:xfrm>
              <a:off x="769499" y="1119724"/>
              <a:ext cx="881132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Our Project’s Capture Stack &amp; Configuration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AE20643-D3FA-1910-2020-7685B5083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FB7A34E-6BFE-064A-A273-B9A33801626B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Library Stack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C6C2DF18-B509-FF68-E56D-F084CAC3F7A7}"/>
              </a:ext>
            </a:extLst>
          </p:cNvPr>
          <p:cNvSpPr txBox="1"/>
          <p:nvPr/>
        </p:nvSpPr>
        <p:spPr>
          <a:xfrm>
            <a:off x="813521" y="2115158"/>
            <a:ext cx="9445929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Layer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libpcap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(Provides low-level access to the network interface)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 Binding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2.5.0 (Powerful packet manipulation library)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Application layer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PacketCapture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Class (Our custom implementation)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AE372BE-3BA8-4EA9-0E4A-187E8CEA24AD}"/>
              </a:ext>
            </a:extLst>
          </p:cNvPr>
          <p:cNvSpPr txBox="1"/>
          <p:nvPr/>
        </p:nvSpPr>
        <p:spPr>
          <a:xfrm>
            <a:off x="668702" y="3388249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Default Configuration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7C3CB811-9ACE-646C-04F5-027060D88D54}"/>
              </a:ext>
            </a:extLst>
          </p:cNvPr>
          <p:cNvSpPr txBox="1"/>
          <p:nvPr/>
        </p:nvSpPr>
        <p:spPr>
          <a:xfrm>
            <a:off x="813522" y="3931247"/>
            <a:ext cx="8307618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Interface: enp2s0 (Example)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Mode: standard (Normal Mode)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BPF Filter: “net 192.162.100.0/24 or not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arp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and not icmp6” (Example)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8FFD49-B2B1-8314-36B4-E216DC55373D}"/>
              </a:ext>
            </a:extLst>
          </p:cNvPr>
          <p:cNvSpPr txBox="1"/>
          <p:nvPr/>
        </p:nvSpPr>
        <p:spPr>
          <a:xfrm>
            <a:off x="1096104" y="5498163"/>
            <a:ext cx="10795822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Captures traffic to or from the 192.168.100.x network, ignoring noisy ARP and ICMPv6 packets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DDBE2-8A51-851F-EB19-49A10F54E8F9}"/>
              </a:ext>
            </a:extLst>
          </p:cNvPr>
          <p:cNvSpPr txBox="1"/>
          <p:nvPr/>
        </p:nvSpPr>
        <p:spPr>
          <a:xfrm>
            <a:off x="813522" y="5898143"/>
            <a:ext cx="830761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Buffer Size: 65,535 bytes (To capture max-sized packets)</a:t>
            </a:r>
          </a:p>
        </p:txBody>
      </p:sp>
    </p:spTree>
    <p:extLst>
      <p:ext uri="{BB962C8B-B14F-4D97-AF65-F5344CB8AC3E}">
        <p14:creationId xmlns:p14="http://schemas.microsoft.com/office/powerpoint/2010/main" val="4277958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EBFAC-85A2-D246-BBBE-B57E0383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6DBC53A-57B7-31F6-D27E-8AF84ADB4700}"/>
              </a:ext>
            </a:extLst>
          </p:cNvPr>
          <p:cNvSpPr/>
          <p:nvPr/>
        </p:nvSpPr>
        <p:spPr>
          <a:xfrm>
            <a:off x="1092200" y="1733004"/>
            <a:ext cx="10089606" cy="4096296"/>
          </a:xfrm>
          <a:prstGeom prst="roundRect">
            <a:avLst>
              <a:gd name="adj" fmla="val 7278"/>
            </a:avLst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8618E-291A-487B-BC69-EA1DFDBBF0B7}"/>
              </a:ext>
            </a:extLst>
          </p:cNvPr>
          <p:cNvSpPr txBox="1"/>
          <p:nvPr/>
        </p:nvSpPr>
        <p:spPr>
          <a:xfrm>
            <a:off x="1310052" y="1718670"/>
            <a:ext cx="9590749" cy="50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Why Monitor Traffic?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6512DB8-9A05-136B-83DE-93E2787C1119}"/>
              </a:ext>
            </a:extLst>
          </p:cNvPr>
          <p:cNvGrpSpPr/>
          <p:nvPr/>
        </p:nvGrpSpPr>
        <p:grpSpPr>
          <a:xfrm>
            <a:off x="164064" y="1281793"/>
            <a:ext cx="2342372" cy="416378"/>
            <a:chOff x="164064" y="1281793"/>
            <a:chExt cx="2342372" cy="41637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E791EB4-C6DF-2C7D-2666-A4F1B7EB8420}"/>
                </a:ext>
              </a:extLst>
            </p:cNvPr>
            <p:cNvSpPr/>
            <p:nvPr/>
          </p:nvSpPr>
          <p:spPr>
            <a:xfrm>
              <a:off x="849086" y="1281793"/>
              <a:ext cx="1657350" cy="4163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b="1" dirty="0">
                  <a:solidFill>
                    <a:schemeClr val="tx1"/>
                  </a:solidFill>
                  <a:latin typeface="말싸미815" panose="02020600000000000000" pitchFamily="18" charset="-127"/>
                  <a:ea typeface="말싸미815" panose="02020600000000000000" pitchFamily="18" charset="-127"/>
                </a:rPr>
                <a:t>Summary</a:t>
              </a:r>
              <a:endParaRPr lang="ko-KR" altLang="en-US" sz="2000" b="1" dirty="0">
                <a:solidFill>
                  <a:schemeClr val="tx1"/>
                </a:solidFill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066C75E-EA6E-5C01-74F5-3AE26A10C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431125"/>
              <a:ext cx="589560" cy="144254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36268DD-9780-431D-3B3D-D928B0CBC856}"/>
              </a:ext>
            </a:extLst>
          </p:cNvPr>
          <p:cNvSpPr txBox="1"/>
          <p:nvPr/>
        </p:nvSpPr>
        <p:spPr>
          <a:xfrm>
            <a:off x="1487892" y="2218028"/>
            <a:ext cx="9244878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We monitor the flow of data packets on a network to enhance security, improve performance, and troubleshoot issues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7ED21E-55A7-4587-7D92-64FF33BD29DA}"/>
              </a:ext>
            </a:extLst>
          </p:cNvPr>
          <p:cNvSpPr txBox="1"/>
          <p:nvPr/>
        </p:nvSpPr>
        <p:spPr>
          <a:xfrm>
            <a:off x="1310052" y="3057646"/>
            <a:ext cx="9590749" cy="50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Our Approach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23B9CA-02D3-9D35-66E6-2D4CB0D488A1}"/>
              </a:ext>
            </a:extLst>
          </p:cNvPr>
          <p:cNvSpPr txBox="1"/>
          <p:nvPr/>
        </p:nvSpPr>
        <p:spPr>
          <a:xfrm>
            <a:off x="1487892" y="3557004"/>
            <a:ext cx="9244878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Since commercial routers are closed systems, we use a Mini-PC as a transparent router to intercept and analyze all traffic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2F6CBF-EAE9-1290-F451-2BF8AAC8825E}"/>
              </a:ext>
            </a:extLst>
          </p:cNvPr>
          <p:cNvSpPr txBox="1"/>
          <p:nvPr/>
        </p:nvSpPr>
        <p:spPr>
          <a:xfrm>
            <a:off x="1310052" y="4395285"/>
            <a:ext cx="9590749" cy="50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2"/>
              </a:buBlip>
            </a:pPr>
            <a:r>
              <a:rPr lang="en-US" altLang="ko-KR" sz="2000" dirty="0">
                <a:latin typeface="ONE 모바일고딕 Regular" panose="00000500000000000000" pitchFamily="2" charset="-127"/>
                <a:ea typeface="ONE 모바일고딕 Regular" panose="00000500000000000000" pitchFamily="2" charset="-127"/>
              </a:rPr>
              <a:t>Method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0449A4-CD44-8633-8FCE-2D37E11B5327}"/>
              </a:ext>
            </a:extLst>
          </p:cNvPr>
          <p:cNvSpPr txBox="1"/>
          <p:nvPr/>
        </p:nvSpPr>
        <p:spPr>
          <a:xfrm>
            <a:off x="1487892" y="4894643"/>
            <a:ext cx="9244878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setup allows us to duplicate (Mirroring) and capture (Sniffing) packets for detailed analysis</a:t>
            </a:r>
          </a:p>
        </p:txBody>
      </p:sp>
    </p:spTree>
    <p:extLst>
      <p:ext uri="{BB962C8B-B14F-4D97-AF65-F5344CB8AC3E}">
        <p14:creationId xmlns:p14="http://schemas.microsoft.com/office/powerpoint/2010/main" val="805095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C0C6-999A-2739-3F62-8F390522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96546-F44D-EBD5-283F-925BA6F7CBE0}"/>
              </a:ext>
            </a:extLst>
          </p:cNvPr>
          <p:cNvSpPr txBox="1"/>
          <p:nvPr/>
        </p:nvSpPr>
        <p:spPr>
          <a:xfrm>
            <a:off x="3226880" y="2844321"/>
            <a:ext cx="5738241" cy="11693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Preliminaries</a:t>
            </a:r>
          </a:p>
          <a:p>
            <a:pPr algn="ctr">
              <a:lnSpc>
                <a:spcPts val="4500"/>
              </a:lnSpc>
            </a:pPr>
            <a:r>
              <a:rPr lang="en-US" altLang="ko-KR" sz="24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</a:t>
            </a:r>
            <a:r>
              <a:rPr lang="en-US" altLang="ko-KR" sz="2400" dirty="0" err="1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Scapy</a:t>
            </a:r>
            <a:r>
              <a:rPr lang="en-US" altLang="ko-KR" sz="24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55277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265044" cy="523220"/>
            <a:chOff x="164064" y="1119724"/>
            <a:chExt cx="5265044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6596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Why </a:t>
              </a:r>
              <a:r>
                <a:rPr lang="en-US" altLang="ko-KR" sz="2800" b="1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Scapy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for the Project?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What is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i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is a powerful Python library for packet manipulation. It can forge, send, sniff, and dissect packets.</a:t>
            </a:r>
            <a:endParaRPr lang="en-US" altLang="ko-KR" sz="2000" i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107198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Not Other Tools (like Wireshark or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tcpdump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)?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4FE009-73CD-470E-9414-A1F498E01B29}"/>
              </a:ext>
            </a:extLst>
          </p:cNvPr>
          <p:cNvSpPr txBox="1"/>
          <p:nvPr/>
        </p:nvSpPr>
        <p:spPr>
          <a:xfrm>
            <a:off x="819555" y="3599249"/>
            <a:ext cx="10206408" cy="124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Seamless Python Integration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Real-time, Programmatic Control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High-Level Syntax for Low-Level Data</a:t>
            </a:r>
          </a:p>
        </p:txBody>
      </p:sp>
      <p:pic>
        <p:nvPicPr>
          <p:cNvPr id="1026" name="Picture 2" descr="Scapy - Wikipedia">
            <a:extLst>
              <a:ext uri="{FF2B5EF4-FFF2-40B4-BE49-F238E27FC236}">
                <a16:creationId xmlns:a16="http://schemas.microsoft.com/office/drawing/2014/main" id="{7484AC7D-AB26-406A-8E24-878E3FCCE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986" y="971521"/>
            <a:ext cx="1114028" cy="121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1611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7195765" cy="523220"/>
            <a:chOff x="164064" y="1119724"/>
            <a:chExt cx="719576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5903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Capture with </a:t>
              </a:r>
              <a:r>
                <a:rPr lang="en-US" altLang="ko-KR" sz="2800" dirty="0"/>
                <a:t>sniff()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sniff()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848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capture is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intiated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with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Scapy’s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sniff()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function. We’ve wrapped this in our own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PacketCapture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class for control.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669A50-6C26-44DA-B8C5-59364028D2DB}"/>
              </a:ext>
            </a:extLst>
          </p:cNvPr>
          <p:cNvSpPr txBox="1"/>
          <p:nvPr/>
        </p:nvSpPr>
        <p:spPr>
          <a:xfrm>
            <a:off x="668703" y="3107198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Here is a sample code that starts the capture: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C6AC3A8-83C6-40D5-B4CA-106A59C4B2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405" y="3754518"/>
            <a:ext cx="5814829" cy="263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0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619389" cy="523220"/>
            <a:chOff x="164064" y="1119724"/>
            <a:chExt cx="661938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0139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 Packets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process_packet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Callback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10E63-8777-151E-6324-F3BD977E9011}"/>
              </a:ext>
            </a:extLst>
          </p:cNvPr>
          <p:cNvSpPr txBox="1"/>
          <p:nvPr/>
        </p:nvSpPr>
        <p:spPr>
          <a:xfrm>
            <a:off x="819554" y="2207751"/>
            <a:ext cx="10753985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the function that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calls for every packet. It’s where our main logic lives.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D2907-756F-4A2B-B9D8-FCAE7174DE54}"/>
              </a:ext>
            </a:extLst>
          </p:cNvPr>
          <p:cNvSpPr txBox="1"/>
          <p:nvPr/>
        </p:nvSpPr>
        <p:spPr>
          <a:xfrm>
            <a:off x="668703" y="2791887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It follows these 4 steps: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E01284-DCC5-43A2-9D7B-01A98410D15B}"/>
              </a:ext>
            </a:extLst>
          </p:cNvPr>
          <p:cNvSpPr txBox="1"/>
          <p:nvPr/>
        </p:nvSpPr>
        <p:spPr>
          <a:xfrm>
            <a:off x="819555" y="3394292"/>
            <a:ext cx="10206408" cy="164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Filter (Check for IP)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Parse (Extract Data with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)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Format (Prepare for DB)</a:t>
            </a:r>
          </a:p>
          <a:p>
            <a:pPr marL="457200" indent="-457200">
              <a:lnSpc>
                <a:spcPct val="130000"/>
              </a:lnSpc>
              <a:buClr>
                <a:srgbClr val="0076A3"/>
              </a:buClr>
              <a:buFont typeface="+mj-lt"/>
              <a:buAutoNum type="arabicPeriod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Save (Send to MongoDB)</a:t>
            </a:r>
          </a:p>
        </p:txBody>
      </p:sp>
    </p:spTree>
    <p:extLst>
      <p:ext uri="{BB962C8B-B14F-4D97-AF65-F5344CB8AC3E}">
        <p14:creationId xmlns:p14="http://schemas.microsoft.com/office/powerpoint/2010/main" val="1279630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619389" cy="523220"/>
            <a:chOff x="164064" y="1119724"/>
            <a:chExt cx="661938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0139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 Packets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67EBD3-6B5D-0B04-3152-653837BD277B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1st Step: Filter (Check for IP)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5023EA-1879-4B4D-9B3F-1E3FB459F6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901" y="2431915"/>
            <a:ext cx="7690547" cy="19705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5EBA4C-838D-4C7D-AF7E-DAB5E810F83D}"/>
              </a:ext>
            </a:extLst>
          </p:cNvPr>
          <p:cNvSpPr txBox="1"/>
          <p:nvPr/>
        </p:nvSpPr>
        <p:spPr>
          <a:xfrm>
            <a:off x="668702" y="4628576"/>
            <a:ext cx="9657711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This filtering reduces unnecessary processing.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21A6A-7039-46E0-B08D-045487A3E470}"/>
              </a:ext>
            </a:extLst>
          </p:cNvPr>
          <p:cNvSpPr txBox="1"/>
          <p:nvPr/>
        </p:nvSpPr>
        <p:spPr>
          <a:xfrm>
            <a:off x="819555" y="5120627"/>
            <a:ext cx="10206408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FontTx/>
              <a:buChar char="-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database only stores relevant network information.</a:t>
            </a:r>
          </a:p>
        </p:txBody>
      </p:sp>
    </p:spTree>
    <p:extLst>
      <p:ext uri="{BB962C8B-B14F-4D97-AF65-F5344CB8AC3E}">
        <p14:creationId xmlns:p14="http://schemas.microsoft.com/office/powerpoint/2010/main" val="877976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6619389" cy="523220"/>
            <a:chOff x="164064" y="1119724"/>
            <a:chExt cx="661938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60139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 Packets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45E99161-246E-4BF3-90AB-736E86BAD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01" y="2431915"/>
            <a:ext cx="7763958" cy="33723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7DD922D-7A40-486B-B345-B32AAA9B83C9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2nd Step: Parse (Extract Data with </a:t>
            </a:r>
            <a:r>
              <a:rPr lang="en-US" altLang="ko-KR" sz="2200" b="1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)</a:t>
            </a: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8026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EDF3-F372-3458-10A8-696C601CD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8550829-3395-13AE-28BE-BE3621C31F3F}"/>
              </a:ext>
            </a:extLst>
          </p:cNvPr>
          <p:cNvGrpSpPr/>
          <p:nvPr/>
        </p:nvGrpSpPr>
        <p:grpSpPr>
          <a:xfrm>
            <a:off x="164064" y="1119724"/>
            <a:ext cx="5299412" cy="523220"/>
            <a:chOff x="164064" y="1119724"/>
            <a:chExt cx="529941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ACAE52F-E8E5-593A-1A1C-EFE6217484A3}"/>
                </a:ext>
              </a:extLst>
            </p:cNvPr>
            <p:cNvSpPr txBox="1"/>
            <p:nvPr/>
          </p:nvSpPr>
          <p:spPr>
            <a:xfrm>
              <a:off x="769499" y="1119724"/>
              <a:ext cx="469397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The Code: How We Process</a:t>
              </a:r>
              <a:endParaRPr lang="ko-KR" altLang="en-US" sz="2800" dirty="0">
                <a:latin typeface="말싸미815" panose="02020600000000000000" pitchFamily="18" charset="-127"/>
                <a:ea typeface="말싸미815" panose="02020600000000000000" pitchFamily="18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82B2856-E01A-8BE3-8796-26B1B1A186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2720970-D1D2-4477-AEFA-E1B9D4171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901" y="2431915"/>
            <a:ext cx="7935432" cy="27435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5884E0-2ACA-4912-96B0-038E4A1F0915}"/>
              </a:ext>
            </a:extLst>
          </p:cNvPr>
          <p:cNvSpPr txBox="1"/>
          <p:nvPr/>
        </p:nvSpPr>
        <p:spPr>
          <a:xfrm>
            <a:off x="668703" y="5261310"/>
            <a:ext cx="716092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4th Step: </a:t>
            </a:r>
            <a:r>
              <a:rPr lang="en-US" altLang="ko-KR" sz="24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Save (Send to MongoDB)</a:t>
            </a: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0BEF7C9-7BFC-4FE3-8EAC-2A78A72166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901" y="5922088"/>
            <a:ext cx="7840169" cy="7716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3A7A01-3752-4492-8EFD-19CA7D1132D1}"/>
              </a:ext>
            </a:extLst>
          </p:cNvPr>
          <p:cNvSpPr txBox="1"/>
          <p:nvPr/>
        </p:nvSpPr>
        <p:spPr>
          <a:xfrm>
            <a:off x="668703" y="1715700"/>
            <a:ext cx="716092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3rd Step: Format (Prepare for DB)</a:t>
            </a:r>
            <a:endParaRPr lang="en-US" altLang="ko-KR" sz="2200" dirty="0">
              <a:latin typeface="SF싸락눈" panose="02000503000000000000" pitchFamily="2" charset="-127"/>
              <a:ea typeface="SF싸락눈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762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2C0C6-999A-2739-3F62-8F390522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396546-F44D-EBD5-283F-925BA6F7CBE0}"/>
              </a:ext>
            </a:extLst>
          </p:cNvPr>
          <p:cNvSpPr txBox="1"/>
          <p:nvPr/>
        </p:nvSpPr>
        <p:spPr>
          <a:xfrm>
            <a:off x="3226880" y="2851887"/>
            <a:ext cx="5738241" cy="11542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Preliminaries</a:t>
            </a:r>
          </a:p>
          <a:p>
            <a:pPr algn="ctr">
              <a:lnSpc>
                <a:spcPts val="4500"/>
              </a:lnSpc>
            </a:pPr>
            <a:r>
              <a:rPr lang="en-US" altLang="ko-KR" sz="24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MongoDB -</a:t>
            </a:r>
          </a:p>
        </p:txBody>
      </p:sp>
    </p:spTree>
    <p:extLst>
      <p:ext uri="{BB962C8B-B14F-4D97-AF65-F5344CB8AC3E}">
        <p14:creationId xmlns:p14="http://schemas.microsoft.com/office/powerpoint/2010/main" val="4056301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505EA-B2FB-A1A9-1333-1D5E1352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980EDC8-66A0-C4E3-289B-A98FC9DED84E}"/>
              </a:ext>
            </a:extLst>
          </p:cNvPr>
          <p:cNvGrpSpPr/>
          <p:nvPr/>
        </p:nvGrpSpPr>
        <p:grpSpPr>
          <a:xfrm>
            <a:off x="164064" y="1119724"/>
            <a:ext cx="4356398" cy="523220"/>
            <a:chOff x="164064" y="1119724"/>
            <a:chExt cx="435639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3A351EA-9661-55D1-C58B-C0147F9C2B34}"/>
                </a:ext>
              </a:extLst>
            </p:cNvPr>
            <p:cNvSpPr txBox="1"/>
            <p:nvPr/>
          </p:nvSpPr>
          <p:spPr>
            <a:xfrm>
              <a:off x="769499" y="1119724"/>
              <a:ext cx="37509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What is MongoDB?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E754937-C0F8-A9F6-A15A-95F5B4950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750" name="그룹 749">
            <a:extLst>
              <a:ext uri="{FF2B5EF4-FFF2-40B4-BE49-F238E27FC236}">
                <a16:creationId xmlns:a16="http://schemas.microsoft.com/office/drawing/2014/main" id="{F4BB415C-A309-F9D3-76ED-D7DEF5C36931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751" name="그룹 750">
              <a:extLst>
                <a:ext uri="{FF2B5EF4-FFF2-40B4-BE49-F238E27FC236}">
                  <a16:creationId xmlns:a16="http://schemas.microsoft.com/office/drawing/2014/main" id="{6F207556-28A2-6C8F-4349-73015BFBBB40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754" name="직사각형 753">
                <a:extLst>
                  <a:ext uri="{FF2B5EF4-FFF2-40B4-BE49-F238E27FC236}">
                    <a16:creationId xmlns:a16="http://schemas.microsoft.com/office/drawing/2014/main" id="{990F8838-3740-D8ED-17E9-91B89751D345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755" name="직사각형 754">
                <a:extLst>
                  <a:ext uri="{FF2B5EF4-FFF2-40B4-BE49-F238E27FC236}">
                    <a16:creationId xmlns:a16="http://schemas.microsoft.com/office/drawing/2014/main" id="{88C5B4A5-18A0-F91C-FC95-3925681EC0C0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752" name="TextBox 751">
              <a:extLst>
                <a:ext uri="{FF2B5EF4-FFF2-40B4-BE49-F238E27FC236}">
                  <a16:creationId xmlns:a16="http://schemas.microsoft.com/office/drawing/2014/main" id="{C450EB7E-DC7F-8737-8247-59317203C468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753" name="TextBox 752">
              <a:extLst>
                <a:ext uri="{FF2B5EF4-FFF2-40B4-BE49-F238E27FC236}">
                  <a16:creationId xmlns:a16="http://schemas.microsoft.com/office/drawing/2014/main" id="{AE5A7D2F-8E82-97A8-70DE-BD7C8BD04DAE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http://www.itdaily.kr/news/articleView.html?idxno=223081</a:t>
              </a:r>
            </a:p>
          </p:txBody>
        </p:sp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72172929-3B96-DF0C-05F6-EC9D9C8042BB}"/>
              </a:ext>
            </a:extLst>
          </p:cNvPr>
          <p:cNvSpPr txBox="1"/>
          <p:nvPr/>
        </p:nvSpPr>
        <p:spPr>
          <a:xfrm>
            <a:off x="668702" y="1572160"/>
            <a:ext cx="9590749" cy="25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MongoDB is a modern type of database known as a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NoSQL database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traditional databases that use tables with rows and columns (like an Excel spreadsheet), MongoDB stores in a more flexible format.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In uses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JSON-like documents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which allows it to store complex data structures easily and naturally.</a:t>
            </a:r>
          </a:p>
        </p:txBody>
      </p:sp>
      <p:pic>
        <p:nvPicPr>
          <p:cNvPr id="2" name="Picture 2" descr="MongoDB - 나무위키">
            <a:extLst>
              <a:ext uri="{FF2B5EF4-FFF2-40B4-BE49-F238E27FC236}">
                <a16:creationId xmlns:a16="http://schemas.microsoft.com/office/drawing/2014/main" id="{737AC150-149E-9CDA-65BD-35D7F9123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259" y="918338"/>
            <a:ext cx="3080761" cy="778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305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F625-0119-E0D8-7913-3AA48193C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2AE49D6-7A2C-80BA-0859-13AD9E0C7E7A}"/>
              </a:ext>
            </a:extLst>
          </p:cNvPr>
          <p:cNvGrpSpPr/>
          <p:nvPr/>
        </p:nvGrpSpPr>
        <p:grpSpPr>
          <a:xfrm>
            <a:off x="164064" y="1119724"/>
            <a:ext cx="8781648" cy="523220"/>
            <a:chOff x="164064" y="1119724"/>
            <a:chExt cx="878164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67FB9E-52EB-F52F-7524-6D19DD4BBD2A}"/>
                </a:ext>
              </a:extLst>
            </p:cNvPr>
            <p:cNvSpPr txBox="1"/>
            <p:nvPr/>
          </p:nvSpPr>
          <p:spPr>
            <a:xfrm>
              <a:off x="769499" y="1119724"/>
              <a:ext cx="81762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Core Concepts: Documents &amp; Collections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DC12DA5-3ED5-DA2B-CD60-3D5A25EC7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F0FF3D16-18E0-9C66-EF4F-D2887DCB94A3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Documents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8D13D1D-B033-4184-BD75-8905E6DAFB55}"/>
              </a:ext>
            </a:extLst>
          </p:cNvPr>
          <p:cNvSpPr txBox="1"/>
          <p:nvPr/>
        </p:nvSpPr>
        <p:spPr>
          <a:xfrm>
            <a:off x="813522" y="2115158"/>
            <a:ext cx="10022118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basic unit of data in MongoDB.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document is a set of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field-and-value pairs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very similar to a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JSON object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Example: { “</a:t>
            </a:r>
            <a:r>
              <a:rPr lang="en-US" altLang="ko-KR" sz="2000" i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source_ip</a:t>
            </a:r>
            <a:r>
              <a:rPr lang="en-US" altLang="ko-KR" sz="2000" i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”: “192.168.1.10”, “protocol”: “TCP”, “size”: 64 }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2B96B502-58C6-5C35-5E83-63A6BF34CC45}"/>
              </a:ext>
            </a:extLst>
          </p:cNvPr>
          <p:cNvSpPr txBox="1"/>
          <p:nvPr/>
        </p:nvSpPr>
        <p:spPr>
          <a:xfrm>
            <a:off x="668702" y="342781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Collections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3B7EFAFC-AE66-A63E-569D-113E41F77977}"/>
              </a:ext>
            </a:extLst>
          </p:cNvPr>
          <p:cNvSpPr txBox="1"/>
          <p:nvPr/>
        </p:nvSpPr>
        <p:spPr>
          <a:xfrm>
            <a:off x="813522" y="3982238"/>
            <a:ext cx="8867688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group of documents.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similar to a table in a traditional database.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However, a single collection can hold documents with different structures.</a:t>
            </a:r>
          </a:p>
        </p:txBody>
      </p:sp>
    </p:spTree>
    <p:extLst>
      <p:ext uri="{BB962C8B-B14F-4D97-AF65-F5344CB8AC3E}">
        <p14:creationId xmlns:p14="http://schemas.microsoft.com/office/powerpoint/2010/main" val="394951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44C7-82BB-E5D7-B6D0-F26993ED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D39CE89-B134-B9D4-2511-F63050B5AD41}"/>
              </a:ext>
            </a:extLst>
          </p:cNvPr>
          <p:cNvGrpSpPr/>
          <p:nvPr/>
        </p:nvGrpSpPr>
        <p:grpSpPr>
          <a:xfrm>
            <a:off x="164064" y="1119724"/>
            <a:ext cx="8176354" cy="523220"/>
            <a:chOff x="164064" y="1119724"/>
            <a:chExt cx="8176354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FD1954-685A-ED9E-93E0-0EA5CB245881}"/>
                </a:ext>
              </a:extLst>
            </p:cNvPr>
            <p:cNvSpPr txBox="1"/>
            <p:nvPr/>
          </p:nvSpPr>
          <p:spPr>
            <a:xfrm>
              <a:off x="769499" y="1119724"/>
              <a:ext cx="75709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Key Advantage: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Schemaless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Flexibility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ED21BC0-BE2D-3692-DCA8-E3F5448F2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26" name="TextBox 1025">
            <a:extLst>
              <a:ext uri="{FF2B5EF4-FFF2-40B4-BE49-F238E27FC236}">
                <a16:creationId xmlns:a16="http://schemas.microsoft.com/office/drawing/2014/main" id="{3EDD5560-DE84-38C2-878D-AB6226193B7B}"/>
              </a:ext>
            </a:extLst>
          </p:cNvPr>
          <p:cNvSpPr txBox="1"/>
          <p:nvPr/>
        </p:nvSpPr>
        <p:spPr>
          <a:xfrm>
            <a:off x="813522" y="3765068"/>
            <a:ext cx="9702078" cy="1654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Network packets are not all the same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 A TCP packet has different information than a UDP packet.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 allows us to store all these different types of packets in the same packet collection without any issues.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B8AF6C-5585-2B17-D1EA-24359ECE07F3}"/>
              </a:ext>
            </a:extLst>
          </p:cNvPr>
          <p:cNvSpPr txBox="1"/>
          <p:nvPr/>
        </p:nvSpPr>
        <p:spPr>
          <a:xfrm>
            <a:off x="382905" y="1642944"/>
            <a:ext cx="11195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buBlip>
                <a:blip r:embed="rId4"/>
              </a:buBlip>
            </a:pPr>
            <a:r>
              <a:rPr lang="en-US" altLang="ko-KR" sz="2400" dirty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The most significant advantage for our project is that MongoDB is </a:t>
            </a:r>
            <a:r>
              <a:rPr lang="en-US" altLang="ko-KR" sz="2400" dirty="0" err="1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schemaless</a:t>
            </a:r>
            <a:r>
              <a:rPr lang="en-US" altLang="ko-KR" sz="2400" dirty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.</a:t>
            </a:r>
          </a:p>
          <a:p>
            <a:pPr marL="444500" indent="-444500">
              <a:buBlip>
                <a:blip r:embed="rId4"/>
              </a:buBlip>
            </a:pPr>
            <a:r>
              <a:rPr lang="en-US" altLang="ko-KR" sz="2400" dirty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This means that documents within the same collection do not need to have the same fields or structure.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7A778-24B8-D4C2-1949-267EC4DF5C08}"/>
              </a:ext>
            </a:extLst>
          </p:cNvPr>
          <p:cNvSpPr txBox="1"/>
          <p:nvPr/>
        </p:nvSpPr>
        <p:spPr>
          <a:xfrm>
            <a:off x="668702" y="3218080"/>
            <a:ext cx="10709776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5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Why is this important for us?</a:t>
            </a:r>
          </a:p>
        </p:txBody>
      </p:sp>
    </p:spTree>
    <p:extLst>
      <p:ext uri="{BB962C8B-B14F-4D97-AF65-F5344CB8AC3E}">
        <p14:creationId xmlns:p14="http://schemas.microsoft.com/office/powerpoint/2010/main" val="2405681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9504-A31C-038C-3AB5-6310662A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25B43D5-1374-DB64-448C-BA72A1BF1D54}"/>
              </a:ext>
            </a:extLst>
          </p:cNvPr>
          <p:cNvGrpSpPr/>
          <p:nvPr/>
        </p:nvGrpSpPr>
        <p:grpSpPr>
          <a:xfrm>
            <a:off x="164064" y="1119724"/>
            <a:ext cx="6779882" cy="523220"/>
            <a:chOff x="164064" y="1119724"/>
            <a:chExt cx="677988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00B424-C758-4783-C6B5-63DEFF14612A}"/>
                </a:ext>
              </a:extLst>
            </p:cNvPr>
            <p:cNvSpPr txBox="1"/>
            <p:nvPr/>
          </p:nvSpPr>
          <p:spPr>
            <a:xfrm>
              <a:off x="769499" y="1119724"/>
              <a:ext cx="617444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Why MongoDB for Our Project?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B88D0CB-075C-5C29-3E82-05F64A3B6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D34E806-0A12-7552-1638-D8B8EA024CB4}"/>
              </a:ext>
            </a:extLst>
          </p:cNvPr>
          <p:cNvSpPr txBox="1"/>
          <p:nvPr/>
        </p:nvSpPr>
        <p:spPr>
          <a:xfrm>
            <a:off x="668702" y="210937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High Performance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9B27A66E-B245-DAA8-245E-5FAC4B271D33}"/>
              </a:ext>
            </a:extLst>
          </p:cNvPr>
          <p:cNvSpPr txBox="1"/>
          <p:nvPr/>
        </p:nvSpPr>
        <p:spPr>
          <a:xfrm>
            <a:off x="813522" y="2652368"/>
            <a:ext cx="1060504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system needs to capture and save thousands of packets per second. MongoDB is designed to handle this high volume of write operations very quickly and efficiently.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F7BBCE5-0D8F-3633-73EA-2E70EB1D7002}"/>
              </a:ext>
            </a:extLst>
          </p:cNvPr>
          <p:cNvSpPr txBox="1"/>
          <p:nvPr/>
        </p:nvSpPr>
        <p:spPr>
          <a:xfrm>
            <a:off x="668702" y="355354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Scalability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E6D0CBBC-FFD8-0D9D-B701-854F85DFD17A}"/>
              </a:ext>
            </a:extLst>
          </p:cNvPr>
          <p:cNvSpPr txBox="1"/>
          <p:nvPr/>
        </p:nvSpPr>
        <p:spPr>
          <a:xfrm>
            <a:off x="813522" y="4107968"/>
            <a:ext cx="10513608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As we capture more and more network traffic, our database will grow very large.</a:t>
            </a:r>
            <a:b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</a:b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 an easily scale across multiple servers to handle massive amounts of data without slowing down.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E56FB0-20E1-5A05-DA2C-0851FDDD4E48}"/>
              </a:ext>
            </a:extLst>
          </p:cNvPr>
          <p:cNvSpPr txBox="1"/>
          <p:nvPr/>
        </p:nvSpPr>
        <p:spPr>
          <a:xfrm>
            <a:off x="382905" y="1642944"/>
            <a:ext cx="11440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4500" indent="-444500">
              <a:buBlip>
                <a:blip r:embed="rId5"/>
              </a:buBlip>
            </a:pPr>
            <a:r>
              <a:rPr lang="en-US" altLang="ko-KR" sz="2400" dirty="0">
                <a:latin typeface="Pretendard SemiBold" panose="02000703000000020004" pitchFamily="2" charset="-127"/>
                <a:ea typeface="Pretendard SemiBold" panose="02000703000000020004" pitchFamily="2" charset="-127"/>
              </a:rPr>
              <a:t>We chose MongoDB for our traffic monitoring system for two main reasons:</a:t>
            </a:r>
          </a:p>
        </p:txBody>
      </p:sp>
    </p:spTree>
    <p:extLst>
      <p:ext uri="{BB962C8B-B14F-4D97-AF65-F5344CB8AC3E}">
        <p14:creationId xmlns:p14="http://schemas.microsoft.com/office/powerpoint/2010/main" val="1769892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CB37-AE7C-2552-825E-4B255D452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D2A15C-300C-29D6-2891-9BA0FE4D36FF}"/>
              </a:ext>
            </a:extLst>
          </p:cNvPr>
          <p:cNvSpPr txBox="1"/>
          <p:nvPr/>
        </p:nvSpPr>
        <p:spPr>
          <a:xfrm>
            <a:off x="3226880" y="3133919"/>
            <a:ext cx="5738241" cy="5901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Lab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A0B33C-8ACB-4954-8FA2-A2E3F3C11DD8}"/>
              </a:ext>
            </a:extLst>
          </p:cNvPr>
          <p:cNvSpPr txBox="1"/>
          <p:nvPr/>
        </p:nvSpPr>
        <p:spPr>
          <a:xfrm>
            <a:off x="4791986" y="3972583"/>
            <a:ext cx="2608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 err="1">
                <a:hlinkClick r:id="rId3"/>
              </a:rPr>
              <a:t>github</a:t>
            </a:r>
            <a:r>
              <a:rPr lang="en-US" altLang="ko-KR" sz="3200" b="1" dirty="0">
                <a:hlinkClick r:id="rId3"/>
              </a:rPr>
              <a:t> page</a:t>
            </a:r>
            <a:endParaRPr lang="ko-KR" altLang="en-US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E2974-E5A0-411D-B41C-F0E2343A293B}"/>
              </a:ext>
            </a:extLst>
          </p:cNvPr>
          <p:cNvSpPr txBox="1"/>
          <p:nvPr/>
        </p:nvSpPr>
        <p:spPr>
          <a:xfrm>
            <a:off x="2863713" y="4644822"/>
            <a:ext cx="6917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https://github.com/network-2025/Lab2-Wi-Fi_Traffic_Monitoring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9040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08E79-64D4-7DCF-7FEF-08FD37A50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8D6D23A-9DAD-293C-1CAE-676B44B01E87}"/>
              </a:ext>
            </a:extLst>
          </p:cNvPr>
          <p:cNvGrpSpPr/>
          <p:nvPr/>
        </p:nvGrpSpPr>
        <p:grpSpPr>
          <a:xfrm>
            <a:off x="164064" y="1119724"/>
            <a:ext cx="3441148" cy="523220"/>
            <a:chOff x="164064" y="1119724"/>
            <a:chExt cx="344114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30C13F-9CBB-0CBA-47B7-E3C12279365D}"/>
                </a:ext>
              </a:extLst>
            </p:cNvPr>
            <p:cNvSpPr txBox="1"/>
            <p:nvPr/>
          </p:nvSpPr>
          <p:spPr>
            <a:xfrm>
              <a:off x="769499" y="1119724"/>
              <a:ext cx="283571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Prerequisites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AF7873E-EFA2-0F7B-DFFE-764A16FAF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3DAA96FB-B385-0036-CBBF-18453788F5C1}"/>
              </a:ext>
            </a:extLst>
          </p:cNvPr>
          <p:cNvSpPr txBox="1"/>
          <p:nvPr/>
        </p:nvSpPr>
        <p:spPr>
          <a:xfrm>
            <a:off x="668702" y="1572160"/>
            <a:ext cx="10315528" cy="10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This lab is designed to run in a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Linux-based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 environment (e.g., Ubuntu, etc.)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Install: python3-pip, nginx, </a:t>
            </a:r>
            <a:r>
              <a:rPr lang="en-US" altLang="ko-KR" sz="2200" dirty="0" err="1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hostapd</a:t>
            </a: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</a:t>
            </a:r>
            <a:r>
              <a:rPr lang="en-US" altLang="ko-KR" sz="2200" dirty="0" err="1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dnsmasq</a:t>
            </a: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, iptables-persistent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E326C12D-7C4F-280B-9496-F40C4775916E}"/>
              </a:ext>
            </a:extLst>
          </p:cNvPr>
          <p:cNvSpPr txBox="1"/>
          <p:nvPr/>
        </p:nvSpPr>
        <p:spPr>
          <a:xfrm>
            <a:off x="813522" y="2629508"/>
            <a:ext cx="10399308" cy="1654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The core programming language for our capture scripts.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pip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The package installer for managing Python libraries (e.g.,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Scapy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Pymongo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).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A NoSQL database used to store and query captured packet data.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Nginx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: A lightweight web server for hosting the analysis dashboard.</a:t>
            </a:r>
          </a:p>
        </p:txBody>
      </p:sp>
    </p:spTree>
    <p:extLst>
      <p:ext uri="{BB962C8B-B14F-4D97-AF65-F5344CB8AC3E}">
        <p14:creationId xmlns:p14="http://schemas.microsoft.com/office/powerpoint/2010/main" val="23818355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D22D-4903-B60F-D38B-3D7C1872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FA5339E-5739-DA5F-37C2-0AFB01CEE3EC}"/>
              </a:ext>
            </a:extLst>
          </p:cNvPr>
          <p:cNvGrpSpPr/>
          <p:nvPr/>
        </p:nvGrpSpPr>
        <p:grpSpPr>
          <a:xfrm>
            <a:off x="164064" y="1119724"/>
            <a:ext cx="4185902" cy="523220"/>
            <a:chOff x="164064" y="1119724"/>
            <a:chExt cx="418590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C30981-36FB-CB2C-DC53-8CFA3D0E3EB8}"/>
                </a:ext>
              </a:extLst>
            </p:cNvPr>
            <p:cNvSpPr txBox="1"/>
            <p:nvPr/>
          </p:nvSpPr>
          <p:spPr>
            <a:xfrm>
              <a:off x="769499" y="1119724"/>
              <a:ext cx="358046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0: </a:t>
              </a:r>
              <a:r>
                <a:rPr lang="en-US" altLang="ko-KR" sz="2800" dirty="0" err="1">
                  <a:latin typeface="말싸미815" panose="02020600000000000000" pitchFamily="18" charset="-127"/>
                  <a:ea typeface="말싸미815" panose="02020600000000000000" pitchFamily="18" charset="-127"/>
                </a:rPr>
                <a:t>Github</a:t>
              </a:r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 Clone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64DAE73-E06B-DB2D-CEC7-68B2DED4C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399D20A-1789-44AE-BBD9-014F189B969F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Clone </a:t>
            </a:r>
            <a:r>
              <a:rPr lang="en-US" altLang="ko-KR" sz="2200" dirty="0" err="1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Github</a:t>
            </a: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 Repository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8881C115-B912-0F02-17ED-26D6AFE216F5}"/>
              </a:ext>
            </a:extLst>
          </p:cNvPr>
          <p:cNvSpPr txBox="1"/>
          <p:nvPr/>
        </p:nvSpPr>
        <p:spPr>
          <a:xfrm>
            <a:off x="813522" y="2115158"/>
            <a:ext cx="11085108" cy="448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git clone git@github.com:network-2025/Lab2-Wi-Fi_Traffic_Monitoring.git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0FC509-B7A6-05A6-A157-06528D4902D3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5B052FC-11DA-6A55-8F3E-DA30B8DF5EB6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92B66C2-EA9E-A822-B8E8-2182D55F92EF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91DC9E0-CE84-16FF-37B0-ABBC02B7F47A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8FEA8D-73EA-EE89-6F15-86599DF7B46E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C43D0B-05E5-F1A6-BB6A-9B13DE281749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54F222D-F838-4868-BB47-5EB0DB6B1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057" y="2853100"/>
            <a:ext cx="4046454" cy="334218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677E9C6E-80E1-43E1-929E-40797E77879B}"/>
              </a:ext>
            </a:extLst>
          </p:cNvPr>
          <p:cNvSpPr/>
          <p:nvPr/>
        </p:nvSpPr>
        <p:spPr>
          <a:xfrm>
            <a:off x="4635610" y="4333461"/>
            <a:ext cx="246491" cy="2623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9EAABB-52ED-4DD3-A5E8-697422DC821C}"/>
              </a:ext>
            </a:extLst>
          </p:cNvPr>
          <p:cNvSpPr txBox="1"/>
          <p:nvPr/>
        </p:nvSpPr>
        <p:spPr>
          <a:xfrm>
            <a:off x="4243346" y="1565497"/>
            <a:ext cx="26080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 err="1">
                <a:hlinkClick r:id="rId6"/>
              </a:rPr>
              <a:t>github</a:t>
            </a:r>
            <a:r>
              <a:rPr lang="en-US" altLang="ko-KR" sz="3200" b="1" dirty="0">
                <a:hlinkClick r:id="rId6"/>
              </a:rPr>
              <a:t> page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27786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BD22D-4903-B60F-D38B-3D7C1872C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FA5339E-5739-DA5F-37C2-0AFB01CEE3EC}"/>
              </a:ext>
            </a:extLst>
          </p:cNvPr>
          <p:cNvGrpSpPr/>
          <p:nvPr/>
        </p:nvGrpSpPr>
        <p:grpSpPr>
          <a:xfrm>
            <a:off x="164064" y="1119724"/>
            <a:ext cx="4016562" cy="523220"/>
            <a:chOff x="164064" y="1119724"/>
            <a:chExt cx="401656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C30981-36FB-CB2C-DC53-8CFA3D0E3EB8}"/>
                </a:ext>
              </a:extLst>
            </p:cNvPr>
            <p:cNvSpPr txBox="1"/>
            <p:nvPr/>
          </p:nvSpPr>
          <p:spPr>
            <a:xfrm>
              <a:off x="769499" y="1119724"/>
              <a:ext cx="341112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1: MongoDB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64DAE73-E06B-DB2D-CEC7-68B2DED4C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E399D20A-1789-44AE-BBD9-014F189B969F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Import the MongoDB GPG Key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8881C115-B912-0F02-17ED-26D6AFE216F5}"/>
              </a:ext>
            </a:extLst>
          </p:cNvPr>
          <p:cNvSpPr txBox="1"/>
          <p:nvPr/>
        </p:nvSpPr>
        <p:spPr>
          <a:xfrm>
            <a:off x="813522" y="2115158"/>
            <a:ext cx="1108510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curl 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fsSL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https://pgp.mongodb.com/server-5.0.asc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gpg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-o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/share/keyrings/mongodb-server-5.0.gpg --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dearmor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304D5DD-DEE3-3AE6-BBF1-A0E6BA6D2575}"/>
              </a:ext>
            </a:extLst>
          </p:cNvPr>
          <p:cNvSpPr txBox="1"/>
          <p:nvPr/>
        </p:nvSpPr>
        <p:spPr>
          <a:xfrm>
            <a:off x="668702" y="338209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Add the MongoDB Repository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0B61A1C4-305F-A65B-0461-002F4D29975E}"/>
              </a:ext>
            </a:extLst>
          </p:cNvPr>
          <p:cNvSpPr txBox="1"/>
          <p:nvPr/>
        </p:nvSpPr>
        <p:spPr>
          <a:xfrm>
            <a:off x="813522" y="3936518"/>
            <a:ext cx="10639338" cy="1254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echo "deb [ arch=amd64,arm64 signed-by=/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usr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/share/keyrings/mongodb-server-5.0.gpg ]  https://repo.mongodb.org/apt/ubuntu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jammy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-org/5.0 multiverse" |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tee 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etc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/apt/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sources.list.d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/mongodb-org-5.0.list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70FC509-B7A6-05A6-A157-06528D4902D3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D5B052FC-11DA-6A55-8F3E-DA30B8DF5EB6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292B66C2-EA9E-A822-B8E8-2182D55F92EF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391DC9E0-CE84-16FF-37B0-ABBC02B7F47A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58FEA8D-73EA-EE89-6F15-86599DF7B46E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C43D0B-05E5-F1A6-BB6A-9B13DE281749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06D22522-5273-E732-C336-380E9E3E6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670" y="3027358"/>
            <a:ext cx="11688806" cy="3429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934087-D448-58B2-8E14-3A43C869D3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670" y="5278121"/>
            <a:ext cx="11669754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035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B99D-F596-5C83-DF03-BA09F117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2FC5636-A366-A8F0-92DC-7B2FC733DA4D}"/>
              </a:ext>
            </a:extLst>
          </p:cNvPr>
          <p:cNvGrpSpPr/>
          <p:nvPr/>
        </p:nvGrpSpPr>
        <p:grpSpPr>
          <a:xfrm>
            <a:off x="164064" y="1119724"/>
            <a:ext cx="3506422" cy="523220"/>
            <a:chOff x="164064" y="1119724"/>
            <a:chExt cx="350642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4CF830-0F11-7147-70F4-962F79AE9703}"/>
                </a:ext>
              </a:extLst>
            </p:cNvPr>
            <p:cNvSpPr txBox="1"/>
            <p:nvPr/>
          </p:nvSpPr>
          <p:spPr>
            <a:xfrm>
              <a:off x="769499" y="1119724"/>
              <a:ext cx="29009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Install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D3BB085-3B44-B521-8770-0107E66B9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79EE870C-6FA6-E8F7-E4A0-CC2F77DDD90A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Update Local Package List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C7A141AE-F62C-40B4-9E5E-9D996043E17F}"/>
              </a:ext>
            </a:extLst>
          </p:cNvPr>
          <p:cNvSpPr txBox="1"/>
          <p:nvPr/>
        </p:nvSpPr>
        <p:spPr>
          <a:xfrm>
            <a:off x="813522" y="2115158"/>
            <a:ext cx="745036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update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CA2FC4DA-6870-3610-FBEC-7DE5A4B083D7}"/>
              </a:ext>
            </a:extLst>
          </p:cNvPr>
          <p:cNvSpPr txBox="1"/>
          <p:nvPr/>
        </p:nvSpPr>
        <p:spPr>
          <a:xfrm>
            <a:off x="668702" y="366784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Install All Required Packages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A2CE2C06-89CD-A9C6-8A3C-BB88C9893E16}"/>
              </a:ext>
            </a:extLst>
          </p:cNvPr>
          <p:cNvSpPr txBox="1"/>
          <p:nvPr/>
        </p:nvSpPr>
        <p:spPr>
          <a:xfrm>
            <a:off x="813522" y="4222268"/>
            <a:ext cx="1095937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-y python3-pip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mongodb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-org nginx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hostapd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dnsmasq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iptables-persistent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2FF4EEB-619B-50B8-4948-DBAE2D302EBA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A076462-5EC1-10BE-3C48-C9387BA05E1A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E5F96958-DD43-A4DB-163D-8AB8D668C33C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96C2203-B7DB-B9B0-4630-486AFF9B335F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A62E909-79AC-B429-423C-90994FF8EAA8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0D078F9-5FD1-C218-618D-EB404D05E4D7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E5FD4930-12BF-9EE5-640F-DE1E88814B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17" y="2560739"/>
            <a:ext cx="4881284" cy="10611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AAD6DBA-4579-52FA-92A1-2E86BC9BE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65" y="4764257"/>
            <a:ext cx="11784070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132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F1FA1-E796-4D41-CC09-62A421C6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7841372-8837-2425-016F-ABE3D3D4A1FE}"/>
              </a:ext>
            </a:extLst>
          </p:cNvPr>
          <p:cNvGrpSpPr/>
          <p:nvPr/>
        </p:nvGrpSpPr>
        <p:grpSpPr>
          <a:xfrm>
            <a:off x="164064" y="1119724"/>
            <a:ext cx="4059842" cy="523220"/>
            <a:chOff x="164064" y="1119724"/>
            <a:chExt cx="4059842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279B08-48BD-8225-986E-F1964947A5AF}"/>
                </a:ext>
              </a:extLst>
            </p:cNvPr>
            <p:cNvSpPr txBox="1"/>
            <p:nvPr/>
          </p:nvSpPr>
          <p:spPr>
            <a:xfrm>
              <a:off x="769499" y="1119724"/>
              <a:ext cx="345440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2: MongoDB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6A5A50D-B858-E8A5-6CF4-3FEB74B2A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D801CFB-AE28-AB3A-21BC-C126A9CA68D6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F1D5EC7D-FF73-5A6C-35A1-9E4B60232AA0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804FFC9A-71B5-9CE1-5B68-C63A56C739E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3BB04F-177C-E175-29CE-1F322CA7A50D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36A74A3-AD08-C5AA-13CC-B5B2CBCB53B2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D323E4-34AD-6AFE-94A6-55FB26537419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920F105F-97C5-2AEF-2E72-87E4479D7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68" y="1652496"/>
            <a:ext cx="9893081" cy="487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27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3B1F-B79F-F4C4-4EE0-0794D26B5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45991BF-430B-3321-4B94-E4DD838B2D24}"/>
              </a:ext>
            </a:extLst>
          </p:cNvPr>
          <p:cNvGrpSpPr/>
          <p:nvPr/>
        </p:nvGrpSpPr>
        <p:grpSpPr>
          <a:xfrm>
            <a:off x="164064" y="1119724"/>
            <a:ext cx="5935869" cy="523220"/>
            <a:chOff x="164064" y="1119724"/>
            <a:chExt cx="593586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505542-074C-A10A-F627-92ECC65347C4}"/>
                </a:ext>
              </a:extLst>
            </p:cNvPr>
            <p:cNvSpPr txBox="1"/>
            <p:nvPr/>
          </p:nvSpPr>
          <p:spPr>
            <a:xfrm>
              <a:off x="769499" y="1119724"/>
              <a:ext cx="53304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8E88422-4F10-61A1-8B78-1775B666B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DCD2657E-CAA4-64D3-7846-B45D1CEFF13B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Install python3-venv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F06C10DF-FA6F-C01C-4487-0DBEE0897F3D}"/>
              </a:ext>
            </a:extLst>
          </p:cNvPr>
          <p:cNvSpPr txBox="1"/>
          <p:nvPr/>
        </p:nvSpPr>
        <p:spPr>
          <a:xfrm>
            <a:off x="813522" y="2115158"/>
            <a:ext cx="745036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apt-get install -y python3-venv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0BCAED56-95D1-3C13-08C0-24B2B1C1F161}"/>
              </a:ext>
            </a:extLst>
          </p:cNvPr>
          <p:cNvSpPr txBox="1"/>
          <p:nvPr/>
        </p:nvSpPr>
        <p:spPr>
          <a:xfrm>
            <a:off x="668702" y="34849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Create &amp; Activate the Environment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4366B9D0-317A-2119-91E9-51A597FEDBA6}"/>
              </a:ext>
            </a:extLst>
          </p:cNvPr>
          <p:cNvSpPr txBox="1"/>
          <p:nvPr/>
        </p:nvSpPr>
        <p:spPr>
          <a:xfrm>
            <a:off x="813522" y="4039388"/>
            <a:ext cx="499291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fr-FR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python3 -m venv venv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fr-FR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source venv/bin/activate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9D25CE9-8D9D-399C-EC1B-95F6734E250C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AAE7E1D-28EB-C462-DC6A-A97CF2BE262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B887FDE-52CF-7F39-F527-AA453E637CD3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752D78F2-9E51-472D-D98D-087B3633A970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B367F61-EC4E-5D74-A530-4D11AA82AA75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68D36B8-2554-3962-96C1-A7FE247F70EA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638A55C0-5255-B875-F26F-0ABDE9F10A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55" y="2593859"/>
            <a:ext cx="7897327" cy="88594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3E13A2B-FA99-0118-3EC6-DAEFCC6AC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55" y="4884116"/>
            <a:ext cx="7392432" cy="1028844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31E1767-0D0B-6D90-84A1-861F84E94843}"/>
              </a:ext>
            </a:extLst>
          </p:cNvPr>
          <p:cNvCxnSpPr>
            <a:cxnSpLocks/>
          </p:cNvCxnSpPr>
          <p:nvPr/>
        </p:nvCxnSpPr>
        <p:spPr>
          <a:xfrm flipH="1" flipV="1">
            <a:off x="1239444" y="5969992"/>
            <a:ext cx="1450426" cy="244365"/>
          </a:xfrm>
          <a:prstGeom prst="straightConnector1">
            <a:avLst/>
          </a:prstGeom>
          <a:ln w="38100">
            <a:solidFill>
              <a:srgbClr val="1E88B8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F6286A-4358-E55C-7803-D3E627C72A3B}"/>
              </a:ext>
            </a:extLst>
          </p:cNvPr>
          <p:cNvSpPr/>
          <p:nvPr/>
        </p:nvSpPr>
        <p:spPr>
          <a:xfrm>
            <a:off x="813522" y="5757157"/>
            <a:ext cx="536279" cy="1569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F9F795-3C70-D3D9-B4B2-A68967EC4193}"/>
              </a:ext>
            </a:extLst>
          </p:cNvPr>
          <p:cNvSpPr txBox="1"/>
          <p:nvPr/>
        </p:nvSpPr>
        <p:spPr>
          <a:xfrm>
            <a:off x="2172750" y="6092174"/>
            <a:ext cx="371751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Virtual Env. is activated.</a:t>
            </a:r>
          </a:p>
        </p:txBody>
      </p:sp>
    </p:spTree>
    <p:extLst>
      <p:ext uri="{BB962C8B-B14F-4D97-AF65-F5344CB8AC3E}">
        <p14:creationId xmlns:p14="http://schemas.microsoft.com/office/powerpoint/2010/main" val="10155668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6E78-FA48-C14D-EB37-58230AEC8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4072D73-F290-A6BB-9B24-3E0BE91D7118}"/>
              </a:ext>
            </a:extLst>
          </p:cNvPr>
          <p:cNvGrpSpPr/>
          <p:nvPr/>
        </p:nvGrpSpPr>
        <p:grpSpPr>
          <a:xfrm>
            <a:off x="164064" y="1119724"/>
            <a:ext cx="5935869" cy="523220"/>
            <a:chOff x="164064" y="1119724"/>
            <a:chExt cx="593586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CD50D16-DB56-7CEE-355A-B6AC30FC12A0}"/>
                </a:ext>
              </a:extLst>
            </p:cNvPr>
            <p:cNvSpPr txBox="1"/>
            <p:nvPr/>
          </p:nvSpPr>
          <p:spPr>
            <a:xfrm>
              <a:off x="769499" y="1119724"/>
              <a:ext cx="53304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3: Python Virtual Env.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F1BF4CB3-130D-6D17-AAAD-2254AC2B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D22A6032-9937-16C0-A2D6-612BF444BE89}"/>
              </a:ext>
            </a:extLst>
          </p:cNvPr>
          <p:cNvSpPr txBox="1"/>
          <p:nvPr/>
        </p:nvSpPr>
        <p:spPr>
          <a:xfrm>
            <a:off x="668702" y="1572160"/>
            <a:ext cx="10612708" cy="155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With the virtual env. active, install all the required Python libraries (like Flask, </a:t>
            </a:r>
            <a:r>
              <a:rPr lang="en-US" altLang="ko-KR" sz="2200" dirty="0" err="1">
                <a:latin typeface="SF싸락눈" panose="02000503000000000000" pitchFamily="2" charset="-127"/>
                <a:ea typeface="SF싸락눈" panose="02000503000000000000" pitchFamily="2" charset="-127"/>
              </a:rPr>
              <a:t>Scapy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, etc.) using the requirements.txt file 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Install Python Dependencies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03BA6019-F782-6197-4350-CC9AAF6508B1}"/>
              </a:ext>
            </a:extLst>
          </p:cNvPr>
          <p:cNvSpPr txBox="1"/>
          <p:nvPr/>
        </p:nvSpPr>
        <p:spPr>
          <a:xfrm>
            <a:off x="813522" y="3136418"/>
            <a:ext cx="499291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pip install -r requirements.txt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E17094D-7561-6299-0E14-ED13AC72542D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0EBACE4-2D9C-9A18-DC9C-CB9F3C725DA8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85F3E6B-7E89-C665-0EE7-2E76E20FA160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9AAF353-B518-4D84-BB17-02F6EA001B2D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463E1EC-5583-7830-5719-A1CA9712E86A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ECB250-DA4C-62E9-DBBE-ABFFFB9AD191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639D9BDA-5719-1418-2CF6-DCD8B8A50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307" y="3651353"/>
            <a:ext cx="8497486" cy="244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59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69CBE-BABA-7CD5-8E16-9703F2CE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CC6AA47-DFE0-B7F3-AB3D-21E90999CE4E}"/>
              </a:ext>
            </a:extLst>
          </p:cNvPr>
          <p:cNvGrpSpPr/>
          <p:nvPr/>
        </p:nvGrpSpPr>
        <p:grpSpPr>
          <a:xfrm>
            <a:off x="164064" y="1119724"/>
            <a:ext cx="6986477" cy="523220"/>
            <a:chOff x="164064" y="1119724"/>
            <a:chExt cx="698647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C51747-6F91-940D-A64C-6EEF69818884}"/>
                </a:ext>
              </a:extLst>
            </p:cNvPr>
            <p:cNvSpPr txBox="1"/>
            <p:nvPr/>
          </p:nvSpPr>
          <p:spPr>
            <a:xfrm>
              <a:off x="769499" y="1119724"/>
              <a:ext cx="63810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4: Start &amp; Enable MongoDB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60F6CF2-0F49-1A89-8E28-48CAF0B0C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135C93B-8045-9D72-2500-84DA629AD95A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Start and Enable the Service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6DF4CF84-B2C2-11C3-672E-70AE0ED2D06A}"/>
              </a:ext>
            </a:extLst>
          </p:cNvPr>
          <p:cNvSpPr txBox="1"/>
          <p:nvPr/>
        </p:nvSpPr>
        <p:spPr>
          <a:xfrm>
            <a:off x="813522" y="2115158"/>
            <a:ext cx="745036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start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systemctl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enable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mongod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0D84CC-3DF8-D028-23F6-98EB9998DD83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8E746C7-F42C-4A86-596F-F5D593393BCD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71B341FB-69E7-AACA-44C1-96F321AA8B6F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F8C357D-BD47-9275-4157-8D39D89E9E72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45C3182-832A-1A74-A573-AF549952086C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C8154BF-6D40-84B1-5320-A81F1BE5BD7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DE14B4BD-2475-FC0E-0B8A-6BFF923484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408" y="3024390"/>
            <a:ext cx="793543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6761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32EE5-F054-D8A0-6122-1BA65DF6B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DB45E9B-A0D0-FC15-B8DF-8DC4D0C0658E}"/>
              </a:ext>
            </a:extLst>
          </p:cNvPr>
          <p:cNvGrpSpPr/>
          <p:nvPr/>
        </p:nvGrpSpPr>
        <p:grpSpPr>
          <a:xfrm>
            <a:off x="164064" y="1119724"/>
            <a:ext cx="5058577" cy="523220"/>
            <a:chOff x="164064" y="1119724"/>
            <a:chExt cx="505857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653B29-8D6D-5F32-5DEA-7314901B0B93}"/>
                </a:ext>
              </a:extLst>
            </p:cNvPr>
            <p:cNvSpPr txBox="1"/>
            <p:nvPr/>
          </p:nvSpPr>
          <p:spPr>
            <a:xfrm>
              <a:off x="769499" y="1119724"/>
              <a:ext cx="44531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5: Generate Keys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AD3B0D3-0A70-B32B-C696-EA4E3EB08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68FE088E-B810-E726-7AA9-B860A75314D1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Generate Security Key &amp; Admin Account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1BC68B8F-6E01-71EE-DAB0-DAC861DE0C7F}"/>
              </a:ext>
            </a:extLst>
          </p:cNvPr>
          <p:cNvSpPr txBox="1"/>
          <p:nvPr/>
        </p:nvSpPr>
        <p:spPr>
          <a:xfrm>
            <a:off x="813522" y="2115158"/>
            <a:ext cx="745036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python3 src/key_manager.py generate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7108B81-BDDA-1BF2-DA7C-E2B09EFD55A9}"/>
              </a:ext>
            </a:extLst>
          </p:cNvPr>
          <p:cNvSpPr txBox="1"/>
          <p:nvPr/>
        </p:nvSpPr>
        <p:spPr>
          <a:xfrm>
            <a:off x="668702" y="396502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Check Password</a:t>
            </a:r>
          </a:p>
        </p:txBody>
      </p:sp>
      <p:sp>
        <p:nvSpPr>
          <p:cNvPr id="1026" name="TextBox 1025">
            <a:extLst>
              <a:ext uri="{FF2B5EF4-FFF2-40B4-BE49-F238E27FC236}">
                <a16:creationId xmlns:a16="http://schemas.microsoft.com/office/drawing/2014/main" id="{1A0C3E5B-ECE9-E55A-7F5D-04A9BB74B095}"/>
              </a:ext>
            </a:extLst>
          </p:cNvPr>
          <p:cNvSpPr txBox="1"/>
          <p:nvPr/>
        </p:nvSpPr>
        <p:spPr>
          <a:xfrm>
            <a:off x="813522" y="4519448"/>
            <a:ext cx="499291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cat keys/admin_credentials.txt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CB9497C-10D6-102A-85AA-B768D854AE5D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F83C656C-CEFD-8FDD-3C4C-9E9093029D59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C688858-4C9C-CB7A-7828-9ED24E0BB12D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4EBD2851-E2F5-B1A2-49E6-9CA50A70A833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CC44331-193F-609E-F56A-E44758E512B2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E9824C0-0AEA-00B9-ECCF-29D3E9391AC1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96E41A9-AAFE-1038-3B1A-9F2A331D6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991" y="2554646"/>
            <a:ext cx="6703223" cy="13945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8B988B-B789-3690-B970-98DC782E5C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991" y="5003467"/>
            <a:ext cx="7783011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363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AA2E1-DA99-FE15-05CD-A95A347D8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6036DD9-0907-CC80-9115-C05612E57521}"/>
              </a:ext>
            </a:extLst>
          </p:cNvPr>
          <p:cNvGrpSpPr/>
          <p:nvPr/>
        </p:nvGrpSpPr>
        <p:grpSpPr>
          <a:xfrm>
            <a:off x="164064" y="1119724"/>
            <a:ext cx="5356287" cy="523220"/>
            <a:chOff x="164064" y="1119724"/>
            <a:chExt cx="5356287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B33019-5F1A-D814-24B6-45B004B37A4F}"/>
                </a:ext>
              </a:extLst>
            </p:cNvPr>
            <p:cNvSpPr txBox="1"/>
            <p:nvPr/>
          </p:nvSpPr>
          <p:spPr>
            <a:xfrm>
              <a:off x="769499" y="1119724"/>
              <a:ext cx="47508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Run Application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737FAD9-BC49-551D-1395-2C65DD062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CF863DD6-B205-B4B7-10E0-0E4318DFE0EE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Run the Web Application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D87432A8-614F-DFD5-1C1A-02D1D59A75A9}"/>
              </a:ext>
            </a:extLst>
          </p:cNvPr>
          <p:cNvSpPr txBox="1"/>
          <p:nvPr/>
        </p:nvSpPr>
        <p:spPr>
          <a:xfrm>
            <a:off x="813522" y="2115158"/>
            <a:ext cx="745036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sudo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./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</a:rPr>
              <a:t>venv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/bin/python src/web_app.py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F8193DB-17A8-72EB-E718-C0C0FB7A19F3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50C6C9D-23C0-2C45-616F-11F58D12DEDE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5B4FF4B-D2D3-617B-932D-2F00B8DFF558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9FBF3CAA-BECB-7617-C8A9-CCA8E32FD8DF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BCA8493-393F-0F23-FF0A-FB037643E40C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F2D636-1BEC-946E-F7B8-0699BCC157FB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5B48AFC-E344-D9C3-46E2-D7612992F8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4" y="2606770"/>
            <a:ext cx="6309691" cy="3615755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2A30177-C8F2-BBAD-D35A-B638EE655234}"/>
              </a:ext>
            </a:extLst>
          </p:cNvPr>
          <p:cNvCxnSpPr>
            <a:cxnSpLocks/>
          </p:cNvCxnSpPr>
          <p:nvPr/>
        </p:nvCxnSpPr>
        <p:spPr>
          <a:xfrm flipH="1">
            <a:off x="3716012" y="3569532"/>
            <a:ext cx="4253457" cy="831143"/>
          </a:xfrm>
          <a:prstGeom prst="straightConnector1">
            <a:avLst/>
          </a:prstGeom>
          <a:ln w="38100">
            <a:solidFill>
              <a:srgbClr val="1E88B8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30464DD-FAFC-6970-4358-53CAE4BFA517}"/>
              </a:ext>
            </a:extLst>
          </p:cNvPr>
          <p:cNvSpPr/>
          <p:nvPr/>
        </p:nvSpPr>
        <p:spPr>
          <a:xfrm>
            <a:off x="1087569" y="4336162"/>
            <a:ext cx="2530617" cy="1290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1BBCE-0A4D-552E-D332-E62D7F2F6F4D}"/>
              </a:ext>
            </a:extLst>
          </p:cNvPr>
          <p:cNvSpPr txBox="1"/>
          <p:nvPr/>
        </p:nvSpPr>
        <p:spPr>
          <a:xfrm>
            <a:off x="7157546" y="340167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Ctrl+{Click}</a:t>
            </a:r>
          </a:p>
        </p:txBody>
      </p:sp>
    </p:spTree>
    <p:extLst>
      <p:ext uri="{BB962C8B-B14F-4D97-AF65-F5344CB8AC3E}">
        <p14:creationId xmlns:p14="http://schemas.microsoft.com/office/powerpoint/2010/main" val="33545437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17C9-0915-1A83-2FF7-66518FD5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5727992-BBC2-F5AC-C7F0-46C079287BCA}"/>
              </a:ext>
            </a:extLst>
          </p:cNvPr>
          <p:cNvGrpSpPr/>
          <p:nvPr/>
        </p:nvGrpSpPr>
        <p:grpSpPr>
          <a:xfrm>
            <a:off x="164064" y="1119724"/>
            <a:ext cx="6811429" cy="523220"/>
            <a:chOff x="164064" y="1119724"/>
            <a:chExt cx="681142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BBCEB0D-EAE3-03C8-CA4A-0806211FAB96}"/>
                </a:ext>
              </a:extLst>
            </p:cNvPr>
            <p:cNvSpPr txBox="1"/>
            <p:nvPr/>
          </p:nvSpPr>
          <p:spPr>
            <a:xfrm>
              <a:off x="769499" y="1119724"/>
              <a:ext cx="62059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044E9BC-65D0-9E1F-3ADB-F160B239D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DC27F2DE-9816-FD62-74AA-ACCD8F976B1D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Run the Web Application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3E5C26A-2E71-208B-0A94-A7DE0A472A7C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067BC9F-4CCF-C1C6-840F-2A367A2A03E7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FDB3F23-7EDD-7200-5405-FCB817ED090D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ACC5C929-C7A6-1B8A-F0CA-B4024B1C7102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874637-8149-E3B1-5F50-C9A0E93246FE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49D87D-14DA-D1B2-C236-708A4EFD531F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666564C-3D3B-E3E0-8A2B-8B00BE179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788" y="2181167"/>
            <a:ext cx="5354796" cy="3923635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D99D97A-F17B-BE0D-1CCC-427A25AAC0F7}"/>
              </a:ext>
            </a:extLst>
          </p:cNvPr>
          <p:cNvCxnSpPr>
            <a:cxnSpLocks/>
          </p:cNvCxnSpPr>
          <p:nvPr/>
        </p:nvCxnSpPr>
        <p:spPr>
          <a:xfrm flipH="1">
            <a:off x="2159876" y="3455232"/>
            <a:ext cx="5809594" cy="2105208"/>
          </a:xfrm>
          <a:prstGeom prst="straightConnector1">
            <a:avLst/>
          </a:prstGeom>
          <a:ln w="38100">
            <a:solidFill>
              <a:srgbClr val="1E88B8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7572654-0398-1E03-E6B8-2316FAA0C79E}"/>
              </a:ext>
            </a:extLst>
          </p:cNvPr>
          <p:cNvSpPr/>
          <p:nvPr/>
        </p:nvSpPr>
        <p:spPr>
          <a:xfrm>
            <a:off x="1300405" y="5560440"/>
            <a:ext cx="741230" cy="3433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42026B-8742-B722-42C4-7008F60F3A35}"/>
              </a:ext>
            </a:extLst>
          </p:cNvPr>
          <p:cNvSpPr txBox="1"/>
          <p:nvPr/>
        </p:nvSpPr>
        <p:spPr>
          <a:xfrm>
            <a:off x="6848148" y="3278189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553574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A6C83-4E0F-993F-AB1D-4FFFB9C8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1FDE684-F921-10E9-389A-D411B01A103C}"/>
              </a:ext>
            </a:extLst>
          </p:cNvPr>
          <p:cNvGrpSpPr/>
          <p:nvPr/>
        </p:nvGrpSpPr>
        <p:grpSpPr>
          <a:xfrm>
            <a:off x="164064" y="1119724"/>
            <a:ext cx="6811429" cy="523220"/>
            <a:chOff x="164064" y="1119724"/>
            <a:chExt cx="681142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CFC89B-7F1D-A04E-9F2C-9AB9E321E78C}"/>
                </a:ext>
              </a:extLst>
            </p:cNvPr>
            <p:cNvSpPr txBox="1"/>
            <p:nvPr/>
          </p:nvSpPr>
          <p:spPr>
            <a:xfrm>
              <a:off x="769499" y="1119724"/>
              <a:ext cx="62059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80C09D2-71E0-0BD6-F00D-E80CE9F60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EE4127DE-B350-C301-6FA8-4BB2CE8A2B16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78EC0DE-7A99-2CBA-73A9-AA5FA14F75A4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9FA9891-24E4-12A8-77F0-DC873DB7B5BB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F71EBFD-A6AA-E326-B7E4-F32783EBCD23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152389B-1858-1BB8-EFF9-683206A46D6A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C4437F-0D53-F9FF-4E38-71DDCE0F169C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47823C47-0AA7-9E02-3199-14E31AE3D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57" y="1720764"/>
            <a:ext cx="4981317" cy="4512665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D1CE231-86A6-4C0E-B92C-28EDCF370857}"/>
              </a:ext>
            </a:extLst>
          </p:cNvPr>
          <p:cNvCxnSpPr>
            <a:cxnSpLocks/>
          </p:cNvCxnSpPr>
          <p:nvPr/>
        </p:nvCxnSpPr>
        <p:spPr>
          <a:xfrm flipH="1">
            <a:off x="2625244" y="3603822"/>
            <a:ext cx="5069907" cy="2299043"/>
          </a:xfrm>
          <a:prstGeom prst="straightConnector1">
            <a:avLst/>
          </a:prstGeom>
          <a:ln w="38100">
            <a:solidFill>
              <a:srgbClr val="1E88B8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06F4869-B20D-E901-F030-485E752B6D41}"/>
              </a:ext>
            </a:extLst>
          </p:cNvPr>
          <p:cNvSpPr/>
          <p:nvPr/>
        </p:nvSpPr>
        <p:spPr>
          <a:xfrm>
            <a:off x="978788" y="5902865"/>
            <a:ext cx="1474325" cy="267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8FE08-8A71-C9A1-10C8-9FA8C348938B}"/>
              </a:ext>
            </a:extLst>
          </p:cNvPr>
          <p:cNvSpPr txBox="1"/>
          <p:nvPr/>
        </p:nvSpPr>
        <p:spPr>
          <a:xfrm>
            <a:off x="6630978" y="3453011"/>
            <a:ext cx="304799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872946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B3017-CAC8-39A0-61A1-B653D49B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F5D2018-9AB2-5A0E-614D-8E8ED59853A0}"/>
              </a:ext>
            </a:extLst>
          </p:cNvPr>
          <p:cNvGrpSpPr/>
          <p:nvPr/>
        </p:nvGrpSpPr>
        <p:grpSpPr>
          <a:xfrm>
            <a:off x="164064" y="1119724"/>
            <a:ext cx="6811429" cy="523220"/>
            <a:chOff x="164064" y="1119724"/>
            <a:chExt cx="681142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52B2E8-E300-DF7B-8A05-9E2AF0E63095}"/>
                </a:ext>
              </a:extLst>
            </p:cNvPr>
            <p:cNvSpPr txBox="1"/>
            <p:nvPr/>
          </p:nvSpPr>
          <p:spPr>
            <a:xfrm>
              <a:off x="769499" y="1119724"/>
              <a:ext cx="62059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Step 6: Access to the Webpage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93CD891-2FBD-1BB3-C396-BCBBA22C4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073B239-6CB5-CCDE-6A8A-E1A956E71253}"/>
              </a:ext>
            </a:extLst>
          </p:cNvPr>
          <p:cNvSpPr txBox="1"/>
          <p:nvPr/>
        </p:nvSpPr>
        <p:spPr>
          <a:xfrm>
            <a:off x="668702" y="1572160"/>
            <a:ext cx="9590749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solidFill>
                  <a:srgbClr val="C00000"/>
                </a:solidFill>
                <a:latin typeface="SF싸락눈" panose="02000503000000000000" pitchFamily="2" charset="-127"/>
                <a:ea typeface="SF싸락눈" panose="02000503000000000000" pitchFamily="2" charset="-127"/>
              </a:rPr>
              <a:t>Log in with Username &amp; Password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C73CEFE0-B3C9-3811-BD0A-147C7F338C52}"/>
              </a:ext>
            </a:extLst>
          </p:cNvPr>
          <p:cNvSpPr txBox="1"/>
          <p:nvPr/>
        </p:nvSpPr>
        <p:spPr>
          <a:xfrm>
            <a:off x="813522" y="2115158"/>
            <a:ext cx="745036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Username: admin</a:t>
            </a:r>
          </a:p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Password: admin123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828F0011-0804-ED14-B4FB-15105CBBD78D}"/>
              </a:ext>
            </a:extLst>
          </p:cNvPr>
          <p:cNvSpPr txBox="1"/>
          <p:nvPr/>
        </p:nvSpPr>
        <p:spPr>
          <a:xfrm>
            <a:off x="668703" y="3016330"/>
            <a:ext cx="5427298" cy="155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Now, let’s dive into the detailed features of the tool and how to use them in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next section.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7EA3312-5060-F24D-3A0B-EAC8DE39F76E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BC6D394-9E5D-C494-A3AA-83A212BB39FB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BF1D1A8B-6E31-5CD3-1BEE-214CF18BA6F2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B313165-5B94-5BC8-5BF7-D5EDFD0CCBE5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5D3AF47-2E90-2569-E64B-6BA50A6AA899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017415-639C-D92D-2556-D77D7061C0FB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2288C19D-7557-D18E-CF76-290F1C4ABE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74301"/>
            <a:ext cx="5315692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75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1C7AA-0B58-CF70-ED33-86A900B3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4B43F1-C7CA-CBAF-5574-4CC2ADA19F13}"/>
              </a:ext>
            </a:extLst>
          </p:cNvPr>
          <p:cNvSpPr txBox="1"/>
          <p:nvPr/>
        </p:nvSpPr>
        <p:spPr>
          <a:xfrm>
            <a:off x="3226880" y="3133919"/>
            <a:ext cx="5738241" cy="5901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 </a:t>
            </a:r>
          </a:p>
        </p:txBody>
      </p:sp>
    </p:spTree>
    <p:extLst>
      <p:ext uri="{BB962C8B-B14F-4D97-AF65-F5344CB8AC3E}">
        <p14:creationId xmlns:p14="http://schemas.microsoft.com/office/powerpoint/2010/main" val="40273275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75916-8411-248C-2951-1496F0167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C2E58A1-2EFD-1ADC-DDE0-5B133EF5C0CE}"/>
              </a:ext>
            </a:extLst>
          </p:cNvPr>
          <p:cNvGrpSpPr/>
          <p:nvPr/>
        </p:nvGrpSpPr>
        <p:grpSpPr>
          <a:xfrm>
            <a:off x="164064" y="1119724"/>
            <a:ext cx="10294178" cy="523220"/>
            <a:chOff x="164064" y="1119724"/>
            <a:chExt cx="10294178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B32B79-AE48-25F8-47E0-DC08F47C025A}"/>
                </a:ext>
              </a:extLst>
            </p:cNvPr>
            <p:cNvSpPr txBox="1"/>
            <p:nvPr/>
          </p:nvSpPr>
          <p:spPr>
            <a:xfrm>
              <a:off x="769499" y="1119724"/>
              <a:ext cx="96887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Dashboard Overview: Visualizing Network Traffic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3001995-CAA3-F1CF-B16E-A75D49EB1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39474F0F-93FA-5E44-4CA5-74109A5DDEEA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BC8CDE6-1096-520C-A038-9E2F189F683F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8062577-93F6-A984-E200-C383DCF21EF2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09DE7D9F-17F8-6BC2-8F86-4E17DEE92356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FE279D0-D5D4-71ED-2299-160964A1ADF9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F830D8-B2DB-ADA3-F321-185DD9744DCA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182CEEE3-F411-97E6-0124-A9535F7E680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684"/>
          <a:stretch/>
        </p:blipFill>
        <p:spPr>
          <a:xfrm>
            <a:off x="2704734" y="1816410"/>
            <a:ext cx="6782532" cy="47359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1129CF3-CD1F-4CC8-E121-EE6EDB1694FF}"/>
              </a:ext>
            </a:extLst>
          </p:cNvPr>
          <p:cNvSpPr txBox="1"/>
          <p:nvPr/>
        </p:nvSpPr>
        <p:spPr>
          <a:xfrm>
            <a:off x="9750737" y="1738153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Start Button for </a:t>
            </a:r>
          </a:p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Packet Capturing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BCA6B1-31B3-DA3B-29D6-D6BE9445FDF0}"/>
              </a:ext>
            </a:extLst>
          </p:cNvPr>
          <p:cNvSpPr txBox="1"/>
          <p:nvPr/>
        </p:nvSpPr>
        <p:spPr>
          <a:xfrm>
            <a:off x="821129" y="2180003"/>
            <a:ext cx="2089910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Menu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E9DDBB-842C-49C8-8F43-803F91A1C7AD}"/>
              </a:ext>
            </a:extLst>
          </p:cNvPr>
          <p:cNvSpPr txBox="1"/>
          <p:nvPr/>
        </p:nvSpPr>
        <p:spPr>
          <a:xfrm>
            <a:off x="9624167" y="4654419"/>
            <a:ext cx="2089910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b="1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Main Contents of Dashboard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3B80A4B6-9A55-266B-B11F-4889F98EB5AE}"/>
              </a:ext>
            </a:extLst>
          </p:cNvPr>
          <p:cNvCxnSpPr>
            <a:cxnSpLocks/>
          </p:cNvCxnSpPr>
          <p:nvPr/>
        </p:nvCxnSpPr>
        <p:spPr>
          <a:xfrm flipH="1">
            <a:off x="8887547" y="1993607"/>
            <a:ext cx="1067983" cy="186396"/>
          </a:xfrm>
          <a:prstGeom prst="straightConnector1">
            <a:avLst/>
          </a:prstGeom>
          <a:ln w="38100">
            <a:solidFill>
              <a:srgbClr val="1E88B8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4E1C486-9323-6125-BE88-18861A91B66D}"/>
              </a:ext>
            </a:extLst>
          </p:cNvPr>
          <p:cNvCxnSpPr>
            <a:cxnSpLocks/>
          </p:cNvCxnSpPr>
          <p:nvPr/>
        </p:nvCxnSpPr>
        <p:spPr>
          <a:xfrm flipH="1" flipV="1">
            <a:off x="9544523" y="3818249"/>
            <a:ext cx="913719" cy="830033"/>
          </a:xfrm>
          <a:prstGeom prst="straightConnector1">
            <a:avLst/>
          </a:prstGeom>
          <a:ln w="38100">
            <a:solidFill>
              <a:srgbClr val="1E88B8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CBBC26-D880-FF36-8AB2-7DC7366F432C}"/>
              </a:ext>
            </a:extLst>
          </p:cNvPr>
          <p:cNvSpPr/>
          <p:nvPr/>
        </p:nvSpPr>
        <p:spPr>
          <a:xfrm>
            <a:off x="2743200" y="2420360"/>
            <a:ext cx="6705600" cy="40424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09975F2-EC9A-45ED-5CCD-D18AE8BBFB0F}"/>
              </a:ext>
            </a:extLst>
          </p:cNvPr>
          <p:cNvCxnSpPr>
            <a:cxnSpLocks/>
          </p:cNvCxnSpPr>
          <p:nvPr/>
        </p:nvCxnSpPr>
        <p:spPr>
          <a:xfrm flipV="1">
            <a:off x="2259479" y="2032680"/>
            <a:ext cx="2089910" cy="288747"/>
          </a:xfrm>
          <a:prstGeom prst="straightConnector1">
            <a:avLst/>
          </a:prstGeom>
          <a:ln w="38100">
            <a:solidFill>
              <a:srgbClr val="1E88B8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6532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DE3B-31E8-5A52-FF54-71FBA46A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4EE7170-00D8-C776-ADFC-973BA4EEEA9D}"/>
              </a:ext>
            </a:extLst>
          </p:cNvPr>
          <p:cNvGrpSpPr/>
          <p:nvPr/>
        </p:nvGrpSpPr>
        <p:grpSpPr>
          <a:xfrm>
            <a:off x="164064" y="1119724"/>
            <a:ext cx="7208205" cy="523220"/>
            <a:chOff x="164064" y="1119724"/>
            <a:chExt cx="7208205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E5DF521-C8C0-A67D-A3A7-5A58B3605A29}"/>
                </a:ext>
              </a:extLst>
            </p:cNvPr>
            <p:cNvSpPr txBox="1"/>
            <p:nvPr/>
          </p:nvSpPr>
          <p:spPr>
            <a:xfrm>
              <a:off x="769499" y="1119724"/>
              <a:ext cx="66027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Three Key Features: A Quick Tour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0197804-D75E-D314-EBFC-03EAE118F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7F28500-C7A3-CB24-E710-5D0F324FF2A9}"/>
              </a:ext>
            </a:extLst>
          </p:cNvPr>
          <p:cNvSpPr txBox="1"/>
          <p:nvPr/>
        </p:nvSpPr>
        <p:spPr>
          <a:xfrm>
            <a:off x="668702" y="1572160"/>
            <a:ext cx="10315528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Dashboard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21C4C6FE-76FC-4443-A70D-1DB21D5DF47C}"/>
              </a:ext>
            </a:extLst>
          </p:cNvPr>
          <p:cNvSpPr txBox="1"/>
          <p:nvPr/>
        </p:nvSpPr>
        <p:spPr>
          <a:xfrm>
            <a:off x="813522" y="2115158"/>
            <a:ext cx="1002211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visual summary page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to understand the network’s overall status and traffic patterns at a glance through graphs and charts.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E4525B0-9B6F-8DA7-ADA0-4EBD89D64CB5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F4990BA-A909-0259-744D-9D91201914D7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5DA93A4-D6C0-8A69-8A6B-E787EFB07D06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D84B35C0-34C6-581D-1222-8B405C7B7AE7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B28A28F-89CC-96DA-848D-439EC22DAD62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0DBEB2-E732-C274-0A14-8A9CFDC4C18D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DCCE408-5249-04E2-7AF4-4A4C0DB6FD72}"/>
              </a:ext>
            </a:extLst>
          </p:cNvPr>
          <p:cNvSpPr txBox="1"/>
          <p:nvPr/>
        </p:nvSpPr>
        <p:spPr>
          <a:xfrm>
            <a:off x="668702" y="3007180"/>
            <a:ext cx="10315528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1CFD2E-6279-9251-A4E3-89FE9C1E3623}"/>
              </a:ext>
            </a:extLst>
          </p:cNvPr>
          <p:cNvSpPr txBox="1"/>
          <p:nvPr/>
        </p:nvSpPr>
        <p:spPr>
          <a:xfrm>
            <a:off x="813522" y="3550178"/>
            <a:ext cx="1039930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detailed investigation tool to troubleshoot network issues by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searching and analyzing specific packets with filtering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0ADDD-F52E-5D1A-4410-EED616084EEF}"/>
              </a:ext>
            </a:extLst>
          </p:cNvPr>
          <p:cNvSpPr txBox="1"/>
          <p:nvPr/>
        </p:nvSpPr>
        <p:spPr>
          <a:xfrm>
            <a:off x="668702" y="4430770"/>
            <a:ext cx="10315528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Admin Panel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13A571-D7C5-4A32-47FE-FD80EA67B175}"/>
              </a:ext>
            </a:extLst>
          </p:cNvPr>
          <p:cNvSpPr txBox="1"/>
          <p:nvPr/>
        </p:nvSpPr>
        <p:spPr>
          <a:xfrm>
            <a:off x="813522" y="4973768"/>
            <a:ext cx="10399308" cy="853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 admin-only page to control user access and manage the system’s overall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status and security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8212438-459F-978D-F7AD-75D4B22816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108" t="7323" r="47300" b="87542"/>
          <a:stretch/>
        </p:blipFill>
        <p:spPr>
          <a:xfrm>
            <a:off x="1955359" y="5863525"/>
            <a:ext cx="8243144" cy="71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287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812AD-0B8D-08D3-25E1-E7CB39E8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B1A074-C938-6920-127B-A5CFF9CA184A}"/>
              </a:ext>
            </a:extLst>
          </p:cNvPr>
          <p:cNvSpPr txBox="1"/>
          <p:nvPr/>
        </p:nvSpPr>
        <p:spPr>
          <a:xfrm>
            <a:off x="3226880" y="2851886"/>
            <a:ext cx="5738241" cy="11542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r>
              <a:rPr lang="en-US" altLang="ko-KR" sz="24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Dashboard - </a:t>
            </a:r>
          </a:p>
        </p:txBody>
      </p:sp>
    </p:spTree>
    <p:extLst>
      <p:ext uri="{BB962C8B-B14F-4D97-AF65-F5344CB8AC3E}">
        <p14:creationId xmlns:p14="http://schemas.microsoft.com/office/powerpoint/2010/main" val="40063238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D3A03-509B-1F4A-4495-26CCBEE3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CD6DA4B-F146-16D4-B395-D7AC646F904E}"/>
              </a:ext>
            </a:extLst>
          </p:cNvPr>
          <p:cNvGrpSpPr/>
          <p:nvPr/>
        </p:nvGrpSpPr>
        <p:grpSpPr>
          <a:xfrm>
            <a:off x="164064" y="1119724"/>
            <a:ext cx="6935053" cy="523220"/>
            <a:chOff x="164064" y="1119724"/>
            <a:chExt cx="6935053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BA0F43A-0F6C-9BD7-63D2-DE7CA11973B7}"/>
                </a:ext>
              </a:extLst>
            </p:cNvPr>
            <p:cNvSpPr txBox="1"/>
            <p:nvPr/>
          </p:nvSpPr>
          <p:spPr>
            <a:xfrm>
              <a:off x="769499" y="1119724"/>
              <a:ext cx="63296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 Snapshot of Network’s Health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7FA0662-29AE-6EA6-4305-FC10ED3E0F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9F74DCB9-2033-47E6-ABFD-8C183A712900}"/>
              </a:ext>
            </a:extLst>
          </p:cNvPr>
          <p:cNvSpPr txBox="1"/>
          <p:nvPr/>
        </p:nvSpPr>
        <p:spPr>
          <a:xfrm>
            <a:off x="668702" y="1572160"/>
            <a:ext cx="10315528" cy="535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top panel offers a real-time summary of the network’s critical information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B2E9D57-1DFA-C49B-EAE9-9B53342C5080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933B10E-60C1-042E-9E8E-38F13AF311D3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AAAFDC3F-6D6B-EE88-F286-E077E4AFD176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2E99C8B-41C1-BDFF-457F-F9D77168B35F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7DAB8B-433E-CD46-AB04-D68841DFAB2C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8126AD1-4F0D-A350-E740-F8DF7152C452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043078F-1339-85B9-0AE8-04227D274FCB}"/>
              </a:ext>
            </a:extLst>
          </p:cNvPr>
          <p:cNvSpPr txBox="1"/>
          <p:nvPr/>
        </p:nvSpPr>
        <p:spPr>
          <a:xfrm>
            <a:off x="813522" y="3630188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Total Packets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3E05941-F3CC-7BA1-0C57-D2F5584C057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7684" b="71419"/>
          <a:stretch/>
        </p:blipFill>
        <p:spPr>
          <a:xfrm>
            <a:off x="1105289" y="2185812"/>
            <a:ext cx="9089881" cy="14367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ABBDF10-7950-2B9F-01A4-11166A1216B3}"/>
              </a:ext>
            </a:extLst>
          </p:cNvPr>
          <p:cNvSpPr txBox="1"/>
          <p:nvPr/>
        </p:nvSpPr>
        <p:spPr>
          <a:xfrm>
            <a:off x="1096104" y="4095249"/>
            <a:ext cx="10795822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cumulative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count of all captured packets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ADFBA1-E893-C5B4-F70D-CD8B5CE1C08D}"/>
              </a:ext>
            </a:extLst>
          </p:cNvPr>
          <p:cNvSpPr txBox="1"/>
          <p:nvPr/>
        </p:nvSpPr>
        <p:spPr>
          <a:xfrm>
            <a:off x="809618" y="4522179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Active Devices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FDACB3-0AB3-3B9C-071D-AB8EC5D1DBB0}"/>
              </a:ext>
            </a:extLst>
          </p:cNvPr>
          <p:cNvSpPr txBox="1"/>
          <p:nvPr/>
        </p:nvSpPr>
        <p:spPr>
          <a:xfrm>
            <a:off x="1092200" y="4987240"/>
            <a:ext cx="10795822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Shows the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number of unique devices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 currently sending or receiving data.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32127E-3A37-641E-804C-E5AF6DE37C75}"/>
              </a:ext>
            </a:extLst>
          </p:cNvPr>
          <p:cNvSpPr txBox="1"/>
          <p:nvPr/>
        </p:nvSpPr>
        <p:spPr>
          <a:xfrm>
            <a:off x="803275" y="5414170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Capture Status &amp; Interface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851B6C-568A-B6BF-4086-77DD8A7EB4A5}"/>
              </a:ext>
            </a:extLst>
          </p:cNvPr>
          <p:cNvSpPr txBox="1"/>
          <p:nvPr/>
        </p:nvSpPr>
        <p:spPr>
          <a:xfrm>
            <a:off x="1085857" y="5879231"/>
            <a:ext cx="10795822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Clearly indicates if the monitoring system is currently running (Status) and which network card (interface) is being monitored.</a:t>
            </a:r>
          </a:p>
        </p:txBody>
      </p:sp>
    </p:spTree>
    <p:extLst>
      <p:ext uri="{BB962C8B-B14F-4D97-AF65-F5344CB8AC3E}">
        <p14:creationId xmlns:p14="http://schemas.microsoft.com/office/powerpoint/2010/main" val="2754482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81D80-EEF6-B4EE-03CF-1D80C0961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4132DCA-F53F-30FF-1B90-46FC1CE5307E}"/>
              </a:ext>
            </a:extLst>
          </p:cNvPr>
          <p:cNvGrpSpPr/>
          <p:nvPr/>
        </p:nvGrpSpPr>
        <p:grpSpPr>
          <a:xfrm>
            <a:off x="164064" y="1119724"/>
            <a:ext cx="8354929" cy="523220"/>
            <a:chOff x="164064" y="1119724"/>
            <a:chExt cx="8354929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E01053-26EC-C7F7-0EC5-7DC9EA5C910F}"/>
                </a:ext>
              </a:extLst>
            </p:cNvPr>
            <p:cNvSpPr txBox="1"/>
            <p:nvPr/>
          </p:nvSpPr>
          <p:spPr>
            <a:xfrm>
              <a:off x="769499" y="1119724"/>
              <a:ext cx="774949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Patterns: What Kind and When?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E4943AE-557E-BCE2-2B19-F858E36D8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1729404-1553-F164-F4E6-ABE03F55B181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2120960-F52A-F920-3636-7A993E1AFA1F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376F1C9-D6A6-C7F7-47F3-1D2D854E585F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0FF4140-BA9F-FF00-EA74-941AD3DF6C36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03873C9-5677-9780-0131-F849AE73BE00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C4851D-4572-3689-20B8-BA7E4F25C21A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A2130B4-F4A9-EABA-5694-ECAABDD36E33}"/>
              </a:ext>
            </a:extLst>
          </p:cNvPr>
          <p:cNvSpPr txBox="1"/>
          <p:nvPr/>
        </p:nvSpPr>
        <p:spPr>
          <a:xfrm>
            <a:off x="813522" y="3310148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AE1912-8EFC-9B7F-5462-B1566E6D2650}"/>
              </a:ext>
            </a:extLst>
          </p:cNvPr>
          <p:cNvSpPr txBox="1"/>
          <p:nvPr/>
        </p:nvSpPr>
        <p:spPr>
          <a:xfrm>
            <a:off x="1096104" y="3775209"/>
            <a:ext cx="10795822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donut chart shows the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proportion of different protocols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like TCP and UDP.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helps you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understand the primary purpose of the network’s usage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whether it’s for web browsing (TCP) or for video streaming and gaming (UDP).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165616-11FD-CDC0-87D8-E8B5EA962330}"/>
              </a:ext>
            </a:extLst>
          </p:cNvPr>
          <p:cNvSpPr txBox="1"/>
          <p:nvPr/>
        </p:nvSpPr>
        <p:spPr>
          <a:xfrm>
            <a:off x="809618" y="4922229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Traffic Over Time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12F993-07B3-7651-B835-C69C7B73FFEC}"/>
              </a:ext>
            </a:extLst>
          </p:cNvPr>
          <p:cNvSpPr txBox="1"/>
          <p:nvPr/>
        </p:nvSpPr>
        <p:spPr>
          <a:xfrm>
            <a:off x="1092200" y="5387290"/>
            <a:ext cx="10554970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line graph displays the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trend of traffic volume over a specific period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It’s essential for identifying the network’s busiest periods and spotting anomalies, such as sudden and unexpected traffic spikes.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6BE8A64-7975-084A-EE1A-242503338F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525" b="42075"/>
          <a:stretch/>
        </p:blipFill>
        <p:spPr>
          <a:xfrm>
            <a:off x="386423" y="1652250"/>
            <a:ext cx="7682358" cy="1650292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A853FF5-D4CB-76FC-53BD-EDBA161C5CE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0191" t="23957" b="46088"/>
          <a:stretch/>
        </p:blipFill>
        <p:spPr>
          <a:xfrm>
            <a:off x="8059779" y="1654937"/>
            <a:ext cx="3897229" cy="164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234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6B59A-6BCC-1A85-0C25-CC733E99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FD699B9-CE4D-5FC5-C186-A3828B3DBC39}"/>
              </a:ext>
            </a:extLst>
          </p:cNvPr>
          <p:cNvGrpSpPr/>
          <p:nvPr/>
        </p:nvGrpSpPr>
        <p:grpSpPr>
          <a:xfrm>
            <a:off x="164064" y="1119724"/>
            <a:ext cx="10780656" cy="461665"/>
            <a:chOff x="164064" y="1119724"/>
            <a:chExt cx="10780656" cy="4616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593F35-42EC-7C2A-C0B2-D703961699C0}"/>
                </a:ext>
              </a:extLst>
            </p:cNvPr>
            <p:cNvSpPr txBox="1"/>
            <p:nvPr/>
          </p:nvSpPr>
          <p:spPr>
            <a:xfrm>
              <a:off x="769499" y="1119724"/>
              <a:ext cx="1017522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Detailed Analysis: Who is Talking and What Are They Saying?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331BC18-4DAE-5112-9C94-32B754DAC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9FD3BCC-71A3-A9F7-02B3-36DA72EA09A8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C725816-1D89-6A4F-8814-9F641231CE04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338371B8-D1DA-F1C6-C5D8-00A90E2E9A29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B4B0469B-5057-90FC-51BA-0BFDC43191ED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2961E08-59BD-5151-B862-012A2BC450A4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24FA2D6-4E2F-6114-0CB9-D6FAD6ABAC47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372284A-D9AB-AB82-DCAC-129324FE8BE8}"/>
              </a:ext>
            </a:extLst>
          </p:cNvPr>
          <p:cNvSpPr txBox="1"/>
          <p:nvPr/>
        </p:nvSpPr>
        <p:spPr>
          <a:xfrm>
            <a:off x="813522" y="3470168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Top Source Ips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09A850-6832-8E7C-D076-EDB89DD500EB}"/>
              </a:ext>
            </a:extLst>
          </p:cNvPr>
          <p:cNvSpPr txBox="1"/>
          <p:nvPr/>
        </p:nvSpPr>
        <p:spPr>
          <a:xfrm>
            <a:off x="1096104" y="3935229"/>
            <a:ext cx="10795822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table ranks the IP addresses that have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generated the most packets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on the network.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It allows you to identify which devices are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consuming the most bandwidth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7BA90B-AA90-39AC-B6B0-1F1AA15984D8}"/>
              </a:ext>
            </a:extLst>
          </p:cNvPr>
          <p:cNvSpPr txBox="1"/>
          <p:nvPr/>
        </p:nvSpPr>
        <p:spPr>
          <a:xfrm>
            <a:off x="809618" y="4716489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Recent Packets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6A317-C63D-0E62-47DB-542310B52DB5}"/>
              </a:ext>
            </a:extLst>
          </p:cNvPr>
          <p:cNvSpPr txBox="1"/>
          <p:nvPr/>
        </p:nvSpPr>
        <p:spPr>
          <a:xfrm>
            <a:off x="1092200" y="5181550"/>
            <a:ext cx="10554970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real-time log of captured packets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, displayed chronologically with details like source, destination, protocol, and size.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provides the most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granular and specific data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08DE9BE-4A79-DC0B-7737-009A051A90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8449"/>
          <a:stretch/>
        </p:blipFill>
        <p:spPr>
          <a:xfrm>
            <a:off x="898651" y="1539627"/>
            <a:ext cx="6113452" cy="1921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99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577D-D570-70EF-8910-E96F9C35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034C3E-CCBC-99CC-13D7-D683EFB7B62E}"/>
              </a:ext>
            </a:extLst>
          </p:cNvPr>
          <p:cNvSpPr txBox="1"/>
          <p:nvPr/>
        </p:nvSpPr>
        <p:spPr>
          <a:xfrm>
            <a:off x="3226880" y="2851886"/>
            <a:ext cx="5738241" cy="11542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r>
              <a:rPr lang="en-US" altLang="ko-KR" sz="24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Traffic Monitor - </a:t>
            </a:r>
          </a:p>
        </p:txBody>
      </p:sp>
    </p:spTree>
    <p:extLst>
      <p:ext uri="{BB962C8B-B14F-4D97-AF65-F5344CB8AC3E}">
        <p14:creationId xmlns:p14="http://schemas.microsoft.com/office/powerpoint/2010/main" val="24428218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EAF1D-3B48-25CF-F802-3DAE41251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F912171-253D-985F-27C0-C4C85DE46107}"/>
              </a:ext>
            </a:extLst>
          </p:cNvPr>
          <p:cNvGrpSpPr/>
          <p:nvPr/>
        </p:nvGrpSpPr>
        <p:grpSpPr>
          <a:xfrm>
            <a:off x="164064" y="1119724"/>
            <a:ext cx="8598136" cy="523220"/>
            <a:chOff x="164064" y="1119724"/>
            <a:chExt cx="8598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B59323-FB3D-1F62-1208-D56792778E44}"/>
                </a:ext>
              </a:extLst>
            </p:cNvPr>
            <p:cNvSpPr txBox="1"/>
            <p:nvPr/>
          </p:nvSpPr>
          <p:spPr>
            <a:xfrm>
              <a:off x="769499" y="1119724"/>
              <a:ext cx="7992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3986203D-1CA9-77A1-BB6E-F495580EC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501A845-4E19-C515-6216-AED4F0B4716E}"/>
              </a:ext>
            </a:extLst>
          </p:cNvPr>
          <p:cNvSpPr txBox="1"/>
          <p:nvPr/>
        </p:nvSpPr>
        <p:spPr>
          <a:xfrm>
            <a:off x="668702" y="1572160"/>
            <a:ext cx="10315528" cy="25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into specific network conversations for in-depth investigation and troubleshooting.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A6A0885-FA73-B060-E664-CBC76265F978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68F2FDE-6C77-02BA-1B45-84DB2F10814D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FEF70DF-A0C5-897F-056C-4A7F45FDB84F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CF3F2ED6-CC7E-BA78-8A35-C554F962435E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B2938C3-02AB-1174-EDD3-5867B7D8F040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C5380A-D0C9-4C8B-22D9-C1FB06C69E64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CDAC0212-A7AC-B72E-2895-78858BD47E3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381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B0149-955B-E9EB-648D-279D0F898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3772E4E-35BC-CC10-F6DC-32877008C3F3}"/>
              </a:ext>
            </a:extLst>
          </p:cNvPr>
          <p:cNvGrpSpPr/>
          <p:nvPr/>
        </p:nvGrpSpPr>
        <p:grpSpPr>
          <a:xfrm>
            <a:off x="164064" y="1119724"/>
            <a:ext cx="8598136" cy="523220"/>
            <a:chOff x="164064" y="1119724"/>
            <a:chExt cx="8598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5CC9DF-BB7D-43BF-ABBD-4B2C7EAB9817}"/>
                </a:ext>
              </a:extLst>
            </p:cNvPr>
            <p:cNvSpPr txBox="1"/>
            <p:nvPr/>
          </p:nvSpPr>
          <p:spPr>
            <a:xfrm>
              <a:off x="769499" y="1119724"/>
              <a:ext cx="7992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B651950-DD91-0438-4732-D1189F30A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51CE386-EC9E-187B-5B64-864285A417FB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18C0487-F38F-9B4E-9912-BA80C65B06A4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5BE06D01-6CA6-51BB-E9AC-9366F08610A4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82A3629A-0133-134E-CBED-CA31AF8BA28A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56C25C-B4D2-49E6-072A-856851E3E21A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F1363F-5E53-D4DB-C299-A616F2D01B18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0FCC481-B664-F717-1B58-15DD83CF759F}"/>
              </a:ext>
            </a:extLst>
          </p:cNvPr>
          <p:cNvSpPr txBox="1"/>
          <p:nvPr/>
        </p:nvSpPr>
        <p:spPr>
          <a:xfrm>
            <a:off x="813522" y="3618758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Filters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2949AC-2464-38A9-22AC-309C399DCFDA}"/>
              </a:ext>
            </a:extLst>
          </p:cNvPr>
          <p:cNvSpPr txBox="1"/>
          <p:nvPr/>
        </p:nvSpPr>
        <p:spPr>
          <a:xfrm>
            <a:off x="1096104" y="4083819"/>
            <a:ext cx="10795822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you to pinpoint specific data flows.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search by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Protocol, Source IP, and Destination IP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.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0B6253C-BDD6-54F6-988C-FCD4A68549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339" b="56680"/>
          <a:stretch/>
        </p:blipFill>
        <p:spPr>
          <a:xfrm>
            <a:off x="898651" y="1699647"/>
            <a:ext cx="8775921" cy="19213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EA23C9-6916-62A5-4FAD-8394E82A2125}"/>
              </a:ext>
            </a:extLst>
          </p:cNvPr>
          <p:cNvSpPr txBox="1"/>
          <p:nvPr/>
        </p:nvSpPr>
        <p:spPr>
          <a:xfrm>
            <a:off x="813522" y="4868857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Exporting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F4D3F2-689D-CBD8-BA26-73259EC5D649}"/>
              </a:ext>
            </a:extLst>
          </p:cNvPr>
          <p:cNvSpPr txBox="1"/>
          <p:nvPr/>
        </p:nvSpPr>
        <p:spPr>
          <a:xfrm>
            <a:off x="1096104" y="5333918"/>
            <a:ext cx="10795822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Enables offline analysis and reporting.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The “Export CSV” feature allows you to save your filtered results, making it easy to share data or perform further analysis in other tools like Excel.</a:t>
            </a:r>
          </a:p>
        </p:txBody>
      </p:sp>
    </p:spTree>
    <p:extLst>
      <p:ext uri="{BB962C8B-B14F-4D97-AF65-F5344CB8AC3E}">
        <p14:creationId xmlns:p14="http://schemas.microsoft.com/office/powerpoint/2010/main" val="8646862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EBF4-E9BB-B34F-9342-19284AEA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78A450-B13D-3BE8-66DD-40553E27673E}"/>
              </a:ext>
            </a:extLst>
          </p:cNvPr>
          <p:cNvSpPr txBox="1"/>
          <p:nvPr/>
        </p:nvSpPr>
        <p:spPr>
          <a:xfrm>
            <a:off x="3226880" y="2851886"/>
            <a:ext cx="5738241" cy="11542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Dashboard and Observation</a:t>
            </a:r>
          </a:p>
          <a:p>
            <a:pPr algn="ctr">
              <a:lnSpc>
                <a:spcPts val="4500"/>
              </a:lnSpc>
            </a:pPr>
            <a:r>
              <a:rPr lang="en-US" altLang="ko-KR" sz="24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- Admin Panel - </a:t>
            </a:r>
          </a:p>
        </p:txBody>
      </p:sp>
    </p:spTree>
    <p:extLst>
      <p:ext uri="{BB962C8B-B14F-4D97-AF65-F5344CB8AC3E}">
        <p14:creationId xmlns:p14="http://schemas.microsoft.com/office/powerpoint/2010/main" val="33715525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467C1-D0EC-8DED-3897-9DD7919A9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287C409-5544-7674-6B1F-B09E2DBE33C0}"/>
              </a:ext>
            </a:extLst>
          </p:cNvPr>
          <p:cNvGrpSpPr/>
          <p:nvPr/>
        </p:nvGrpSpPr>
        <p:grpSpPr>
          <a:xfrm>
            <a:off x="164064" y="1119724"/>
            <a:ext cx="8598136" cy="523220"/>
            <a:chOff x="164064" y="1119724"/>
            <a:chExt cx="8598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BF5663-1119-0E18-D27B-0DB42050B8C3}"/>
                </a:ext>
              </a:extLst>
            </p:cNvPr>
            <p:cNvSpPr txBox="1"/>
            <p:nvPr/>
          </p:nvSpPr>
          <p:spPr>
            <a:xfrm>
              <a:off x="769499" y="1119724"/>
              <a:ext cx="7992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4B33464-4C4E-1A18-F6DC-C03B1124B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B9D9E3F0-AB66-731F-1607-26EBFBFE3F1F}"/>
              </a:ext>
            </a:extLst>
          </p:cNvPr>
          <p:cNvSpPr txBox="1"/>
          <p:nvPr/>
        </p:nvSpPr>
        <p:spPr>
          <a:xfrm>
            <a:off x="668702" y="1572160"/>
            <a:ext cx="10315528" cy="2566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Traffic Monitor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page is an interactive tool for detailed, real-time analysis of captured packets.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Unlike the main dashboard which provides a summary, this view allows you to </a:t>
            </a:r>
            <a:r>
              <a:rPr lang="en-US" altLang="ko-KR" sz="2200" b="1" dirty="0">
                <a:latin typeface="SF싸락눈" panose="02000503000000000000" pitchFamily="2" charset="-127"/>
                <a:ea typeface="SF싸락눈" panose="02000503000000000000" pitchFamily="2" charset="-127"/>
              </a:rPr>
              <a:t>filter, search, and drill down </a:t>
            </a: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into specific network conversations for in-depth investigation and troubleshooting.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2E110F9-A301-4688-9E84-A93A39A5847F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95559B3-B96E-D721-C161-C9CC249ED33C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A1E81382-7D20-ACE6-8A62-FDBB81B059F6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BCBC948-D8BE-90BE-7E9C-90321F29C618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2878AC-3B52-C951-1575-9CF1B480E3B0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69EDBED-5AB8-33D0-D141-CE4BB45178BF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70605D18-9BDA-12E6-47F3-6060AB1BE2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02" b="27759"/>
          <a:stretch/>
        </p:blipFill>
        <p:spPr>
          <a:xfrm>
            <a:off x="5646548" y="3749436"/>
            <a:ext cx="6028841" cy="2911780"/>
          </a:xfrm>
          <a:prstGeom prst="rect">
            <a:avLst/>
          </a:prstGeom>
        </p:spPr>
      </p:pic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E424D849-6E75-E10E-5B93-36A92368E99A}"/>
              </a:ext>
            </a:extLst>
          </p:cNvPr>
          <p:cNvSpPr/>
          <p:nvPr/>
        </p:nvSpPr>
        <p:spPr>
          <a:xfrm>
            <a:off x="7829550" y="0"/>
            <a:ext cx="4362450" cy="1828800"/>
          </a:xfrm>
          <a:prstGeom prst="wedgeRectCallout">
            <a:avLst/>
          </a:prstGeom>
          <a:solidFill>
            <a:srgbClr val="F711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This slide is containing the same contents with the slide no. 52.</a:t>
            </a: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Please check them and correct them.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292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C472F-0B0E-2C13-A5D7-F3835BE8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DD8B6AFA-B36C-8334-2502-02C8C4F65549}"/>
              </a:ext>
            </a:extLst>
          </p:cNvPr>
          <p:cNvGrpSpPr/>
          <p:nvPr/>
        </p:nvGrpSpPr>
        <p:grpSpPr>
          <a:xfrm>
            <a:off x="164064" y="1119724"/>
            <a:ext cx="8652894" cy="523220"/>
            <a:chOff x="164064" y="1119724"/>
            <a:chExt cx="8652894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2A3129-B507-CFD0-DFA3-57227F146BDB}"/>
                </a:ext>
              </a:extLst>
            </p:cNvPr>
            <p:cNvSpPr txBox="1"/>
            <p:nvPr/>
          </p:nvSpPr>
          <p:spPr>
            <a:xfrm>
              <a:off x="769499" y="1119724"/>
              <a:ext cx="80474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Admin Panel System &amp; User Management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0A5228FE-79B6-ADEB-B643-D8E41E0E5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7EA39A51-1C7F-3259-5BD4-647765DE95EB}"/>
              </a:ext>
            </a:extLst>
          </p:cNvPr>
          <p:cNvSpPr txBox="1"/>
          <p:nvPr/>
        </p:nvSpPr>
        <p:spPr>
          <a:xfrm>
            <a:off x="668702" y="1572160"/>
            <a:ext cx="10315528" cy="10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The Admin Panel is the central hub for system configuration and security, separate from the traffic analysis dashboard.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2A6CD2-BED1-9D32-0BAE-73656BD22B43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41196DDC-4737-EFD1-A84C-9591B6EFBEED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41F151D5-D2CF-2986-9B85-540FF5E529EA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2E40A403-8C43-DA0D-D47C-974FC2C3AD0D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CA59A4A-7781-1467-63FF-48271915E419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42675D0-9135-79F4-FD17-21A4260D763D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8ABD1C30-0236-BE06-DBA8-88BFDB4B229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5"/>
          <a:stretch/>
        </p:blipFill>
        <p:spPr>
          <a:xfrm>
            <a:off x="1092200" y="2624583"/>
            <a:ext cx="5961682" cy="395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2360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D3A6-8F0A-9F67-5E18-DAC09D3BF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3415E6B-8CC0-0691-7677-91A289A1FA85}"/>
              </a:ext>
            </a:extLst>
          </p:cNvPr>
          <p:cNvGrpSpPr/>
          <p:nvPr/>
        </p:nvGrpSpPr>
        <p:grpSpPr>
          <a:xfrm>
            <a:off x="164064" y="1119724"/>
            <a:ext cx="8598136" cy="523220"/>
            <a:chOff x="164064" y="1119724"/>
            <a:chExt cx="8598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2EA1231-373F-1A21-D0E8-A4465AE554CC}"/>
                </a:ext>
              </a:extLst>
            </p:cNvPr>
            <p:cNvSpPr txBox="1"/>
            <p:nvPr/>
          </p:nvSpPr>
          <p:spPr>
            <a:xfrm>
              <a:off x="769499" y="1119724"/>
              <a:ext cx="7992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4C28060-E170-91D8-E243-4396D63E0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23B972D-3F8E-5555-9CEE-D269424363E3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7D0BD11F-A334-E460-4111-2FEC453BEFF2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7E32CD8E-DC70-B626-9ED3-498933AB8621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FEDA9CB-98FA-F7D6-F09C-EE746D04E025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AC8678E-E37E-0F69-AB1B-5922FC9CD66A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FF3CB9C-584E-892E-448C-8CFDDE8384E2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D7F5A5D-F35E-6130-0DD7-64A777EB7D0B}"/>
              </a:ext>
            </a:extLst>
          </p:cNvPr>
          <p:cNvSpPr txBox="1"/>
          <p:nvPr/>
        </p:nvSpPr>
        <p:spPr>
          <a:xfrm>
            <a:off x="813522" y="3618758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4E4F2E-5E0B-4D71-C5C0-95937C042F2C}"/>
              </a:ext>
            </a:extLst>
          </p:cNvPr>
          <p:cNvSpPr txBox="1"/>
          <p:nvPr/>
        </p:nvSpPr>
        <p:spPr>
          <a:xfrm>
            <a:off x="1096104" y="4083819"/>
            <a:ext cx="10795822" cy="77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Allows the administrator to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create new user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accounts.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define a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Username, Password, assign a Role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and set an </a:t>
            </a:r>
            <a:r>
              <a:rPr lang="en-US" altLang="ko-KR" b="1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expiration date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for the account.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D3105-50A8-561E-858C-1D6186C19604}"/>
              </a:ext>
            </a:extLst>
          </p:cNvPr>
          <p:cNvSpPr txBox="1"/>
          <p:nvPr/>
        </p:nvSpPr>
        <p:spPr>
          <a:xfrm>
            <a:off x="813522" y="4868857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User Management Table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B63E3F-BDF8-6474-4DF7-1217341B0BB7}"/>
              </a:ext>
            </a:extLst>
          </p:cNvPr>
          <p:cNvSpPr txBox="1"/>
          <p:nvPr/>
        </p:nvSpPr>
        <p:spPr>
          <a:xfrm>
            <a:off x="1096104" y="5333918"/>
            <a:ext cx="10795822" cy="417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Provides a comprehensive list of all existing users.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3EDF87A-9F23-D627-3F21-FC6658DC25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456" b="38471"/>
          <a:stretch/>
        </p:blipFill>
        <p:spPr>
          <a:xfrm>
            <a:off x="877987" y="1699647"/>
            <a:ext cx="8495138" cy="192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447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B98AF-B0EB-4F44-7E39-23896411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B343486-7BBD-EE74-3C28-8D273A7B5747}"/>
              </a:ext>
            </a:extLst>
          </p:cNvPr>
          <p:cNvGrpSpPr/>
          <p:nvPr/>
        </p:nvGrpSpPr>
        <p:grpSpPr>
          <a:xfrm>
            <a:off x="164064" y="1119724"/>
            <a:ext cx="8598136" cy="523220"/>
            <a:chOff x="164064" y="1119724"/>
            <a:chExt cx="8598136" cy="5232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2D7373-0B62-02CE-6681-F86686A6F384}"/>
                </a:ext>
              </a:extLst>
            </p:cNvPr>
            <p:cNvSpPr txBox="1"/>
            <p:nvPr/>
          </p:nvSpPr>
          <p:spPr>
            <a:xfrm>
              <a:off x="769499" y="1119724"/>
              <a:ext cx="799270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8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Traffic Monitor: Deep Packet Inspection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51BDD6C-68EB-D6BB-CD59-4BB0B97EE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DA3F86D2-893E-CD38-492D-F96DD809CE0D}"/>
              </a:ext>
            </a:extLst>
          </p:cNvPr>
          <p:cNvGrpSpPr/>
          <p:nvPr/>
        </p:nvGrpSpPr>
        <p:grpSpPr>
          <a:xfrm>
            <a:off x="-7110" y="6642020"/>
            <a:ext cx="12096046" cy="246221"/>
            <a:chOff x="-7110" y="6642020"/>
            <a:chExt cx="12096046" cy="24622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BB8CE5C-CC5A-3E23-994D-94D21BF6A2CB}"/>
                </a:ext>
              </a:extLst>
            </p:cNvPr>
            <p:cNvGrpSpPr/>
            <p:nvPr/>
          </p:nvGrpSpPr>
          <p:grpSpPr>
            <a:xfrm>
              <a:off x="-2" y="6681788"/>
              <a:ext cx="516733" cy="176212"/>
              <a:chOff x="-1" y="6743700"/>
              <a:chExt cx="416720" cy="114299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6919552-8CCF-3DB3-B024-031260BA1595}"/>
                  </a:ext>
                </a:extLst>
              </p:cNvPr>
              <p:cNvSpPr/>
              <p:nvPr/>
            </p:nvSpPr>
            <p:spPr>
              <a:xfrm>
                <a:off x="-1" y="6743700"/>
                <a:ext cx="52389" cy="114299"/>
              </a:xfrm>
              <a:prstGeom prst="rect">
                <a:avLst/>
              </a:prstGeom>
              <a:solidFill>
                <a:srgbClr val="1B7AA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85000C43-898C-2059-7EF0-B739547AADEF}"/>
                  </a:ext>
                </a:extLst>
              </p:cNvPr>
              <p:cNvSpPr/>
              <p:nvPr/>
            </p:nvSpPr>
            <p:spPr>
              <a:xfrm>
                <a:off x="52388" y="6743700"/>
                <a:ext cx="364331" cy="114299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solidFill>
                    <a:schemeClr val="tx1"/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D5C897F-DC2E-1D91-6A17-30316789851F}"/>
                </a:ext>
              </a:extLst>
            </p:cNvPr>
            <p:cNvSpPr txBox="1"/>
            <p:nvPr/>
          </p:nvSpPr>
          <p:spPr>
            <a:xfrm>
              <a:off x="-7110" y="6642020"/>
              <a:ext cx="58956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dirty="0">
                  <a:latin typeface="Pretendard SemiBold" panose="02000703000000020004" pitchFamily="2" charset="-127"/>
                  <a:ea typeface="Pretendard SemiBold" panose="02000703000000020004" pitchFamily="2" charset="-127"/>
                </a:rPr>
                <a:t>source</a:t>
              </a:r>
              <a:endParaRPr lang="ko-KR" altLang="en-US" sz="1000" dirty="0">
                <a:latin typeface="Pretendard SemiBold" panose="02000703000000020004" pitchFamily="2" charset="-127"/>
                <a:ea typeface="Pretendard SemiBold" panose="02000703000000020004" pitchFamily="2" charset="-12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A364466-4F7F-3108-8ECF-61BF3337108A}"/>
                </a:ext>
              </a:extLst>
            </p:cNvPr>
            <p:cNvSpPr txBox="1"/>
            <p:nvPr/>
          </p:nvSpPr>
          <p:spPr>
            <a:xfrm>
              <a:off x="468659" y="6651272"/>
              <a:ext cx="116202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Pretendard" panose="02000503000000020004" pitchFamily="2" charset="-127"/>
                  <a:ea typeface="Pretendard" panose="02000503000000020004" pitchFamily="2" charset="-127"/>
                </a:rPr>
                <a:t>Provided by instructor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BB78CCC-E636-AFC3-E060-2B1E6537BD97}"/>
              </a:ext>
            </a:extLst>
          </p:cNvPr>
          <p:cNvSpPr txBox="1"/>
          <p:nvPr/>
        </p:nvSpPr>
        <p:spPr>
          <a:xfrm>
            <a:off x="813522" y="3550178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RSA Key Information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74C07F-640B-5E24-0AF1-CB24309967B0}"/>
              </a:ext>
            </a:extLst>
          </p:cNvPr>
          <p:cNvSpPr txBox="1"/>
          <p:nvPr/>
        </p:nvSpPr>
        <p:spPr>
          <a:xfrm>
            <a:off x="1096104" y="4015239"/>
            <a:ext cx="10795822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Manages the public key for secure communication.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This is an advanced security feature, likely used to secure API connections or ensure encrypted communication between monitoring components.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606CE6-46E5-CAEF-0C91-5BDF47D9FD51}"/>
              </a:ext>
            </a:extLst>
          </p:cNvPr>
          <p:cNvSpPr txBox="1"/>
          <p:nvPr/>
        </p:nvSpPr>
        <p:spPr>
          <a:xfrm>
            <a:off x="813522" y="5063167"/>
            <a:ext cx="10399308" cy="45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30000"/>
              </a:lnSpc>
              <a:buClr>
                <a:srgbClr val="0076A3"/>
              </a:buClr>
              <a:buFont typeface="Pretendard Medium" panose="02000603000000020004" pitchFamily="2" charset="-127"/>
              <a:buChar char="⁃"/>
            </a:pPr>
            <a:r>
              <a:rPr lang="en-US" altLang="ko-KR" sz="2000" dirty="0">
                <a:solidFill>
                  <a:srgbClr val="C00000"/>
                </a:solidFill>
                <a:latin typeface="Pretendard Light" panose="02000403000000020004" pitchFamily="2" charset="-127"/>
                <a:ea typeface="Pretendard Light" panose="02000403000000020004" pitchFamily="2" charset="-127"/>
              </a:rPr>
              <a:t>System Statistics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022159-44CF-E58B-ACCC-880FDEA75FC5}"/>
              </a:ext>
            </a:extLst>
          </p:cNvPr>
          <p:cNvSpPr txBox="1"/>
          <p:nvPr/>
        </p:nvSpPr>
        <p:spPr>
          <a:xfrm>
            <a:off x="1096104" y="5528228"/>
            <a:ext cx="10795822" cy="1137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Offer a high-level overview of the system’s health.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quickly see the online status and statistics of the system.</a:t>
            </a:r>
          </a:p>
          <a:p>
            <a:pPr marL="342900" indent="-342900">
              <a:lnSpc>
                <a:spcPct val="130000"/>
              </a:lnSpc>
              <a:buClr>
                <a:srgbClr val="0076A3"/>
              </a:buClr>
              <a:buSzPct val="55000"/>
              <a:buFont typeface="Pretendard Medium" panose="02000603000000020004" pitchFamily="2" charset="-127"/>
              <a:buChar char="▷"/>
            </a:pP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</a:rPr>
              <a:t>You can also initialize the database.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2B6859-D6EA-C5AD-E70C-DBA5EFEA9D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529" b="-171"/>
          <a:stretch/>
        </p:blipFill>
        <p:spPr>
          <a:xfrm>
            <a:off x="809407" y="1631066"/>
            <a:ext cx="7072644" cy="192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517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451C3-97D3-44EA-65DF-8D1FC754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66D455-897D-479E-671E-BBE42D98DED1}"/>
              </a:ext>
            </a:extLst>
          </p:cNvPr>
          <p:cNvSpPr txBox="1"/>
          <p:nvPr/>
        </p:nvSpPr>
        <p:spPr>
          <a:xfrm>
            <a:off x="2727961" y="2845378"/>
            <a:ext cx="6736080" cy="11672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Advanced Suggestion</a:t>
            </a:r>
          </a:p>
          <a:p>
            <a:pPr algn="ctr">
              <a:lnSpc>
                <a:spcPts val="4500"/>
              </a:lnSpc>
            </a:pPr>
            <a:r>
              <a:rPr lang="en-US" altLang="ko-KR" sz="3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Intelligent Network Monitoring</a:t>
            </a:r>
          </a:p>
        </p:txBody>
      </p:sp>
    </p:spTree>
    <p:extLst>
      <p:ext uri="{BB962C8B-B14F-4D97-AF65-F5344CB8AC3E}">
        <p14:creationId xmlns:p14="http://schemas.microsoft.com/office/powerpoint/2010/main" val="2562271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AD32-D586-BA49-7D45-03F271F95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AD9C5BD1-FC72-79E6-9E3D-975D00F4EEDA}"/>
              </a:ext>
            </a:extLst>
          </p:cNvPr>
          <p:cNvGrpSpPr/>
          <p:nvPr/>
        </p:nvGrpSpPr>
        <p:grpSpPr>
          <a:xfrm>
            <a:off x="164064" y="1119724"/>
            <a:ext cx="12060366" cy="461665"/>
            <a:chOff x="164064" y="1119724"/>
            <a:chExt cx="12060366" cy="4616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E249979-9E62-B15D-E889-0A14F437A4B5}"/>
                </a:ext>
              </a:extLst>
            </p:cNvPr>
            <p:cNvSpPr txBox="1"/>
            <p:nvPr/>
          </p:nvSpPr>
          <p:spPr>
            <a:xfrm>
              <a:off x="769499" y="1119724"/>
              <a:ext cx="114549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latin typeface="말싸미815" panose="02020600000000000000" pitchFamily="18" charset="-127"/>
                  <a:ea typeface="말싸미815" panose="02020600000000000000" pitchFamily="18" charset="-127"/>
                </a:rPr>
                <a:t>Future Enhancements: Intelligent Network Monitoring with AI &amp; LLM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513CB1D-0125-8A9D-7ADE-98001D191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064" y="1309207"/>
              <a:ext cx="589560" cy="144254"/>
            </a:xfrm>
            <a:prstGeom prst="rect">
              <a:avLst/>
            </a:prstGeom>
          </p:spPr>
        </p:pic>
      </p:grpSp>
      <p:sp>
        <p:nvSpPr>
          <p:cNvPr id="1082" name="TextBox 1081">
            <a:extLst>
              <a:ext uri="{FF2B5EF4-FFF2-40B4-BE49-F238E27FC236}">
                <a16:creationId xmlns:a16="http://schemas.microsoft.com/office/drawing/2014/main" id="{551AE5F8-73B3-016D-DE82-04F4F6809069}"/>
              </a:ext>
            </a:extLst>
          </p:cNvPr>
          <p:cNvSpPr txBox="1"/>
          <p:nvPr/>
        </p:nvSpPr>
        <p:spPr>
          <a:xfrm>
            <a:off x="668702" y="1572160"/>
            <a:ext cx="11161348" cy="1551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Our current system provides a robust foundation for advanced network analysis.</a:t>
            </a:r>
          </a:p>
          <a:p>
            <a:pPr marL="269875" indent="-269875">
              <a:lnSpc>
                <a:spcPct val="150000"/>
              </a:lnSpc>
              <a:buBlip>
                <a:blip r:embed="rId4"/>
              </a:buBlip>
              <a:tabLst>
                <a:tab pos="269875" algn="l"/>
              </a:tabLst>
            </a:pPr>
            <a:r>
              <a:rPr lang="en-US" altLang="ko-KR" sz="2200" dirty="0">
                <a:latin typeface="SF싸락눈" panose="02000503000000000000" pitchFamily="2" charset="-127"/>
                <a:ea typeface="SF싸락눈" panose="02000503000000000000" pitchFamily="2" charset="-127"/>
              </a:rPr>
              <a:t>By integrating AI and Large Language Models (LLMs), we can unlock powerful new capabilities.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5AE58F6-520D-D60D-4A53-34956ECB734E}"/>
              </a:ext>
            </a:extLst>
          </p:cNvPr>
          <p:cNvGrpSpPr/>
          <p:nvPr/>
        </p:nvGrpSpPr>
        <p:grpSpPr>
          <a:xfrm>
            <a:off x="903939" y="3237116"/>
            <a:ext cx="4883488" cy="1197724"/>
            <a:chOff x="949659" y="2116976"/>
            <a:chExt cx="4883488" cy="1197724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DB67678-8AD9-5E0F-8319-133AFDB21BDD}"/>
                </a:ext>
              </a:extLst>
            </p:cNvPr>
            <p:cNvGrpSpPr/>
            <p:nvPr/>
          </p:nvGrpSpPr>
          <p:grpSpPr>
            <a:xfrm>
              <a:off x="949659" y="2116976"/>
              <a:ext cx="4883488" cy="1197724"/>
              <a:chOff x="949659" y="2116976"/>
              <a:chExt cx="4883488" cy="1197724"/>
            </a:xfrm>
          </p:grpSpPr>
          <p:sp>
            <p:nvSpPr>
              <p:cNvPr id="8" name="직사각형 214">
                <a:extLst>
                  <a:ext uri="{FF2B5EF4-FFF2-40B4-BE49-F238E27FC236}">
                    <a16:creationId xmlns:a16="http://schemas.microsoft.com/office/drawing/2014/main" id="{F847142B-618D-41B7-B18D-BCED53E6C7D9}"/>
                  </a:ext>
                </a:extLst>
              </p:cNvPr>
              <p:cNvSpPr/>
              <p:nvPr/>
            </p:nvSpPr>
            <p:spPr>
              <a:xfrm>
                <a:off x="949659" y="2116976"/>
                <a:ext cx="4883488" cy="1197724"/>
              </a:xfrm>
              <a:prstGeom prst="rect">
                <a:avLst/>
              </a:prstGeom>
              <a:solidFill>
                <a:srgbClr val="FFFFFF"/>
              </a:solidFill>
              <a:ln w="15240"/>
              <a:effectLst>
                <a:outerShdw dist="63500" dir="2700000" algn="tl" rotWithShape="0">
                  <a:srgbClr val="0076A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6D2E11-BD90-8ADA-63E1-B9068F4A11D5}"/>
                  </a:ext>
                </a:extLst>
              </p:cNvPr>
              <p:cNvSpPr txBox="1"/>
              <p:nvPr/>
            </p:nvSpPr>
            <p:spPr>
              <a:xfrm>
                <a:off x="1092200" y="2116976"/>
                <a:ext cx="3365024" cy="454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61950" indent="-361950">
                  <a:lnSpc>
                    <a:spcPct val="150000"/>
                  </a:lnSpc>
                  <a:buSzPct val="110000"/>
                  <a:buBlip>
                    <a:blip r:embed="rId5"/>
                  </a:buBlip>
                </a:pPr>
                <a:r>
                  <a:rPr lang="en-US" altLang="ko-KR" dirty="0">
                    <a:solidFill>
                      <a:srgbClr val="C00000"/>
                    </a:solidFill>
                    <a:latin typeface="SF싸락눈" panose="02000503000000000000" pitchFamily="2" charset="-127"/>
                    <a:ea typeface="SF싸락눈" panose="02000503000000000000" pitchFamily="2" charset="-127"/>
                  </a:rPr>
                  <a:t>Intelligent Threat Detection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B4C6D77-0286-959D-516E-D4D6725A1CE7}"/>
                </a:ext>
              </a:extLst>
            </p:cNvPr>
            <p:cNvSpPr txBox="1"/>
            <p:nvPr/>
          </p:nvSpPr>
          <p:spPr>
            <a:xfrm>
              <a:off x="1226522" y="2487361"/>
              <a:ext cx="3894735" cy="701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Anomaly Detection</a:t>
              </a:r>
            </a:p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Proactive Defense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52C1F50-EF62-4FCE-EDD6-A0803D458938}"/>
              </a:ext>
            </a:extLst>
          </p:cNvPr>
          <p:cNvGrpSpPr/>
          <p:nvPr/>
        </p:nvGrpSpPr>
        <p:grpSpPr>
          <a:xfrm>
            <a:off x="6096000" y="3237116"/>
            <a:ext cx="4915198" cy="1197724"/>
            <a:chOff x="949659" y="2116976"/>
            <a:chExt cx="4915198" cy="119772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E2CD9DF-B876-CAB5-A845-6CBA01AFF03A}"/>
                </a:ext>
              </a:extLst>
            </p:cNvPr>
            <p:cNvGrpSpPr/>
            <p:nvPr/>
          </p:nvGrpSpPr>
          <p:grpSpPr>
            <a:xfrm>
              <a:off x="949659" y="2116976"/>
              <a:ext cx="4915198" cy="1197724"/>
              <a:chOff x="949659" y="2116976"/>
              <a:chExt cx="4915198" cy="1197724"/>
            </a:xfrm>
          </p:grpSpPr>
          <p:sp>
            <p:nvSpPr>
              <p:cNvPr id="13" name="직사각형 214">
                <a:extLst>
                  <a:ext uri="{FF2B5EF4-FFF2-40B4-BE49-F238E27FC236}">
                    <a16:creationId xmlns:a16="http://schemas.microsoft.com/office/drawing/2014/main" id="{C6C890A1-6C5B-8987-DCD6-F9DC413BBE1F}"/>
                  </a:ext>
                </a:extLst>
              </p:cNvPr>
              <p:cNvSpPr/>
              <p:nvPr/>
            </p:nvSpPr>
            <p:spPr>
              <a:xfrm>
                <a:off x="949659" y="2116976"/>
                <a:ext cx="4915198" cy="1197724"/>
              </a:xfrm>
              <a:prstGeom prst="rect">
                <a:avLst/>
              </a:prstGeom>
              <a:solidFill>
                <a:srgbClr val="FFFFFF"/>
              </a:solidFill>
              <a:ln w="15240"/>
              <a:effectLst>
                <a:outerShdw dist="63500" dir="2700000" algn="tl" rotWithShape="0">
                  <a:srgbClr val="0076A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62B631-D6F2-5C69-B398-21345B637C09}"/>
                  </a:ext>
                </a:extLst>
              </p:cNvPr>
              <p:cNvSpPr txBox="1"/>
              <p:nvPr/>
            </p:nvSpPr>
            <p:spPr>
              <a:xfrm>
                <a:off x="1092200" y="2116976"/>
                <a:ext cx="3881191" cy="454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61950" indent="-361950">
                  <a:lnSpc>
                    <a:spcPct val="150000"/>
                  </a:lnSpc>
                  <a:buSzPct val="110000"/>
                  <a:buBlip>
                    <a:blip r:embed="rId5"/>
                  </a:buBlip>
                </a:pPr>
                <a:r>
                  <a:rPr lang="en-US" altLang="ko-KR" dirty="0">
                    <a:solidFill>
                      <a:srgbClr val="C00000"/>
                    </a:solidFill>
                    <a:latin typeface="SF싸락눈" panose="02000503000000000000" pitchFamily="2" charset="-127"/>
                    <a:ea typeface="SF싸락눈" panose="02000503000000000000" pitchFamily="2" charset="-127"/>
                  </a:rPr>
                  <a:t>Predictive Network Management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6ECF147-FCC0-E7AE-BCF5-B28B881355D7}"/>
                </a:ext>
              </a:extLst>
            </p:cNvPr>
            <p:cNvSpPr txBox="1"/>
            <p:nvPr/>
          </p:nvSpPr>
          <p:spPr>
            <a:xfrm>
              <a:off x="1226522" y="2487361"/>
              <a:ext cx="3894735" cy="701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Bandwidth Prediction</a:t>
              </a:r>
            </a:p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Automated Troubleshooting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2FA09DA-06A1-C49D-B2F3-0C73562F5086}"/>
              </a:ext>
            </a:extLst>
          </p:cNvPr>
          <p:cNvGrpSpPr/>
          <p:nvPr/>
        </p:nvGrpSpPr>
        <p:grpSpPr>
          <a:xfrm>
            <a:off x="911224" y="4686978"/>
            <a:ext cx="4876203" cy="1197724"/>
            <a:chOff x="949658" y="2116976"/>
            <a:chExt cx="4876203" cy="1197724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1704D62-8AFE-7DD6-8E56-637878997BA0}"/>
                </a:ext>
              </a:extLst>
            </p:cNvPr>
            <p:cNvGrpSpPr/>
            <p:nvPr/>
          </p:nvGrpSpPr>
          <p:grpSpPr>
            <a:xfrm>
              <a:off x="949658" y="2116976"/>
              <a:ext cx="4876203" cy="1197724"/>
              <a:chOff x="949658" y="2116976"/>
              <a:chExt cx="4876203" cy="1197724"/>
            </a:xfrm>
          </p:grpSpPr>
          <p:sp>
            <p:nvSpPr>
              <p:cNvPr id="18" name="직사각형 214">
                <a:extLst>
                  <a:ext uri="{FF2B5EF4-FFF2-40B4-BE49-F238E27FC236}">
                    <a16:creationId xmlns:a16="http://schemas.microsoft.com/office/drawing/2014/main" id="{3EF3C676-5ADD-2AF7-13C7-401062418E29}"/>
                  </a:ext>
                </a:extLst>
              </p:cNvPr>
              <p:cNvSpPr/>
              <p:nvPr/>
            </p:nvSpPr>
            <p:spPr>
              <a:xfrm>
                <a:off x="949658" y="2116976"/>
                <a:ext cx="4876203" cy="1197724"/>
              </a:xfrm>
              <a:prstGeom prst="rect">
                <a:avLst/>
              </a:prstGeom>
              <a:solidFill>
                <a:srgbClr val="FFFFFF"/>
              </a:solidFill>
              <a:ln w="15240"/>
              <a:effectLst>
                <a:outerShdw dist="63500" dir="2700000" algn="tl" rotWithShape="0">
                  <a:srgbClr val="0076A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F8D9FDD-C750-3602-C2DE-DCE8A061F38B}"/>
                  </a:ext>
                </a:extLst>
              </p:cNvPr>
              <p:cNvSpPr txBox="1"/>
              <p:nvPr/>
            </p:nvSpPr>
            <p:spPr>
              <a:xfrm>
                <a:off x="1092200" y="2116976"/>
                <a:ext cx="4229043" cy="454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61950" indent="-361950">
                  <a:lnSpc>
                    <a:spcPct val="150000"/>
                  </a:lnSpc>
                  <a:buSzPct val="110000"/>
                  <a:buBlip>
                    <a:blip r:embed="rId5"/>
                  </a:buBlip>
                </a:pPr>
                <a:r>
                  <a:rPr lang="en-US" altLang="ko-KR" dirty="0">
                    <a:solidFill>
                      <a:srgbClr val="C00000"/>
                    </a:solidFill>
                    <a:latin typeface="SF싸락눈" panose="02000503000000000000" pitchFamily="2" charset="-127"/>
                    <a:ea typeface="SF싸락눈" panose="02000503000000000000" pitchFamily="2" charset="-127"/>
                  </a:rPr>
                  <a:t>Content-Based Filtering &amp; Blocking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061828-7FFF-158B-4F5F-F8ABF7128E2C}"/>
                </a:ext>
              </a:extLst>
            </p:cNvPr>
            <p:cNvSpPr txBox="1"/>
            <p:nvPr/>
          </p:nvSpPr>
          <p:spPr>
            <a:xfrm>
              <a:off x="1226522" y="2487361"/>
              <a:ext cx="3894735" cy="701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Harmful Website Detection</a:t>
              </a:r>
            </a:p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Time-Based Access Control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7E2F7E8-26C8-2FF5-BD48-BC30F026E210}"/>
              </a:ext>
            </a:extLst>
          </p:cNvPr>
          <p:cNvGrpSpPr/>
          <p:nvPr/>
        </p:nvGrpSpPr>
        <p:grpSpPr>
          <a:xfrm>
            <a:off x="6103286" y="4686978"/>
            <a:ext cx="4900626" cy="1197724"/>
            <a:chOff x="949659" y="2116976"/>
            <a:chExt cx="4900626" cy="1197724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9ACD18F8-ED94-80AB-1012-CBCD485ACEFE}"/>
                </a:ext>
              </a:extLst>
            </p:cNvPr>
            <p:cNvGrpSpPr/>
            <p:nvPr/>
          </p:nvGrpSpPr>
          <p:grpSpPr>
            <a:xfrm>
              <a:off x="949659" y="2116976"/>
              <a:ext cx="4900626" cy="1197724"/>
              <a:chOff x="949659" y="2116976"/>
              <a:chExt cx="4900626" cy="1197724"/>
            </a:xfrm>
          </p:grpSpPr>
          <p:sp>
            <p:nvSpPr>
              <p:cNvPr id="23" name="직사각형 214">
                <a:extLst>
                  <a:ext uri="{FF2B5EF4-FFF2-40B4-BE49-F238E27FC236}">
                    <a16:creationId xmlns:a16="http://schemas.microsoft.com/office/drawing/2014/main" id="{28B0C06F-B561-AE19-47ED-7A2C1DBF8F61}"/>
                  </a:ext>
                </a:extLst>
              </p:cNvPr>
              <p:cNvSpPr/>
              <p:nvPr/>
            </p:nvSpPr>
            <p:spPr>
              <a:xfrm>
                <a:off x="949659" y="2116976"/>
                <a:ext cx="4900626" cy="1197724"/>
              </a:xfrm>
              <a:prstGeom prst="rect">
                <a:avLst/>
              </a:prstGeom>
              <a:solidFill>
                <a:srgbClr val="FFFFFF"/>
              </a:solidFill>
              <a:ln w="15240"/>
              <a:effectLst>
                <a:outerShdw dist="63500" dir="2700000" algn="tl" rotWithShape="0">
                  <a:srgbClr val="0076A3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Pretendard Light" panose="02000403000000020004" pitchFamily="2" charset="-127"/>
                  <a:ea typeface="Pretendard Light" panose="02000403000000020004" pitchFamily="2" charset="-127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44A8A3-EEDC-EB42-8E02-0AC86D06D019}"/>
                  </a:ext>
                </a:extLst>
              </p:cNvPr>
              <p:cNvSpPr txBox="1"/>
              <p:nvPr/>
            </p:nvSpPr>
            <p:spPr>
              <a:xfrm>
                <a:off x="1092200" y="2116976"/>
                <a:ext cx="4621778" cy="4548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61950" indent="-361950">
                  <a:lnSpc>
                    <a:spcPct val="150000"/>
                  </a:lnSpc>
                  <a:buSzPct val="110000"/>
                  <a:buBlip>
                    <a:blip r:embed="rId5"/>
                  </a:buBlip>
                </a:pPr>
                <a:r>
                  <a:rPr lang="en-US" altLang="ko-KR" dirty="0">
                    <a:solidFill>
                      <a:srgbClr val="C00000"/>
                    </a:solidFill>
                    <a:latin typeface="SF싸락눈" panose="02000503000000000000" pitchFamily="2" charset="-127"/>
                    <a:ea typeface="SF싸락눈" panose="02000503000000000000" pitchFamily="2" charset="-127"/>
                  </a:rPr>
                  <a:t>Enhanced Network Insights &amp; Reporting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D669B67-611D-147B-D3E5-9C38F69ABF40}"/>
                </a:ext>
              </a:extLst>
            </p:cNvPr>
            <p:cNvSpPr txBox="1"/>
            <p:nvPr/>
          </p:nvSpPr>
          <p:spPr>
            <a:xfrm>
              <a:off x="1226522" y="2487361"/>
              <a:ext cx="3894735" cy="701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User Behavior Analysis</a:t>
              </a:r>
            </a:p>
            <a:p>
              <a:pPr marL="180975" indent="-180975">
                <a:lnSpc>
                  <a:spcPct val="130000"/>
                </a:lnSpc>
                <a:buClr>
                  <a:srgbClr val="0076A3"/>
                </a:buClr>
                <a:buFont typeface="Pretendard Medium" panose="02000603000000020004" pitchFamily="2" charset="-127"/>
                <a:buChar char="⁃"/>
              </a:pPr>
              <a:r>
                <a:rPr lang="en-US" altLang="ko-KR" sz="1600" dirty="0">
                  <a:latin typeface="Pretendard Light" panose="02000403000000020004" pitchFamily="2" charset="-127"/>
                  <a:ea typeface="Pretendard Light" panose="02000403000000020004" pitchFamily="2" charset="-127"/>
                </a:rPr>
                <a:t>Natural Language Reporting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370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6006</TotalTime>
  <Words>2664</Words>
  <Application>Microsoft Office PowerPoint</Application>
  <PresentationFormat>와이드스크린</PresentationFormat>
  <Paragraphs>403</Paragraphs>
  <Slides>55</Slides>
  <Notes>52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6" baseType="lpstr">
      <vt:lpstr>ONE 모바일고딕 Regular</vt:lpstr>
      <vt:lpstr>Pretendard</vt:lpstr>
      <vt:lpstr>Pretendard Light</vt:lpstr>
      <vt:lpstr>Pretendard Medium</vt:lpstr>
      <vt:lpstr>Pretendard SemiBold</vt:lpstr>
      <vt:lpstr>SF싸락눈</vt:lpstr>
      <vt:lpstr>강원교육튼튼</vt:lpstr>
      <vt:lpstr>말싸미815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안수현</dc:creator>
  <cp:lastModifiedBy>oollccddss</cp:lastModifiedBy>
  <cp:revision>225</cp:revision>
  <dcterms:created xsi:type="dcterms:W3CDTF">2025-02-04T05:54:06Z</dcterms:created>
  <dcterms:modified xsi:type="dcterms:W3CDTF">2025-11-21T21:12:03Z</dcterms:modified>
</cp:coreProperties>
</file>