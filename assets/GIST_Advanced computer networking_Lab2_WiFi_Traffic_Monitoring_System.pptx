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76" r:id="rId3"/>
    <p:sldId id="377" r:id="rId4"/>
    <p:sldId id="465" r:id="rId5"/>
    <p:sldId id="379" r:id="rId6"/>
    <p:sldId id="493" r:id="rId7"/>
    <p:sldId id="458" r:id="rId8"/>
    <p:sldId id="459" r:id="rId9"/>
    <p:sldId id="462" r:id="rId10"/>
    <p:sldId id="494" r:id="rId11"/>
    <p:sldId id="495" r:id="rId12"/>
    <p:sldId id="496" r:id="rId13"/>
    <p:sldId id="382" r:id="rId14"/>
    <p:sldId id="507" r:id="rId15"/>
    <p:sldId id="509" r:id="rId16"/>
    <p:sldId id="510" r:id="rId17"/>
    <p:sldId id="511" r:id="rId18"/>
    <p:sldId id="514" r:id="rId19"/>
    <p:sldId id="508" r:id="rId20"/>
    <p:sldId id="515" r:id="rId21"/>
    <p:sldId id="516" r:id="rId22"/>
    <p:sldId id="518" r:id="rId23"/>
    <p:sldId id="519" r:id="rId24"/>
    <p:sldId id="525" r:id="rId25"/>
    <p:sldId id="522" r:id="rId26"/>
    <p:sldId id="523" r:id="rId27"/>
    <p:sldId id="524" r:id="rId28"/>
    <p:sldId id="526" r:id="rId29"/>
    <p:sldId id="520" r:id="rId30"/>
    <p:sldId id="521" r:id="rId31"/>
    <p:sldId id="460" r:id="rId32"/>
    <p:sldId id="489" r:id="rId33"/>
    <p:sldId id="480" r:id="rId34"/>
    <p:sldId id="49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463" r:id="rId45"/>
    <p:sldId id="467" r:id="rId46"/>
    <p:sldId id="474" r:id="rId47"/>
    <p:sldId id="475" r:id="rId48"/>
    <p:sldId id="416" r:id="rId49"/>
    <p:sldId id="468" r:id="rId50"/>
    <p:sldId id="469" r:id="rId51"/>
    <p:sldId id="476" r:id="rId52"/>
    <p:sldId id="470" r:id="rId53"/>
    <p:sldId id="471" r:id="rId54"/>
    <p:sldId id="477" r:id="rId55"/>
    <p:sldId id="473" r:id="rId56"/>
    <p:sldId id="418" r:id="rId57"/>
    <p:sldId id="478" r:id="rId58"/>
    <p:sldId id="479" r:id="rId59"/>
    <p:sldId id="390" r:id="rId60"/>
    <p:sldId id="466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1D641F3-A360-4323-B9E1-542034A8F4A9}">
          <p14:sldIdLst>
            <p14:sldId id="256"/>
            <p14:sldId id="376"/>
            <p14:sldId id="377"/>
            <p14:sldId id="465"/>
            <p14:sldId id="379"/>
            <p14:sldId id="493"/>
            <p14:sldId id="458"/>
            <p14:sldId id="459"/>
            <p14:sldId id="462"/>
            <p14:sldId id="494"/>
            <p14:sldId id="495"/>
            <p14:sldId id="496"/>
            <p14:sldId id="382"/>
            <p14:sldId id="507"/>
            <p14:sldId id="509"/>
            <p14:sldId id="510"/>
            <p14:sldId id="511"/>
            <p14:sldId id="514"/>
            <p14:sldId id="508"/>
            <p14:sldId id="515"/>
            <p14:sldId id="516"/>
            <p14:sldId id="518"/>
            <p14:sldId id="519"/>
            <p14:sldId id="525"/>
            <p14:sldId id="522"/>
            <p14:sldId id="523"/>
            <p14:sldId id="524"/>
            <p14:sldId id="526"/>
            <p14:sldId id="520"/>
            <p14:sldId id="521"/>
            <p14:sldId id="460"/>
            <p14:sldId id="489"/>
            <p14:sldId id="480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463"/>
            <p14:sldId id="467"/>
            <p14:sldId id="474"/>
            <p14:sldId id="475"/>
            <p14:sldId id="416"/>
            <p14:sldId id="468"/>
            <p14:sldId id="469"/>
            <p14:sldId id="476"/>
            <p14:sldId id="470"/>
            <p14:sldId id="471"/>
            <p14:sldId id="477"/>
            <p14:sldId id="473"/>
            <p14:sldId id="418"/>
            <p14:sldId id="478"/>
            <p14:sldId id="479"/>
            <p14:sldId id="390"/>
            <p14:sldId id="466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506" userDrawn="1">
          <p15:clr>
            <a:srgbClr val="A4A3A4"/>
          </p15:clr>
        </p15:guide>
        <p15:guide id="4" pos="688" userDrawn="1">
          <p15:clr>
            <a:srgbClr val="A4A3A4"/>
          </p15:clr>
        </p15:guide>
        <p15:guide id="5" orient="horz" pos="2183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  <p15:guide id="7" pos="91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9" pos="4362" userDrawn="1">
          <p15:clr>
            <a:srgbClr val="A4A3A4"/>
          </p15:clr>
        </p15:guide>
        <p15:guide id="10" pos="39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llccddss" initials="o" lastIdx="2" clrIdx="0">
    <p:extLst>
      <p:ext uri="{19B8F6BF-5375-455C-9EA6-DF929625EA0E}">
        <p15:presenceInfo xmlns:p15="http://schemas.microsoft.com/office/powerpoint/2012/main" userId="oollccdds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000A8"/>
    <a:srgbClr val="6868CB"/>
    <a:srgbClr val="D8EEF8"/>
    <a:srgbClr val="DCEAF7"/>
    <a:srgbClr val="CCEEC0"/>
    <a:srgbClr val="95DA7C"/>
    <a:srgbClr val="5BC436"/>
    <a:srgbClr val="439028"/>
    <a:srgbClr val="64B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5698" autoAdjust="0"/>
  </p:normalViewPr>
  <p:slideViewPr>
    <p:cSldViewPr snapToGrid="0">
      <p:cViewPr varScale="1">
        <p:scale>
          <a:sx n="81" d="100"/>
          <a:sy n="81" d="100"/>
        </p:scale>
        <p:origin x="64" y="924"/>
      </p:cViewPr>
      <p:guideLst>
        <p:guide pos="3840"/>
        <p:guide pos="393"/>
        <p:guide pos="506"/>
        <p:guide pos="688"/>
        <p:guide orient="horz" pos="2183"/>
        <p:guide orient="horz" pos="1706"/>
        <p:guide pos="914"/>
        <p:guide pos="234"/>
        <p:guide pos="4362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81DAD-29D0-4462-A015-AE6325E2BB42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AF40-D5B6-4D0F-960D-F93365424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1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05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Hello,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Anyohasye</a:t>
            </a:r>
            <a:r>
              <a:rPr lang="en-US" altLang="ko-KR" baseline="0" dirty="0"/>
              <a:t>, Namaste</a:t>
            </a:r>
          </a:p>
          <a:p>
            <a:r>
              <a:rPr lang="en-US" altLang="ko-KR" baseline="0" dirty="0"/>
              <a:t>This is Prof </a:t>
            </a:r>
            <a:r>
              <a:rPr lang="en-US" altLang="ko-KR" baseline="0" dirty="0" err="1"/>
              <a:t>Suman</a:t>
            </a:r>
            <a:r>
              <a:rPr lang="en-US" altLang="ko-KR" baseline="0" dirty="0"/>
              <a:t> Pandey from EECS department GIST</a:t>
            </a:r>
          </a:p>
          <a:p>
            <a:r>
              <a:rPr lang="en-US" altLang="ko-KR" baseline="0" dirty="0"/>
              <a:t>We are learning Advanced Computer Networking</a:t>
            </a:r>
          </a:p>
          <a:p>
            <a:r>
              <a:rPr lang="en-US" altLang="ko-KR" baseline="0" dirty="0"/>
              <a:t>We are now in third </a:t>
            </a:r>
            <a:r>
              <a:rPr lang="en-US" altLang="ko-KR" baseline="0" dirty="0" err="1"/>
              <a:t>modeul</a:t>
            </a:r>
            <a:r>
              <a:rPr lang="en-US" altLang="ko-KR" baseline="0" dirty="0"/>
              <a:t> </a:t>
            </a:r>
          </a:p>
          <a:p>
            <a:r>
              <a:rPr lang="en-US" altLang="ko-KR" baseline="0" dirty="0"/>
              <a:t>Focusing on SDN </a:t>
            </a:r>
            <a:r>
              <a:rPr lang="en-US" altLang="ko-KR" baseline="0" dirty="0" err="1"/>
              <a:t>archtesure</a:t>
            </a:r>
            <a:endParaRPr lang="en-US" altLang="ko-KR" baseline="0" dirty="0"/>
          </a:p>
          <a:p>
            <a:r>
              <a:rPr lang="en-US" altLang="ko-KR" baseline="0" dirty="0"/>
              <a:t>We learning about Generalized forwarding in </a:t>
            </a:r>
            <a:r>
              <a:rPr lang="en-US" altLang="ko-KR" baseline="0" dirty="0" err="1"/>
              <a:t>prevous</a:t>
            </a:r>
            <a:r>
              <a:rPr lang="en-US" altLang="ko-KR" baseline="0" dirty="0"/>
              <a:t> module</a:t>
            </a:r>
          </a:p>
          <a:p>
            <a:r>
              <a:rPr lang="en-US" altLang="ko-KR" baseline="0" dirty="0"/>
              <a:t>This module we focus on control plane</a:t>
            </a:r>
          </a:p>
          <a:p>
            <a:endParaRPr lang="en-US" altLang="ko-KR" baseline="0" dirty="0"/>
          </a:p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354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438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21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6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226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340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060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64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37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648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4ED5-F466-3F29-D980-CE6F3D57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76C51-7C5B-C5F8-D54D-93B038391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FAB06-EDD1-17E6-DA3D-070AE816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29FE-417B-0FDC-0D8F-60429C3BF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390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453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85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19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62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077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41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46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257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115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468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3200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3992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71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042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535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534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193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5351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5039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4208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54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2655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837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1793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4846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5343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6301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1443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6676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3614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3272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7904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1941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0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978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5673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4102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0717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9506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512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32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0749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F643-D3BA-F1B4-30F3-7B96D467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C91D9-E6B3-21CD-B4E9-B4A883AB9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3311C-B051-643A-4DFA-3C9692AD0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BACCE-2DF6-7A8D-30B2-6B1797122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3037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3421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5918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D509-CC25-0209-84A8-9691D9A7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8C064-95CD-70E3-2980-D4C2EFB6E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AAFA2-85E0-8E62-22E8-1598A5A80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32BD7-4CE0-E062-1CAE-6AE86291F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791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92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0F0B0-4140-1C76-63C4-54B46EEA8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8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컴퓨터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74971-476E-8EF1-582B-D144623DA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85EB3-79D9-E4EC-1CB5-14184EB266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187777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4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6" y="128179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EF6A61-7120-6522-097E-B94E4DDFA020}"/>
              </a:ext>
            </a:extLst>
          </p:cNvPr>
          <p:cNvSpPr/>
          <p:nvPr userDrawn="1"/>
        </p:nvSpPr>
        <p:spPr>
          <a:xfrm>
            <a:off x="849086" y="396784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Contents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9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라인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B4BB1E-5FC2-4309-21E8-F9848F263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0299A-5BC8-B86D-134D-A9FEF68090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28966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6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83FCF-F238-4D47-4122-4F4C44D34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FC8D51F-3D32-F0F8-0570-68313C57DE4C}"/>
              </a:ext>
            </a:extLst>
          </p:cNvPr>
          <p:cNvSpPr/>
          <p:nvPr userDrawn="1"/>
        </p:nvSpPr>
        <p:spPr>
          <a:xfrm>
            <a:off x="0" y="996043"/>
            <a:ext cx="1094017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800" b="1" spc="-90" baseline="0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Practice</a:t>
            </a:r>
            <a:endParaRPr lang="ko-KR" altLang="en-US" sz="1800" b="1" spc="-90" baseline="0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2A2541-53C8-F763-8B6D-11C8B14C8E56}"/>
              </a:ext>
            </a:extLst>
          </p:cNvPr>
          <p:cNvSpPr/>
          <p:nvPr userDrawn="1"/>
        </p:nvSpPr>
        <p:spPr>
          <a:xfrm>
            <a:off x="532559" y="65313"/>
            <a:ext cx="865414" cy="24492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 b="1" spc="-9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Session 1</a:t>
            </a:r>
            <a:endParaRPr lang="ko-KR" altLang="en-US" sz="1400" b="1" spc="-90" baseline="0" dirty="0">
              <a:solidFill>
                <a:schemeClr val="tx1">
                  <a:lumMod val="65000"/>
                  <a:lumOff val="3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3" name="그림 2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68EA07-8D41-6B73-BA20-44A98DF3B1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5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9BCE40-24B2-567B-53C1-3F06ED91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AEC81-E756-A201-4018-753B48C9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C2B6E-0DC8-95AB-AFCD-A8CA0BDA3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54C5D-CAEA-481F-9E3C-DFCA8FF6AF9F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08408-0AE4-9B6A-7D21-534892EB3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20A9D-C8DE-E46E-E422-1A617D89E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8E5E5-B2BF-4DA4-A3BB-10F5BC228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CB8ED-652E-2D80-DEF3-DA11E01FA3A9}"/>
              </a:ext>
            </a:extLst>
          </p:cNvPr>
          <p:cNvSpPr txBox="1"/>
          <p:nvPr/>
        </p:nvSpPr>
        <p:spPr>
          <a:xfrm>
            <a:off x="4165535" y="5194166"/>
            <a:ext cx="3860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53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064240" y="3136612"/>
            <a:ext cx="6063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1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8CDECC-A2E1-64A0-7BE1-13CAD404FB89}"/>
              </a:ext>
            </a:extLst>
          </p:cNvPr>
          <p:cNvSpPr txBox="1"/>
          <p:nvPr/>
        </p:nvSpPr>
        <p:spPr>
          <a:xfrm>
            <a:off x="1310052" y="1729183"/>
            <a:ext cx="9590749" cy="2180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Understand the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fundamental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principles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of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local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 err="1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WiFi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network traffic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Learn a practical method for capturing and analyzing data packets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Explore how traffic monitoring can be used for performance analysis, security, and general network insights</a:t>
            </a:r>
            <a:endParaRPr lang="en-US" altLang="ko-KR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ko-KR" sz="1200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DEAF6-38EC-FFA1-499C-CC432CE9CD1B}"/>
              </a:ext>
            </a:extLst>
          </p:cNvPr>
          <p:cNvSpPr txBox="1"/>
          <p:nvPr/>
        </p:nvSpPr>
        <p:spPr>
          <a:xfrm>
            <a:off x="1310052" y="4387230"/>
            <a:ext cx="9590749" cy="189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Introduction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Lab setup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Dashboard and observation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Advance suggestions</a:t>
            </a:r>
          </a:p>
        </p:txBody>
      </p:sp>
    </p:spTree>
    <p:extLst>
      <p:ext uri="{BB962C8B-B14F-4D97-AF65-F5344CB8AC3E}">
        <p14:creationId xmlns:p14="http://schemas.microsoft.com/office/powerpoint/2010/main" val="98672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998270" y="3146944"/>
            <a:ext cx="46087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Introduction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3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591515" cy="523220"/>
            <a:chOff x="164064" y="1119724"/>
            <a:chExt cx="759151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9860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Wi-Fi Traffic and Why Monitor it?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Wi-Fi Traffic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5915542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flow of data </a:t>
            </a:r>
            <a:r>
              <a:rPr lang="en-US" altLang="ko-KR" sz="2000" b="1" dirty="0"/>
              <a:t>packets</a:t>
            </a:r>
            <a:r>
              <a:rPr lang="en-US" altLang="ko-KR" sz="2000" dirty="0"/>
              <a:t> between your devices and the router.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It's the invisible conversation happening on your network.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5E6B7E9-8FDE-6AE1-1E77-3711B8FBEC11}"/>
              </a:ext>
            </a:extLst>
          </p:cNvPr>
          <p:cNvGrpSpPr>
            <a:grpSpLocks noChangeAspect="1"/>
          </p:cNvGrpSpPr>
          <p:nvPr/>
        </p:nvGrpSpPr>
        <p:grpSpPr>
          <a:xfrm>
            <a:off x="6191664" y="2583409"/>
            <a:ext cx="5897272" cy="2099010"/>
            <a:chOff x="7713517" y="3239137"/>
            <a:chExt cx="3524590" cy="1254504"/>
          </a:xfrm>
        </p:grpSpPr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85B0C6E9-8F9B-1495-930E-441826DDF2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44" t="29478" r="1879" b="39357"/>
            <a:stretch/>
          </p:blipFill>
          <p:spPr>
            <a:xfrm>
              <a:off x="7713517" y="3239137"/>
              <a:ext cx="3524590" cy="1254504"/>
            </a:xfrm>
            <a:prstGeom prst="rect">
              <a:avLst/>
            </a:prstGeom>
          </p:spPr>
        </p:pic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0AF62A3-C886-440E-E25F-B38905EEEEF5}"/>
                </a:ext>
              </a:extLst>
            </p:cNvPr>
            <p:cNvSpPr/>
            <p:nvPr/>
          </p:nvSpPr>
          <p:spPr>
            <a:xfrm flipV="1">
              <a:off x="8775164" y="3805609"/>
              <a:ext cx="1581873" cy="495116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087" h="5298098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2816497" y="3368066"/>
                  </a:lnTo>
                  <a:lnTo>
                    <a:pt x="3075366" y="5297441"/>
                  </a:lnTo>
                  <a:cubicBezTo>
                    <a:pt x="3209182" y="5308474"/>
                    <a:pt x="4071274" y="5176166"/>
                    <a:pt x="4205087" y="5173817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2" charset="-127"/>
                <a:ea typeface="+mn-ea"/>
                <a:cs typeface="+mn-cs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D0EBC2F-6381-4BD8-ECEE-2DFC10C639C7}"/>
                </a:ext>
              </a:extLst>
            </p:cNvPr>
            <p:cNvSpPr/>
            <p:nvPr/>
          </p:nvSpPr>
          <p:spPr>
            <a:xfrm flipV="1">
              <a:off x="8723807" y="3774486"/>
              <a:ext cx="1610101" cy="429159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1966050 w 4205087"/>
                <a:gd name="connsiteY5" fmla="*/ 3670548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173829"/>
                <a:gd name="connsiteX1" fmla="*/ 45066 w 4205087"/>
                <a:gd name="connsiteY1" fmla="*/ 51875 h 5173829"/>
                <a:gd name="connsiteX2" fmla="*/ 50473 w 4205087"/>
                <a:gd name="connsiteY2" fmla="*/ 0 h 5173829"/>
                <a:gd name="connsiteX3" fmla="*/ 2700435 w 4205087"/>
                <a:gd name="connsiteY3" fmla="*/ 1437372 h 5173829"/>
                <a:gd name="connsiteX4" fmla="*/ 2713991 w 4205087"/>
                <a:gd name="connsiteY4" fmla="*/ 1480228 h 5173829"/>
                <a:gd name="connsiteX5" fmla="*/ 1966050 w 4205087"/>
                <a:gd name="connsiteY5" fmla="*/ 3670548 h 5173829"/>
                <a:gd name="connsiteX6" fmla="*/ 2975313 w 4205087"/>
                <a:gd name="connsiteY6" fmla="*/ 4591659 h 5173829"/>
                <a:gd name="connsiteX7" fmla="*/ 4205087 w 4205087"/>
                <a:gd name="connsiteY7" fmla="*/ 5173817 h 5173829"/>
                <a:gd name="connsiteX0" fmla="*/ 0 w 4280125"/>
                <a:gd name="connsiteY0" fmla="*/ 256527 h 4592316"/>
                <a:gd name="connsiteX1" fmla="*/ 45066 w 4280125"/>
                <a:gd name="connsiteY1" fmla="*/ 51875 h 4592316"/>
                <a:gd name="connsiteX2" fmla="*/ 50473 w 4280125"/>
                <a:gd name="connsiteY2" fmla="*/ 0 h 4592316"/>
                <a:gd name="connsiteX3" fmla="*/ 2700435 w 4280125"/>
                <a:gd name="connsiteY3" fmla="*/ 1437372 h 4592316"/>
                <a:gd name="connsiteX4" fmla="*/ 2713991 w 4280125"/>
                <a:gd name="connsiteY4" fmla="*/ 1480228 h 4592316"/>
                <a:gd name="connsiteX5" fmla="*/ 1966050 w 4280125"/>
                <a:gd name="connsiteY5" fmla="*/ 3670548 h 4592316"/>
                <a:gd name="connsiteX6" fmla="*/ 2975313 w 4280125"/>
                <a:gd name="connsiteY6" fmla="*/ 4591659 h 4592316"/>
                <a:gd name="connsiteX7" fmla="*/ 4280125 w 4280125"/>
                <a:gd name="connsiteY7" fmla="*/ 4468037 h 45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0125" h="4592316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1966050" y="3670548"/>
                  </a:lnTo>
                  <a:lnTo>
                    <a:pt x="2975313" y="4591659"/>
                  </a:lnTo>
                  <a:cubicBezTo>
                    <a:pt x="3109129" y="4602692"/>
                    <a:pt x="4146312" y="4470386"/>
                    <a:pt x="4280125" y="4468037"/>
                  </a:cubicBezTo>
                </a:path>
              </a:pathLst>
            </a:custGeom>
            <a:noFill/>
            <a:ln w="31750">
              <a:solidFill>
                <a:srgbClr val="0000A8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en-US" dirty="0">
                <a:solidFill>
                  <a:srgbClr val="00B050"/>
                </a:solidFill>
                <a:latin typeface="Pretendard Light" panose="02000403000000020004" pitchFamily="2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408466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it?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576713"/>
            <a:ext cx="6851836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Security: </a:t>
            </a:r>
            <a:r>
              <a:rPr lang="en-US" altLang="ko-KR" sz="2000" dirty="0"/>
              <a:t>Detect threats &amp; unauthorized devices.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Performance: </a:t>
            </a:r>
            <a:r>
              <a:rPr lang="en-US" altLang="ko-KR" sz="2000" dirty="0"/>
              <a:t>Find bottlenecks &amp; manage bandwidth.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Troubleshooting: </a:t>
            </a:r>
            <a:r>
              <a:rPr lang="en-US" altLang="ko-KR" sz="2000" dirty="0"/>
              <a:t>Diagnose connection issues.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48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061387" cy="523220"/>
            <a:chOff x="164064" y="1119724"/>
            <a:chExt cx="806138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455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a packet? Anatomy of a Data Packet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0966249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Every piece of data is sent in a packet, which is like a digital envelop. Each packet has three main parts: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79107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1. Header (The “Mailing Label”)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319211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Contains 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control information for delivery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&amp; Destination Addresses / Protocol / Port Number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2DF6EE-1ADB-4B4A-B099-2C3FC110C0EF}"/>
              </a:ext>
            </a:extLst>
          </p:cNvPr>
          <p:cNvSpPr txBox="1"/>
          <p:nvPr/>
        </p:nvSpPr>
        <p:spPr>
          <a:xfrm>
            <a:off x="819555" y="411538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2. Payload (The “Letter”)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9355EA-ED25-4C8D-8D7A-7FE94C121ACB}"/>
              </a:ext>
            </a:extLst>
          </p:cNvPr>
          <p:cNvSpPr txBox="1"/>
          <p:nvPr/>
        </p:nvSpPr>
        <p:spPr>
          <a:xfrm>
            <a:off x="819555" y="451642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packets are delivering.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could be a piece of an email, part of a website, or a second of video.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B513C2-6BCB-4913-B331-582ED2D0FC94}"/>
              </a:ext>
            </a:extLst>
          </p:cNvPr>
          <p:cNvSpPr txBox="1"/>
          <p:nvPr/>
        </p:nvSpPr>
        <p:spPr>
          <a:xfrm>
            <a:off x="819555" y="543969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3. Trailer (The “Seal of Integrity”)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B705B-948D-4404-9EA9-70AA7A48A879}"/>
              </a:ext>
            </a:extLst>
          </p:cNvPr>
          <p:cNvSpPr txBox="1"/>
          <p:nvPr/>
        </p:nvSpPr>
        <p:spPr>
          <a:xfrm>
            <a:off x="819555" y="584073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Marks the end of the packet and contains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error-checking information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Frame Check Sequence (FCS): Verifies that the data arrived without being corrupted.</a:t>
            </a:r>
          </a:p>
        </p:txBody>
      </p:sp>
    </p:spTree>
    <p:extLst>
      <p:ext uri="{BB962C8B-B14F-4D97-AF65-F5344CB8AC3E}">
        <p14:creationId xmlns:p14="http://schemas.microsoft.com/office/powerpoint/2010/main" val="16902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5789546" cy="523220"/>
            <a:chOff x="164064" y="1119724"/>
            <a:chExt cx="578954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184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Central Role of the Router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A3BF91-D7F1-E229-0F74-006F3F2BD550}"/>
              </a:ext>
            </a:extLst>
          </p:cNvPr>
          <p:cNvSpPr txBox="1"/>
          <p:nvPr/>
        </p:nvSpPr>
        <p:spPr>
          <a:xfrm>
            <a:off x="668703" y="1572160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Router: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Network’s Gateway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F5E87A-9E05-460F-8E74-D3CFB6148868}"/>
              </a:ext>
            </a:extLst>
          </p:cNvPr>
          <p:cNvSpPr txBox="1"/>
          <p:nvPr/>
        </p:nvSpPr>
        <p:spPr>
          <a:xfrm>
            <a:off x="819555" y="2207751"/>
            <a:ext cx="9371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router is the </a:t>
            </a:r>
            <a:r>
              <a:rPr lang="en-US" altLang="ko-KR" sz="2000" b="1" dirty="0"/>
              <a:t>single gateway</a:t>
            </a:r>
            <a:r>
              <a:rPr lang="en-US" altLang="ko-KR" sz="2000" dirty="0"/>
              <a:t> for all network traffic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All data packets must pass through it, making it the ideal monitoring point.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Our system uses a standard home/office router-no special hardware needed</a:t>
            </a:r>
          </a:p>
        </p:txBody>
      </p:sp>
      <p:pic>
        <p:nvPicPr>
          <p:cNvPr id="54" name="Picture 5">
            <a:extLst>
              <a:ext uri="{FF2B5EF4-FFF2-40B4-BE49-F238E27FC236}">
                <a16:creationId xmlns:a16="http://schemas.microsoft.com/office/drawing/2014/main" id="{81D60DD7-4D3A-4092-B6F1-E48386426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010" y="4819087"/>
            <a:ext cx="609600" cy="400050"/>
          </a:xfrm>
          <a:prstGeom prst="rect">
            <a:avLst/>
          </a:prstGeom>
        </p:spPr>
      </p:pic>
      <p:pic>
        <p:nvPicPr>
          <p:cNvPr id="55" name="Picture 1613" descr="desktop_computer_stylized_medium">
            <a:extLst>
              <a:ext uri="{FF2B5EF4-FFF2-40B4-BE49-F238E27FC236}">
                <a16:creationId xmlns:a16="http://schemas.microsoft.com/office/drawing/2014/main" id="{6209CE85-C6CD-4E7F-A3BA-4DEBFF9E0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1554" y="468540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" name="Group 1507">
            <a:extLst>
              <a:ext uri="{FF2B5EF4-FFF2-40B4-BE49-F238E27FC236}">
                <a16:creationId xmlns:a16="http://schemas.microsoft.com/office/drawing/2014/main" id="{D9E0E42B-ACAE-4525-9248-76A44BB31342}"/>
              </a:ext>
            </a:extLst>
          </p:cNvPr>
          <p:cNvGrpSpPr>
            <a:grpSpLocks/>
          </p:cNvGrpSpPr>
          <p:nvPr/>
        </p:nvGrpSpPr>
        <p:grpSpPr bwMode="auto">
          <a:xfrm>
            <a:off x="7311872" y="4635060"/>
            <a:ext cx="427480" cy="711995"/>
            <a:chOff x="4140" y="429"/>
            <a:chExt cx="1425" cy="2396"/>
          </a:xfrm>
        </p:grpSpPr>
        <p:sp>
          <p:nvSpPr>
            <p:cNvPr id="59" name="Freeform 1508">
              <a:extLst>
                <a:ext uri="{FF2B5EF4-FFF2-40B4-BE49-F238E27FC236}">
                  <a16:creationId xmlns:a16="http://schemas.microsoft.com/office/drawing/2014/main" id="{44266FBD-8216-4777-9748-50289A4B9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Rectangle 1509">
              <a:extLst>
                <a:ext uri="{FF2B5EF4-FFF2-40B4-BE49-F238E27FC236}">
                  <a16:creationId xmlns:a16="http://schemas.microsoft.com/office/drawing/2014/main" id="{E3B82AE7-C8B5-42A1-ABD0-7105B1852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Freeform 1510">
              <a:extLst>
                <a:ext uri="{FF2B5EF4-FFF2-40B4-BE49-F238E27FC236}">
                  <a16:creationId xmlns:a16="http://schemas.microsoft.com/office/drawing/2014/main" id="{83FB8D73-5393-4CAA-8CD1-9861C3561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Freeform 1511">
              <a:extLst>
                <a:ext uri="{FF2B5EF4-FFF2-40B4-BE49-F238E27FC236}">
                  <a16:creationId xmlns:a16="http://schemas.microsoft.com/office/drawing/2014/main" id="{575D1F77-40A9-46AF-880E-E57BE9B74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Rectangle 1512">
              <a:extLst>
                <a:ext uri="{FF2B5EF4-FFF2-40B4-BE49-F238E27FC236}">
                  <a16:creationId xmlns:a16="http://schemas.microsoft.com/office/drawing/2014/main" id="{3EAF9E93-EA7C-4A84-B4BB-52496DA96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4" name="Group 1513">
              <a:extLst>
                <a:ext uri="{FF2B5EF4-FFF2-40B4-BE49-F238E27FC236}">
                  <a16:creationId xmlns:a16="http://schemas.microsoft.com/office/drawing/2014/main" id="{69EFEE31-B13C-456D-B7B2-BF9ACD9795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9" name="AutoShape 1514">
                <a:extLst>
                  <a:ext uri="{FF2B5EF4-FFF2-40B4-BE49-F238E27FC236}">
                    <a16:creationId xmlns:a16="http://schemas.microsoft.com/office/drawing/2014/main" id="{057C8C9D-C3C1-4943-BD3A-F7C5AECF9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0" name="AutoShape 1515">
                <a:extLst>
                  <a:ext uri="{FF2B5EF4-FFF2-40B4-BE49-F238E27FC236}">
                    <a16:creationId xmlns:a16="http://schemas.microsoft.com/office/drawing/2014/main" id="{9FA999AB-53EF-4C37-9193-9C6B9AB1F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5" name="Rectangle 1516">
              <a:extLst>
                <a:ext uri="{FF2B5EF4-FFF2-40B4-BE49-F238E27FC236}">
                  <a16:creationId xmlns:a16="http://schemas.microsoft.com/office/drawing/2014/main" id="{F584DE36-16C4-407B-87C5-19C4A57A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6" name="Group 1517">
              <a:extLst>
                <a:ext uri="{FF2B5EF4-FFF2-40B4-BE49-F238E27FC236}">
                  <a16:creationId xmlns:a16="http://schemas.microsoft.com/office/drawing/2014/main" id="{B28543C8-E6DF-4C67-BEEF-2A9DAE54F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" name="AutoShape 1518">
                <a:extLst>
                  <a:ext uri="{FF2B5EF4-FFF2-40B4-BE49-F238E27FC236}">
                    <a16:creationId xmlns:a16="http://schemas.microsoft.com/office/drawing/2014/main" id="{F4EE5587-166F-42D1-9D10-EB0E032CF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8" name="AutoShape 1519">
                <a:extLst>
                  <a:ext uri="{FF2B5EF4-FFF2-40B4-BE49-F238E27FC236}">
                    <a16:creationId xmlns:a16="http://schemas.microsoft.com/office/drawing/2014/main" id="{854211FD-2A8F-4856-99E0-216BC7D7D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7" name="Rectangle 1520">
              <a:extLst>
                <a:ext uri="{FF2B5EF4-FFF2-40B4-BE49-F238E27FC236}">
                  <a16:creationId xmlns:a16="http://schemas.microsoft.com/office/drawing/2014/main" id="{C45DF5A7-E180-41AC-AF8D-32BE73A03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" name="Rectangle 1521">
              <a:extLst>
                <a:ext uri="{FF2B5EF4-FFF2-40B4-BE49-F238E27FC236}">
                  <a16:creationId xmlns:a16="http://schemas.microsoft.com/office/drawing/2014/main" id="{7A3133D7-80E9-42AA-BA7E-38F03924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9" name="Group 1522">
              <a:extLst>
                <a:ext uri="{FF2B5EF4-FFF2-40B4-BE49-F238E27FC236}">
                  <a16:creationId xmlns:a16="http://schemas.microsoft.com/office/drawing/2014/main" id="{2A947A49-ABFD-4C03-9047-C7C8C9430A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" name="AutoShape 1523">
                <a:extLst>
                  <a:ext uri="{FF2B5EF4-FFF2-40B4-BE49-F238E27FC236}">
                    <a16:creationId xmlns:a16="http://schemas.microsoft.com/office/drawing/2014/main" id="{E88B9543-C8AF-41BF-87C7-ACE5143BE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6" name="AutoShape 1524">
                <a:extLst>
                  <a:ext uri="{FF2B5EF4-FFF2-40B4-BE49-F238E27FC236}">
                    <a16:creationId xmlns:a16="http://schemas.microsoft.com/office/drawing/2014/main" id="{F094EFFA-E2F2-4A3B-9B16-CBE02764C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" name="Freeform 1525">
              <a:extLst>
                <a:ext uri="{FF2B5EF4-FFF2-40B4-BE49-F238E27FC236}">
                  <a16:creationId xmlns:a16="http://schemas.microsoft.com/office/drawing/2014/main" id="{68D372CF-492D-4F72-A3D9-4A6F2F4ED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1" name="Group 1526">
              <a:extLst>
                <a:ext uri="{FF2B5EF4-FFF2-40B4-BE49-F238E27FC236}">
                  <a16:creationId xmlns:a16="http://schemas.microsoft.com/office/drawing/2014/main" id="{1571017A-F08C-49FF-8C85-9E5C4309E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3" name="AutoShape 1527">
                <a:extLst>
                  <a:ext uri="{FF2B5EF4-FFF2-40B4-BE49-F238E27FC236}">
                    <a16:creationId xmlns:a16="http://schemas.microsoft.com/office/drawing/2014/main" id="{C0106B11-A96C-48F3-8F31-011C0C727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" name="AutoShape 1528">
                <a:extLst>
                  <a:ext uri="{FF2B5EF4-FFF2-40B4-BE49-F238E27FC236}">
                    <a16:creationId xmlns:a16="http://schemas.microsoft.com/office/drawing/2014/main" id="{CF54B7C4-9810-4E02-8958-6940FEEE6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2" name="Rectangle 1529">
              <a:extLst>
                <a:ext uri="{FF2B5EF4-FFF2-40B4-BE49-F238E27FC236}">
                  <a16:creationId xmlns:a16="http://schemas.microsoft.com/office/drawing/2014/main" id="{1B691CD6-7C37-4102-80A3-108C7DFA9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" name="Freeform 1530">
              <a:extLst>
                <a:ext uri="{FF2B5EF4-FFF2-40B4-BE49-F238E27FC236}">
                  <a16:creationId xmlns:a16="http://schemas.microsoft.com/office/drawing/2014/main" id="{22C05427-7619-4BCB-8FA2-7F1951B1C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" name="Freeform 1531">
              <a:extLst>
                <a:ext uri="{FF2B5EF4-FFF2-40B4-BE49-F238E27FC236}">
                  <a16:creationId xmlns:a16="http://schemas.microsoft.com/office/drawing/2014/main" id="{AADA73D6-21E5-4321-A4B8-9D23B9F04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5" name="Oval 1532">
              <a:extLst>
                <a:ext uri="{FF2B5EF4-FFF2-40B4-BE49-F238E27FC236}">
                  <a16:creationId xmlns:a16="http://schemas.microsoft.com/office/drawing/2014/main" id="{F11D0C96-B038-4699-A126-5B8196460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" name="Freeform 1533">
              <a:extLst>
                <a:ext uri="{FF2B5EF4-FFF2-40B4-BE49-F238E27FC236}">
                  <a16:creationId xmlns:a16="http://schemas.microsoft.com/office/drawing/2014/main" id="{9C43520C-85ED-4A32-9D57-3549DD463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" name="AutoShape 1534">
              <a:extLst>
                <a:ext uri="{FF2B5EF4-FFF2-40B4-BE49-F238E27FC236}">
                  <a16:creationId xmlns:a16="http://schemas.microsoft.com/office/drawing/2014/main" id="{11B61675-2141-48EB-B986-864D0BE03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" name="AutoShape 1535">
              <a:extLst>
                <a:ext uri="{FF2B5EF4-FFF2-40B4-BE49-F238E27FC236}">
                  <a16:creationId xmlns:a16="http://schemas.microsoft.com/office/drawing/2014/main" id="{1AADEF39-C9EB-4C2B-A10F-174DAC2D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" name="Oval 1536">
              <a:extLst>
                <a:ext uri="{FF2B5EF4-FFF2-40B4-BE49-F238E27FC236}">
                  <a16:creationId xmlns:a16="http://schemas.microsoft.com/office/drawing/2014/main" id="{39CAFDF7-8BD9-4D24-8793-539701BA6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0" name="Oval 1537">
              <a:extLst>
                <a:ext uri="{FF2B5EF4-FFF2-40B4-BE49-F238E27FC236}">
                  <a16:creationId xmlns:a16="http://schemas.microsoft.com/office/drawing/2014/main" id="{95075D23-353B-423D-A0A4-D2D9B6D4F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1" name="Oval 1538">
              <a:extLst>
                <a:ext uri="{FF2B5EF4-FFF2-40B4-BE49-F238E27FC236}">
                  <a16:creationId xmlns:a16="http://schemas.microsoft.com/office/drawing/2014/main" id="{91824302-399C-4EF5-B829-8340EF84E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2" name="Rectangle 1539">
              <a:extLst>
                <a:ext uri="{FF2B5EF4-FFF2-40B4-BE49-F238E27FC236}">
                  <a16:creationId xmlns:a16="http://schemas.microsoft.com/office/drawing/2014/main" id="{EE88C537-FC50-4622-81A8-ABED467E6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91" name="Picture 1613" descr="desktop_computer_stylized_medium">
            <a:extLst>
              <a:ext uri="{FF2B5EF4-FFF2-40B4-BE49-F238E27FC236}">
                <a16:creationId xmlns:a16="http://schemas.microsoft.com/office/drawing/2014/main" id="{8ABFC4F6-70F2-4951-8819-1679B897B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28893" y="3803614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613" descr="desktop_computer_stylized_medium">
            <a:extLst>
              <a:ext uri="{FF2B5EF4-FFF2-40B4-BE49-F238E27FC236}">
                <a16:creationId xmlns:a16="http://schemas.microsoft.com/office/drawing/2014/main" id="{C7001C1E-9D71-4628-9F6F-DBDFE2C18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1553" y="5688604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8">
            <a:extLst>
              <a:ext uri="{FF2B5EF4-FFF2-40B4-BE49-F238E27FC236}">
                <a16:creationId xmlns:a16="http://schemas.microsoft.com/office/drawing/2014/main" id="{936DE468-B66C-4401-8B94-CF4AC9DC6F93}"/>
              </a:ext>
            </a:extLst>
          </p:cNvPr>
          <p:cNvSpPr>
            <a:spLocks/>
          </p:cNvSpPr>
          <p:nvPr/>
        </p:nvSpPr>
        <p:spPr bwMode="auto">
          <a:xfrm>
            <a:off x="4362933" y="5032056"/>
            <a:ext cx="906081" cy="93812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4" name="Freeform 18">
            <a:extLst>
              <a:ext uri="{FF2B5EF4-FFF2-40B4-BE49-F238E27FC236}">
                <a16:creationId xmlns:a16="http://schemas.microsoft.com/office/drawing/2014/main" id="{7FA32D9C-73A1-4992-8D45-942B687FC5CD}"/>
              </a:ext>
            </a:extLst>
          </p:cNvPr>
          <p:cNvSpPr>
            <a:spLocks/>
          </p:cNvSpPr>
          <p:nvPr/>
        </p:nvSpPr>
        <p:spPr bwMode="auto">
          <a:xfrm flipV="1">
            <a:off x="4362933" y="4131556"/>
            <a:ext cx="906081" cy="90049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5" name="Freeform 18">
            <a:extLst>
              <a:ext uri="{FF2B5EF4-FFF2-40B4-BE49-F238E27FC236}">
                <a16:creationId xmlns:a16="http://schemas.microsoft.com/office/drawing/2014/main" id="{6524F08D-C225-4D51-8C3D-029C6DF83F96}"/>
              </a:ext>
            </a:extLst>
          </p:cNvPr>
          <p:cNvSpPr>
            <a:spLocks/>
          </p:cNvSpPr>
          <p:nvPr/>
        </p:nvSpPr>
        <p:spPr bwMode="auto">
          <a:xfrm flipV="1">
            <a:off x="4362933" y="4983500"/>
            <a:ext cx="909081" cy="4571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2D60E3A-AC0E-4035-8967-FDF6D6FE97D9}"/>
              </a:ext>
            </a:extLst>
          </p:cNvPr>
          <p:cNvCxnSpPr>
            <a:cxnSpLocks/>
          </p:cNvCxnSpPr>
          <p:nvPr/>
        </p:nvCxnSpPr>
        <p:spPr>
          <a:xfrm>
            <a:off x="6096000" y="5013345"/>
            <a:ext cx="1136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018FF8F-B50A-4DCD-A971-BD693E4F2B80}"/>
              </a:ext>
            </a:extLst>
          </p:cNvPr>
          <p:cNvSpPr txBox="1"/>
          <p:nvPr/>
        </p:nvSpPr>
        <p:spPr>
          <a:xfrm>
            <a:off x="4607638" y="5257610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309475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264437" cy="523220"/>
            <a:chOff x="164064" y="1119724"/>
            <a:chExt cx="726443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659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How We Capture Traffic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Port Forwarding / Mirroring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A router feature that </a:t>
            </a:r>
            <a:r>
              <a:rPr lang="en-US" altLang="ko-KR" sz="2000" b="1" dirty="0"/>
              <a:t>duplicates all traffic</a:t>
            </a:r>
            <a:r>
              <a:rPr lang="en-US" altLang="ko-KR" sz="2000" dirty="0"/>
              <a:t> and sends a copy to our monitoring device.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278217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Packet Sniffing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4" y="3274224"/>
            <a:ext cx="10578547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Software on our monitoring device (e.g. Wireshark) that </a:t>
            </a:r>
            <a:r>
              <a:rPr lang="en-US" altLang="ko-KR" sz="2000" b="1" dirty="0"/>
              <a:t>captures and records</a:t>
            </a:r>
            <a:r>
              <a:rPr lang="en-US" altLang="ko-KR" sz="2000" dirty="0"/>
              <a:t> the copied packets for analysis.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50" name="Picture 1613" descr="desktop_computer_stylized_medium">
            <a:extLst>
              <a:ext uri="{FF2B5EF4-FFF2-40B4-BE49-F238E27FC236}">
                <a16:creationId xmlns:a16="http://schemas.microsoft.com/office/drawing/2014/main" id="{4A68F931-74D0-47DF-9473-FFBD9B50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47514" y="4293893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1613" descr="desktop_computer_stylized_medium">
            <a:extLst>
              <a:ext uri="{FF2B5EF4-FFF2-40B4-BE49-F238E27FC236}">
                <a16:creationId xmlns:a16="http://schemas.microsoft.com/office/drawing/2014/main" id="{BB0049BF-80A6-4D82-8090-6E8A0F89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67756" y="5062242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F00415D0-ADC7-414F-8525-330FEE2CC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4891" y="4518815"/>
            <a:ext cx="290200" cy="206042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90B2F158-CA5D-4341-A122-F93C64D40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134" y="5287164"/>
            <a:ext cx="290200" cy="206042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364FF028-9DBF-49FD-8A7E-380385EB2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134" y="6055514"/>
            <a:ext cx="290200" cy="206042"/>
          </a:xfrm>
          <a:prstGeom prst="rect">
            <a:avLst/>
          </a:prstGeom>
        </p:spPr>
      </p:pic>
      <p:pic>
        <p:nvPicPr>
          <p:cNvPr id="55" name="Picture 1613" descr="desktop_computer_stylized_medium">
            <a:extLst>
              <a:ext uri="{FF2B5EF4-FFF2-40B4-BE49-F238E27FC236}">
                <a16:creationId xmlns:a16="http://schemas.microsoft.com/office/drawing/2014/main" id="{A5465EB2-69CC-41E9-BEBE-076588552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25334" y="583059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5">
            <a:extLst>
              <a:ext uri="{FF2B5EF4-FFF2-40B4-BE49-F238E27FC236}">
                <a16:creationId xmlns:a16="http://schemas.microsoft.com/office/drawing/2014/main" id="{B9178673-771C-439E-8762-DEC569F16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149" y="4970393"/>
            <a:ext cx="609600" cy="40005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8C7D03E-3576-420A-914E-0E1D4145806C}"/>
              </a:ext>
            </a:extLst>
          </p:cNvPr>
          <p:cNvSpPr txBox="1"/>
          <p:nvPr/>
        </p:nvSpPr>
        <p:spPr>
          <a:xfrm>
            <a:off x="4330777" y="5408916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  <p:pic>
        <p:nvPicPr>
          <p:cNvPr id="59" name="그래픽 58">
            <a:extLst>
              <a:ext uri="{FF2B5EF4-FFF2-40B4-BE49-F238E27FC236}">
                <a16:creationId xmlns:a16="http://schemas.microsoft.com/office/drawing/2014/main" id="{12388441-86A3-42DD-8DF2-BB575C3A57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0195" y="4819147"/>
            <a:ext cx="540486" cy="55129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6C966F8-3CD2-47D7-8241-84244F74DFF6}"/>
              </a:ext>
            </a:extLst>
          </p:cNvPr>
          <p:cNvSpPr txBox="1"/>
          <p:nvPr/>
        </p:nvSpPr>
        <p:spPr>
          <a:xfrm>
            <a:off x="2635483" y="5409251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Internet</a:t>
            </a:r>
          </a:p>
        </p:txBody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323C6A55-CE23-4678-89EA-51165C4F71D7}"/>
              </a:ext>
            </a:extLst>
          </p:cNvPr>
          <p:cNvSpPr>
            <a:spLocks/>
          </p:cNvSpPr>
          <p:nvPr/>
        </p:nvSpPr>
        <p:spPr bwMode="auto">
          <a:xfrm flipV="1">
            <a:off x="5966949" y="5175988"/>
            <a:ext cx="1297601" cy="949367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Freeform 18">
            <a:extLst>
              <a:ext uri="{FF2B5EF4-FFF2-40B4-BE49-F238E27FC236}">
                <a16:creationId xmlns:a16="http://schemas.microsoft.com/office/drawing/2014/main" id="{86CE3A30-5AAF-4C31-AD72-DB46D2B38A2B}"/>
              </a:ext>
            </a:extLst>
          </p:cNvPr>
          <p:cNvSpPr>
            <a:spLocks/>
          </p:cNvSpPr>
          <p:nvPr/>
        </p:nvSpPr>
        <p:spPr bwMode="auto">
          <a:xfrm>
            <a:off x="5952263" y="4628840"/>
            <a:ext cx="1261338" cy="547151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" name="Freeform 18">
            <a:extLst>
              <a:ext uri="{FF2B5EF4-FFF2-40B4-BE49-F238E27FC236}">
                <a16:creationId xmlns:a16="http://schemas.microsoft.com/office/drawing/2014/main" id="{1AAC5A55-6064-4B53-B8D4-F49AAEE91C70}"/>
              </a:ext>
            </a:extLst>
          </p:cNvPr>
          <p:cNvSpPr>
            <a:spLocks/>
          </p:cNvSpPr>
          <p:nvPr/>
        </p:nvSpPr>
        <p:spPr bwMode="auto">
          <a:xfrm flipV="1">
            <a:off x="5952263" y="5175990"/>
            <a:ext cx="1312287" cy="194451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53BCDF3-8FCC-4570-B42F-357EA4E00B70}"/>
              </a:ext>
            </a:extLst>
          </p:cNvPr>
          <p:cNvCxnSpPr>
            <a:cxnSpLocks/>
          </p:cNvCxnSpPr>
          <p:nvPr/>
        </p:nvCxnSpPr>
        <p:spPr>
          <a:xfrm>
            <a:off x="4149270" y="5175991"/>
            <a:ext cx="78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D260F7A-0B08-47B2-B493-ED3EC75D5379}"/>
              </a:ext>
            </a:extLst>
          </p:cNvPr>
          <p:cNvSpPr txBox="1"/>
          <p:nvPr/>
        </p:nvSpPr>
        <p:spPr>
          <a:xfrm>
            <a:off x="4330777" y="5665048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Capture</a:t>
            </a:r>
          </a:p>
        </p:txBody>
      </p:sp>
    </p:spTree>
    <p:extLst>
      <p:ext uri="{BB962C8B-B14F-4D97-AF65-F5344CB8AC3E}">
        <p14:creationId xmlns:p14="http://schemas.microsoft.com/office/powerpoint/2010/main" val="1580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685083" cy="523220"/>
            <a:chOff x="164064" y="1119724"/>
            <a:chExt cx="868508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8079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Problem: Limitations of Commercial Routers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Closed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Most commercial routers run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vendor-specific OS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making it difficult to install custom software.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23E18-8534-4CC6-9A71-6DB8C43BD5FE}"/>
              </a:ext>
            </a:extLst>
          </p:cNvPr>
          <p:cNvSpPr txBox="1"/>
          <p:nvPr/>
        </p:nvSpPr>
        <p:spPr>
          <a:xfrm>
            <a:off x="668703" y="3070556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Solution: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 Mini-PC as a Network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“Checkpoint”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3562607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 a Linux-based Mini-PC to act as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sits between your internet source and the existing Wi-Fi router, inspecting all incoming and outgoing traffic</a:t>
            </a:r>
          </a:p>
        </p:txBody>
      </p:sp>
      <p:pic>
        <p:nvPicPr>
          <p:cNvPr id="13" name="Picture 1613" descr="desktop_computer_stylized_medium">
            <a:extLst>
              <a:ext uri="{FF2B5EF4-FFF2-40B4-BE49-F238E27FC236}">
                <a16:creationId xmlns:a16="http://schemas.microsoft.com/office/drawing/2014/main" id="{4782F5A6-7AA1-49B3-948C-7F2A72598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97194" y="4425412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613" descr="desktop_computer_stylized_medium">
            <a:extLst>
              <a:ext uri="{FF2B5EF4-FFF2-40B4-BE49-F238E27FC236}">
                <a16:creationId xmlns:a16="http://schemas.microsoft.com/office/drawing/2014/main" id="{332E2C2C-668C-4734-A228-DA789DE24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17436" y="519376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10E94EA-0EAB-483C-88CE-439EE94105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4571" y="4650334"/>
            <a:ext cx="290200" cy="206042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43D813F2-2FF7-41A9-9FF8-3333FB58A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814" y="5418683"/>
            <a:ext cx="290200" cy="206042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9BF5E932-9960-40B0-AFFA-997CED506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814" y="6187033"/>
            <a:ext cx="290200" cy="206042"/>
          </a:xfrm>
          <a:prstGeom prst="rect">
            <a:avLst/>
          </a:prstGeom>
        </p:spPr>
      </p:pic>
      <p:pic>
        <p:nvPicPr>
          <p:cNvPr id="18" name="Picture 1613" descr="desktop_computer_stylized_medium">
            <a:extLst>
              <a:ext uri="{FF2B5EF4-FFF2-40B4-BE49-F238E27FC236}">
                <a16:creationId xmlns:a16="http://schemas.microsoft.com/office/drawing/2014/main" id="{ADE8CD1F-32ED-433A-8DE8-926D758B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75014" y="5962110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13" descr="desktop_computer_stylized_medium">
            <a:extLst>
              <a:ext uri="{FF2B5EF4-FFF2-40B4-BE49-F238E27FC236}">
                <a16:creationId xmlns:a16="http://schemas.microsoft.com/office/drawing/2014/main" id="{26CBCA98-C7E0-4598-B6BC-C99ADA886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184" y="5580535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568C1446-7CE8-47CB-9AFB-DC4AC89A51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492" y="4591063"/>
            <a:ext cx="609600" cy="4000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F891F0-D27F-41A9-8E41-CF0CC7C9EB6D}"/>
              </a:ext>
            </a:extLst>
          </p:cNvPr>
          <p:cNvSpPr txBox="1"/>
          <p:nvPr/>
        </p:nvSpPr>
        <p:spPr>
          <a:xfrm>
            <a:off x="6134120" y="5029586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5EF9BF81-D4F8-4DC8-9CA5-82A1F78C19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3538" y="4439817"/>
            <a:ext cx="540486" cy="5512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2B4E4D-E7D7-4C1F-A3FD-7ACC99256E86}"/>
              </a:ext>
            </a:extLst>
          </p:cNvPr>
          <p:cNvSpPr txBox="1"/>
          <p:nvPr/>
        </p:nvSpPr>
        <p:spPr>
          <a:xfrm>
            <a:off x="4438826" y="5029921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Internet</a:t>
            </a:r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91AFFAE8-A302-4494-B1F7-2EB54834C72F}"/>
              </a:ext>
            </a:extLst>
          </p:cNvPr>
          <p:cNvSpPr>
            <a:spLocks/>
          </p:cNvSpPr>
          <p:nvPr/>
        </p:nvSpPr>
        <p:spPr bwMode="auto">
          <a:xfrm flipV="1">
            <a:off x="7605148" y="4796661"/>
            <a:ext cx="909082" cy="1460214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2D8538AD-B776-4605-BD71-72452E4D30C1}"/>
              </a:ext>
            </a:extLst>
          </p:cNvPr>
          <p:cNvSpPr>
            <a:spLocks/>
          </p:cNvSpPr>
          <p:nvPr/>
        </p:nvSpPr>
        <p:spPr bwMode="auto">
          <a:xfrm>
            <a:off x="7613067" y="4760359"/>
            <a:ext cx="850213" cy="4571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EAE2CADD-D635-4D65-A902-29EE685382B8}"/>
              </a:ext>
            </a:extLst>
          </p:cNvPr>
          <p:cNvSpPr>
            <a:spLocks/>
          </p:cNvSpPr>
          <p:nvPr/>
        </p:nvSpPr>
        <p:spPr bwMode="auto">
          <a:xfrm flipV="1">
            <a:off x="7605149" y="4797324"/>
            <a:ext cx="909081" cy="704638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410C86CD-332C-4D73-89C8-607E75047A05}"/>
              </a:ext>
            </a:extLst>
          </p:cNvPr>
          <p:cNvSpPr>
            <a:spLocks/>
          </p:cNvSpPr>
          <p:nvPr/>
        </p:nvSpPr>
        <p:spPr bwMode="auto">
          <a:xfrm flipH="1" flipV="1">
            <a:off x="7126662" y="5302432"/>
            <a:ext cx="45719" cy="295104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00AE739-FBC8-4213-A2E5-F2A917B7F6B6}"/>
              </a:ext>
            </a:extLst>
          </p:cNvPr>
          <p:cNvCxnSpPr>
            <a:cxnSpLocks/>
          </p:cNvCxnSpPr>
          <p:nvPr/>
        </p:nvCxnSpPr>
        <p:spPr>
          <a:xfrm>
            <a:off x="5952613" y="4796661"/>
            <a:ext cx="78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3B0CB4-969E-4690-B60D-FDB2B6421312}"/>
              </a:ext>
            </a:extLst>
          </p:cNvPr>
          <p:cNvSpPr txBox="1"/>
          <p:nvPr/>
        </p:nvSpPr>
        <p:spPr>
          <a:xfrm>
            <a:off x="5662972" y="6167423"/>
            <a:ext cx="2830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  <a:b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Mini-PC</a:t>
            </a:r>
          </a:p>
        </p:txBody>
      </p:sp>
    </p:spTree>
    <p:extLst>
      <p:ext uri="{BB962C8B-B14F-4D97-AF65-F5344CB8AC3E}">
        <p14:creationId xmlns:p14="http://schemas.microsoft.com/office/powerpoint/2010/main" val="236968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08975" cy="523220"/>
            <a:chOff x="164064" y="1119724"/>
            <a:chExt cx="580897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035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Foundations of Packet Capture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OSI Layers &amp; Capture 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2693999" y="5216075"/>
            <a:ext cx="9193199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lowest level we can access.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capture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raw, complete data packet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directly from the physical network hardware.</a:t>
            </a:r>
          </a:p>
        </p:txBody>
      </p:sp>
      <p:sp>
        <p:nvSpPr>
          <p:cNvPr id="14" name="Freeform 917">
            <a:extLst>
              <a:ext uri="{FF2B5EF4-FFF2-40B4-BE49-F238E27FC236}">
                <a16:creationId xmlns:a16="http://schemas.microsoft.com/office/drawing/2014/main" id="{A08B72BE-D30E-4020-B87A-CE9E04339B30}"/>
              </a:ext>
            </a:extLst>
          </p:cNvPr>
          <p:cNvSpPr>
            <a:spLocks/>
          </p:cNvSpPr>
          <p:nvPr/>
        </p:nvSpPr>
        <p:spPr bwMode="auto">
          <a:xfrm flipH="1">
            <a:off x="7100127" y="2859935"/>
            <a:ext cx="318926" cy="942919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  <a:gd name="connsiteX0" fmla="*/ 0 w 10140"/>
              <a:gd name="connsiteY0" fmla="*/ 9728 h 9728"/>
              <a:gd name="connsiteX1" fmla="*/ 10140 w 10140"/>
              <a:gd name="connsiteY1" fmla="*/ 0 h 9728"/>
              <a:gd name="connsiteX2" fmla="*/ 10140 w 10140"/>
              <a:gd name="connsiteY2" fmla="*/ 8670 h 9728"/>
              <a:gd name="connsiteX3" fmla="*/ 0 w 10140"/>
              <a:gd name="connsiteY3" fmla="*/ 9728 h 9728"/>
              <a:gd name="connsiteX0" fmla="*/ 319 w 10319"/>
              <a:gd name="connsiteY0" fmla="*/ 10000 h 10000"/>
              <a:gd name="connsiteX1" fmla="*/ 0 w 10319"/>
              <a:gd name="connsiteY1" fmla="*/ 9878 h 10000"/>
              <a:gd name="connsiteX2" fmla="*/ 10319 w 10319"/>
              <a:gd name="connsiteY2" fmla="*/ 0 h 10000"/>
              <a:gd name="connsiteX3" fmla="*/ 10319 w 10319"/>
              <a:gd name="connsiteY3" fmla="*/ 8912 h 10000"/>
              <a:gd name="connsiteX4" fmla="*/ 319 w 10319"/>
              <a:gd name="connsiteY4" fmla="*/ 10000 h 10000"/>
              <a:gd name="connsiteX0" fmla="*/ 2669 w 10319"/>
              <a:gd name="connsiteY0" fmla="*/ 10279 h 10279"/>
              <a:gd name="connsiteX1" fmla="*/ 0 w 10319"/>
              <a:gd name="connsiteY1" fmla="*/ 9878 h 10279"/>
              <a:gd name="connsiteX2" fmla="*/ 10319 w 10319"/>
              <a:gd name="connsiteY2" fmla="*/ 0 h 10279"/>
              <a:gd name="connsiteX3" fmla="*/ 10319 w 10319"/>
              <a:gd name="connsiteY3" fmla="*/ 8912 h 10279"/>
              <a:gd name="connsiteX4" fmla="*/ 2669 w 10319"/>
              <a:gd name="connsiteY4" fmla="*/ 10279 h 1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9" h="10279">
                <a:moveTo>
                  <a:pt x="2669" y="10279"/>
                </a:moveTo>
                <a:lnTo>
                  <a:pt x="0" y="9878"/>
                </a:lnTo>
                <a:lnTo>
                  <a:pt x="10319" y="0"/>
                </a:lnTo>
                <a:lnTo>
                  <a:pt x="10319" y="8912"/>
                </a:lnTo>
                <a:lnTo>
                  <a:pt x="2669" y="1027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99000">
                <a:schemeClr val="bg1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2" charset="-127"/>
              <a:ea typeface="+mn-ea"/>
              <a:cs typeface="+mn-cs"/>
            </a:endParaRPr>
          </a:p>
        </p:txBody>
      </p:sp>
      <p:graphicFrame>
        <p:nvGraphicFramePr>
          <p:cNvPr id="4" name="표 7">
            <a:extLst>
              <a:ext uri="{FF2B5EF4-FFF2-40B4-BE49-F238E27FC236}">
                <a16:creationId xmlns:a16="http://schemas.microsoft.com/office/drawing/2014/main" id="{270751F5-0B58-4D79-BF99-5FA33A969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52129"/>
              </p:ext>
            </p:extLst>
          </p:nvPr>
        </p:nvGraphicFramePr>
        <p:xfrm>
          <a:off x="825936" y="2323154"/>
          <a:ext cx="1666049" cy="419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049">
                  <a:extLst>
                    <a:ext uri="{9D8B030D-6E8A-4147-A177-3AD203B41FA5}">
                      <a16:colId xmlns:a16="http://schemas.microsoft.com/office/drawing/2014/main" val="3608686586"/>
                    </a:ext>
                  </a:extLst>
                </a:gridCol>
              </a:tblGrid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6978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Presentation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23564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Session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473478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Transport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9337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866261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Data Link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2610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Physical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99581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EF59626-68C0-4B53-BAF4-D7B75D7A9B14}"/>
              </a:ext>
            </a:extLst>
          </p:cNvPr>
          <p:cNvSpPr txBox="1"/>
          <p:nvPr/>
        </p:nvSpPr>
        <p:spPr>
          <a:xfrm>
            <a:off x="2575540" y="472079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Data Link Layer ( &lt;- Raw Socket Access)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0CDCA5-2FE0-4F1A-BE82-75DDA5BD604B}"/>
              </a:ext>
            </a:extLst>
          </p:cNvPr>
          <p:cNvSpPr txBox="1"/>
          <p:nvPr/>
        </p:nvSpPr>
        <p:spPr>
          <a:xfrm>
            <a:off x="2693999" y="3797169"/>
            <a:ext cx="9193199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contains the packet’s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IP address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port number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are designed to read and manipulate this critical information.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A849F6-B0D1-4488-B486-608FBB3E6588}"/>
              </a:ext>
            </a:extLst>
          </p:cNvPr>
          <p:cNvSpPr txBox="1"/>
          <p:nvPr/>
        </p:nvSpPr>
        <p:spPr>
          <a:xfrm>
            <a:off x="2575539" y="3301886"/>
            <a:ext cx="7937937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 &amp; Transport Layers ( &lt;-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Scapy’s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Primary Domain)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89346C-9A5A-4F97-B04A-2C3F4A6CD4BD}"/>
              </a:ext>
            </a:extLst>
          </p:cNvPr>
          <p:cNvSpPr txBox="1"/>
          <p:nvPr/>
        </p:nvSpPr>
        <p:spPr>
          <a:xfrm>
            <a:off x="2693999" y="2772411"/>
            <a:ext cx="9193199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being sent. (content of a website or a message)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034A20-3532-4806-96AF-C18CDF064728}"/>
              </a:ext>
            </a:extLst>
          </p:cNvPr>
          <p:cNvSpPr txBox="1"/>
          <p:nvPr/>
        </p:nvSpPr>
        <p:spPr>
          <a:xfrm>
            <a:off x="2575539" y="2277128"/>
            <a:ext cx="7937937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104880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9225552" cy="523220"/>
            <a:chOff x="164064" y="1119724"/>
            <a:chExt cx="922555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86201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Packet Capture Implementation: Modes &amp; Methods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005663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project support three distinct capture modes, defined by their scope and required permissions.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5E21BFDC-73D9-4BC7-B00D-0C7D59290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059187"/>
              </p:ext>
            </p:extLst>
          </p:nvPr>
        </p:nvGraphicFramePr>
        <p:xfrm>
          <a:off x="1015557" y="3027311"/>
          <a:ext cx="9886299" cy="297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5">
                  <a:extLst>
                    <a:ext uri="{9D8B030D-6E8A-4147-A177-3AD203B41FA5}">
                      <a16:colId xmlns:a16="http://schemas.microsoft.com/office/drawing/2014/main" val="3603267370"/>
                    </a:ext>
                  </a:extLst>
                </a:gridCol>
                <a:gridCol w="6424448">
                  <a:extLst>
                    <a:ext uri="{9D8B030D-6E8A-4147-A177-3AD203B41FA5}">
                      <a16:colId xmlns:a16="http://schemas.microsoft.com/office/drawing/2014/main" val="326667380"/>
                    </a:ext>
                  </a:extLst>
                </a:gridCol>
                <a:gridCol w="1442546">
                  <a:extLst>
                    <a:ext uri="{9D8B030D-6E8A-4147-A177-3AD203B41FA5}">
                      <a16:colId xmlns:a16="http://schemas.microsoft.com/office/drawing/2014/main" val="3609691158"/>
                    </a:ext>
                  </a:extLst>
                </a:gridCol>
              </a:tblGrid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Implementation Details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93803"/>
                  </a:ext>
                </a:extLst>
              </a:tr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Standard Mode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Captures only the traffic to and from the host machine.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009032"/>
                  </a:ext>
                </a:extLst>
              </a:tr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Mirror Mode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Captures all traffic on the network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Selectable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168620"/>
                  </a:ext>
                </a:extLst>
              </a:tr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Monitor Mode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Captures was 802.11 Wi-Fi frames (requires compatible hardware)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Selectable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803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246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005409" cy="523220"/>
            <a:chOff x="164064" y="1119724"/>
            <a:chExt cx="800540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3999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Our Project’s Capture Stack &amp; Configuration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Library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Layer: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libpcap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(Provides low-level access to the network interface)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 Binding: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2.5.0 (Powerful packet manipulation library)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Application layer: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PacketCapture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Class (Our custom implementation)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23E18-8534-4CC6-9A71-6DB8C43BD5FE}"/>
              </a:ext>
            </a:extLst>
          </p:cNvPr>
          <p:cNvSpPr txBox="1"/>
          <p:nvPr/>
        </p:nvSpPr>
        <p:spPr>
          <a:xfrm>
            <a:off x="668703" y="3519877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Default Configuration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4011928"/>
            <a:ext cx="10514752" cy="2448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Interface: enp2s0 (Example)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Mode: standard (Normal Mode)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BPF Filter: “net 192.162.100.0/24 or not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arp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not icmp6” (Example)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Captures traffic to or from the 192.168.100.x network, ignoring noisy ARP and ICMPv6 packets.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Buffer Size: 65,535 bytes (To capture max-sized packets)</a:t>
            </a:r>
          </a:p>
        </p:txBody>
      </p:sp>
    </p:spTree>
    <p:extLst>
      <p:ext uri="{BB962C8B-B14F-4D97-AF65-F5344CB8AC3E}">
        <p14:creationId xmlns:p14="http://schemas.microsoft.com/office/powerpoint/2010/main" val="4196937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2E98-5113-24D5-C0D0-14904ACE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>
            <a:extLst>
              <a:ext uri="{FF2B5EF4-FFF2-40B4-BE49-F238E27FC236}">
                <a16:creationId xmlns:a16="http://schemas.microsoft.com/office/drawing/2014/main" id="{3D33017E-8CE1-D6F5-987A-6D60DB173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25" y="1789408"/>
            <a:ext cx="10642922" cy="4730211"/>
          </a:xfrm>
          <a:prstGeom prst="rect">
            <a:avLst/>
          </a:prstGeom>
          <a:solidFill>
            <a:schemeClr val="bg1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E0CDEE-13BF-59B6-952B-01D7A6E1B8DA}"/>
              </a:ext>
            </a:extLst>
          </p:cNvPr>
          <p:cNvGrpSpPr/>
          <p:nvPr/>
        </p:nvGrpSpPr>
        <p:grpSpPr>
          <a:xfrm>
            <a:off x="164064" y="1119724"/>
            <a:ext cx="2330138" cy="523220"/>
            <a:chOff x="164064" y="1119724"/>
            <a:chExt cx="23301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F3DA96-0E6E-041F-2FDD-6BA9AF7E7D42}"/>
                </a:ext>
              </a:extLst>
            </p:cNvPr>
            <p:cNvSpPr txBox="1"/>
            <p:nvPr/>
          </p:nvSpPr>
          <p:spPr>
            <a:xfrm>
              <a:off x="769499" y="1119724"/>
              <a:ext cx="17247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Summary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F4DB096-46DF-135A-91EC-128FAA6C2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962389-167B-4270-9A29-B3C45EA5F81B}"/>
              </a:ext>
            </a:extLst>
          </p:cNvPr>
          <p:cNvSpPr txBox="1"/>
          <p:nvPr/>
        </p:nvSpPr>
        <p:spPr>
          <a:xfrm>
            <a:off x="808185" y="1768469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Traffic?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CBFD8-37B9-4699-BE25-AAE25EBF7119}"/>
              </a:ext>
            </a:extLst>
          </p:cNvPr>
          <p:cNvSpPr txBox="1"/>
          <p:nvPr/>
        </p:nvSpPr>
        <p:spPr>
          <a:xfrm>
            <a:off x="959037" y="2262166"/>
            <a:ext cx="10344394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We monitor the flow of data packets on a network to enhance security, improve performance, and troubleshoot issues.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0BAA9-6343-447B-8F7C-6AFDDD763347}"/>
              </a:ext>
            </a:extLst>
          </p:cNvPr>
          <p:cNvSpPr txBox="1"/>
          <p:nvPr/>
        </p:nvSpPr>
        <p:spPr>
          <a:xfrm>
            <a:off x="808185" y="3369914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Approach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28509-18BB-4589-8577-098D0B7AB8AF}"/>
              </a:ext>
            </a:extLst>
          </p:cNvPr>
          <p:cNvSpPr txBox="1"/>
          <p:nvPr/>
        </p:nvSpPr>
        <p:spPr>
          <a:xfrm>
            <a:off x="959037" y="3863611"/>
            <a:ext cx="10277234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Since commercial routers are closed systems, we use a Mini-PC as a transparent router to intercept and analyze all traffic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B88E71-8FEB-4F6F-8686-B3CF508D5CC8}"/>
              </a:ext>
            </a:extLst>
          </p:cNvPr>
          <p:cNvSpPr txBox="1"/>
          <p:nvPr/>
        </p:nvSpPr>
        <p:spPr>
          <a:xfrm>
            <a:off x="808185" y="4957537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Method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CF3FF-0F6E-4E3E-8639-6798DA04B35E}"/>
              </a:ext>
            </a:extLst>
          </p:cNvPr>
          <p:cNvSpPr txBox="1"/>
          <p:nvPr/>
        </p:nvSpPr>
        <p:spPr>
          <a:xfrm>
            <a:off x="959036" y="5451234"/>
            <a:ext cx="1021007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setup allows us to duplicate (Mirroring) and capture (Sniffing) packets for detailed analysis.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237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952249" y="3146944"/>
            <a:ext cx="27008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1. MongoDB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869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964047" cy="523220"/>
            <a:chOff x="164064" y="1119724"/>
            <a:chExt cx="39640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3586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MongoDB?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488171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MongoDB is a modern type of database known as a </a:t>
            </a:r>
            <a:r>
              <a:rPr lang="en-US" altLang="ko-KR" sz="2000" b="1" dirty="0"/>
              <a:t>NoSQL database</a:t>
            </a:r>
            <a:r>
              <a:rPr lang="en-US" altLang="ko-KR" sz="2000" dirty="0"/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/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Unlike traditional databases that use tables with rows and columns (like an Excel spreadsheet), MongoDB stores in a more flexible format.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 uses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JSON-like documents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which allows it to store complex data structures easily and naturally.</a:t>
            </a:r>
          </a:p>
        </p:txBody>
      </p:sp>
      <p:pic>
        <p:nvPicPr>
          <p:cNvPr id="1026" name="Picture 2" descr="MongoDB - 나무위키">
            <a:extLst>
              <a:ext uri="{FF2B5EF4-FFF2-40B4-BE49-F238E27FC236}">
                <a16:creationId xmlns:a16="http://schemas.microsoft.com/office/drawing/2014/main" id="{E83B6F81-B5C2-4CDF-88DE-96B5907C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656" y="976425"/>
            <a:ext cx="425767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944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551311" cy="523220"/>
            <a:chOff x="164064" y="1119724"/>
            <a:chExt cx="755131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945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Documents &amp; Collections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Documents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basic unit of data in MongoDB.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document is a set of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field-and-value pairs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very similar to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 object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Example: { “</a:t>
            </a:r>
            <a:r>
              <a:rPr lang="en-US" altLang="ko-KR" sz="2000" i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source_ip</a:t>
            </a: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”: “192.168.1.10”, “protocol”: “TCP”, “size”: 64 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408466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Collections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576713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A group of documents.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similar to a table in a traditional database.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However, a single collection can hold documents with different structures.</a:t>
            </a:r>
          </a:p>
        </p:txBody>
      </p:sp>
    </p:spTree>
    <p:extLst>
      <p:ext uri="{BB962C8B-B14F-4D97-AF65-F5344CB8AC3E}">
        <p14:creationId xmlns:p14="http://schemas.microsoft.com/office/powerpoint/2010/main" val="318884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911136" cy="523220"/>
            <a:chOff x="164064" y="1119724"/>
            <a:chExt cx="6911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305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Key Advantage: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Schemaless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Flexibility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most significant advantage for our project is that MongoDB is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schemaless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means that documents within the same collection do not need to have the same fields or structure.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749736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is this important for us?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241787"/>
            <a:ext cx="10206408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Network packets are not all the same. </a:t>
            </a:r>
            <a:r>
              <a:rPr lang="en-US" altLang="ko-KR" sz="2000" dirty="0"/>
              <a:t>A TCP packet has different information than a UDP packet.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 allows us to store all these different types of packets in the same packet collection without any issues.</a:t>
            </a:r>
          </a:p>
        </p:txBody>
      </p:sp>
    </p:spTree>
    <p:extLst>
      <p:ext uri="{BB962C8B-B14F-4D97-AF65-F5344CB8AC3E}">
        <p14:creationId xmlns:p14="http://schemas.microsoft.com/office/powerpoint/2010/main" val="733131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013647" cy="523220"/>
            <a:chOff x="164064" y="1119724"/>
            <a:chExt cx="60136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4082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Why MongoDB for Our Project?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chose MongoDB for our traffic monitoring system for two main reasons: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16313-F033-4D7E-A52E-35FF634F3741}"/>
              </a:ext>
            </a:extLst>
          </p:cNvPr>
          <p:cNvSpPr txBox="1"/>
          <p:nvPr/>
        </p:nvSpPr>
        <p:spPr>
          <a:xfrm>
            <a:off x="668703" y="431857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4810629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As we capture more and more network traffic, our database will grow very large.</a:t>
            </a:r>
            <a:br>
              <a:rPr lang="en-US" altLang="ko-KR" sz="2000" dirty="0"/>
            </a:br>
            <a:r>
              <a:rPr lang="en-US" altLang="ko-KR" sz="2000" dirty="0"/>
              <a:t>MongoDB an easily scale across multiple servers to handle massive amounts of data without slowing down.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33560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High Performance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827653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system needs to capture and save thousands of packets per second. MongoDB is designed to handle this high volume of write operations very quickly and efficiently.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83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420278" y="3146944"/>
            <a:ext cx="3764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2. Security for Web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6768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397581" cy="523220"/>
            <a:chOff x="164064" y="1119724"/>
            <a:chExt cx="539758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7921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Problem: Insecure HTTP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standard protocol for the web is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HTTP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(Hypertext Transfer Protocol).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biggest problem with HTTP is that all data is sent in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plaintext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means that if </a:t>
            </a:r>
            <a:r>
              <a:rPr lang="en-US" altLang="ko-KR" sz="2000" b="1" dirty="0"/>
              <a:t>someone intercepts the traffic</a:t>
            </a:r>
            <a:r>
              <a:rPr lang="en-US" altLang="ko-KR" sz="2000" dirty="0"/>
              <a:t> between your browser and the server, </a:t>
            </a:r>
            <a:r>
              <a:rPr lang="en-US" altLang="ko-KR" sz="2000" b="1" dirty="0"/>
              <a:t>they can read everything</a:t>
            </a:r>
            <a:r>
              <a:rPr lang="en-US" altLang="ko-KR" sz="2000" dirty="0"/>
              <a:t>—usernames, passwords, and all other sensitive information. This is not secure.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38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264770" cy="523220"/>
            <a:chOff x="164064" y="1119724"/>
            <a:chExt cx="426477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6593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Solutions: HTTPS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To solve this problem, we use HTTPS (Hypertext Transfer Protocol Secure)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HTTPS is simply a secure layer added to HTTP. It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encrypts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all the 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</a:t>
            </a:r>
            <a:r>
              <a:rPr lang="en-US" altLang="ko-KR" sz="2000" dirty="0"/>
              <a:t>encryption ensures that even if the traffic is intercepted, it just looks like random, scrambled nonsense to anyone without the decryption key. It protects the </a:t>
            </a:r>
            <a:r>
              <a:rPr lang="en-US" altLang="ko-KR" sz="2000" b="1" dirty="0"/>
              <a:t>confidentiality</a:t>
            </a:r>
            <a:r>
              <a:rPr lang="en-US" altLang="ko-KR" sz="2000" dirty="0"/>
              <a:t> and </a:t>
            </a:r>
            <a:r>
              <a:rPr lang="en-US" altLang="ko-KR" sz="2000" b="1" dirty="0"/>
              <a:t>integrity</a:t>
            </a:r>
            <a:r>
              <a:rPr lang="en-US" altLang="ko-KR" sz="2000" dirty="0"/>
              <a:t> of our data.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2202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769447" cy="523220"/>
            <a:chOff x="164064" y="1119724"/>
            <a:chExt cx="77694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1640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How to Enable HTTPS: SSL/TLS Certificates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To use HTTPS, a web server needs a digital certificate called an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SSL/TLS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Certificate.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16313-F033-4D7E-A52E-35FF634F3741}"/>
              </a:ext>
            </a:extLst>
          </p:cNvPr>
          <p:cNvSpPr txBox="1"/>
          <p:nvPr/>
        </p:nvSpPr>
        <p:spPr>
          <a:xfrm>
            <a:off x="668703" y="496716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Who issues them?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5459214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For public websites, these certificates are issued by trusted </a:t>
            </a:r>
            <a:r>
              <a:rPr lang="en-US" altLang="ko-KR" sz="2000" b="1" dirty="0"/>
              <a:t>Certificate Authorities (CAs)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33560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it does: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827653"/>
            <a:ext cx="10206408" cy="20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Authentication: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proves the identity of the server, so you know you are connecting to the correct website and not an imposter.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Encryption: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contains the public key that the browser uses to set up a secure, encrypted channel with the server.</a:t>
            </a:r>
          </a:p>
        </p:txBody>
      </p:sp>
    </p:spTree>
    <p:extLst>
      <p:ext uri="{BB962C8B-B14F-4D97-AF65-F5344CB8AC3E}">
        <p14:creationId xmlns:p14="http://schemas.microsoft.com/office/powerpoint/2010/main" val="1793204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669741" cy="523220"/>
            <a:chOff x="164064" y="1119724"/>
            <a:chExt cx="766974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0643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HTTPS in Our Lab: Self-Signed Certificates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 our lab, we don’t </a:t>
            </a:r>
            <a:r>
              <a:rPr lang="en-US" altLang="ko-KR" sz="2000" dirty="0"/>
              <a:t>need a certificate from a public CA. Instead, we generate a </a:t>
            </a:r>
            <a:r>
              <a:rPr lang="en-US" altLang="ko-KR" sz="2000" b="1" dirty="0"/>
              <a:t>self-signed certificate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5459214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This warning is </a:t>
            </a:r>
            <a:r>
              <a:rPr lang="en-US" altLang="ko-KR" sz="2000" b="1" dirty="0"/>
              <a:t>expected</a:t>
            </a:r>
            <a:r>
              <a:rPr lang="en-US" altLang="ko-KR" sz="2000" dirty="0"/>
              <a:t> and </a:t>
            </a:r>
            <a:r>
              <a:rPr lang="en-US" altLang="ko-KR" sz="2000" b="1" dirty="0"/>
              <a:t>perfectly fine</a:t>
            </a:r>
            <a:r>
              <a:rPr lang="en-US" altLang="ko-KR" sz="2000" dirty="0"/>
              <a:t> for our internal lab environment. We can safely click "Advanced" and proceed to the site.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64394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this means: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3135994"/>
            <a:ext cx="10206408" cy="20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provides the exact same level of </a:t>
            </a:r>
            <a:r>
              <a:rPr lang="en-US" altLang="ko-KR" sz="2000" b="1" dirty="0"/>
              <a:t>encryption</a:t>
            </a:r>
            <a:r>
              <a:rPr lang="en-US" altLang="ko-KR" sz="2000" dirty="0"/>
              <a:t> as a certificate from a CA. The connection is fully secure.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/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However, because it's not signed by a </a:t>
            </a:r>
            <a:r>
              <a:rPr lang="en-US" altLang="ko-KR" sz="2000" i="1" dirty="0"/>
              <a:t>trusted</a:t>
            </a:r>
            <a:r>
              <a:rPr lang="en-US" altLang="ko-KR" sz="2000" dirty="0"/>
              <a:t> authority, your web browser will show a warning like "Your connection is not private".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178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952251" y="3146944"/>
            <a:ext cx="27008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2-1. SSL/TLS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5436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927568" cy="523220"/>
            <a:chOff x="164064" y="1119724"/>
            <a:chExt cx="792756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3221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SSL &amp; TLS: A Secure Tunnel for the Internet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SSL (Secure Sockets Layer) and TLS (Transport Layer Security) are </a:t>
            </a:r>
            <a:r>
              <a:rPr lang="en-US" altLang="ko-KR" sz="2000" b="1" dirty="0"/>
              <a:t>security protocols</a:t>
            </a:r>
            <a:r>
              <a:rPr lang="en-US" altLang="ko-KR" sz="2000" dirty="0"/>
              <a:t> that encrypt internet communications to keep them safe and private.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Simply put, you can think of them as a technology that creates a </a:t>
            </a:r>
            <a:r>
              <a:rPr lang="en-US" altLang="ko-KR" sz="2000" b="1" dirty="0"/>
              <a:t>secure tunnel</a:t>
            </a:r>
            <a:r>
              <a:rPr lang="en-US" altLang="ko-KR" sz="2000" dirty="0"/>
              <a:t> between two computers, preventing anyone from eavesdropping on the conversation. This technology is the core of what makes HTTPS secure.</a:t>
            </a:r>
          </a:p>
        </p:txBody>
      </p:sp>
    </p:spTree>
    <p:extLst>
      <p:ext uri="{BB962C8B-B14F-4D97-AF65-F5344CB8AC3E}">
        <p14:creationId xmlns:p14="http://schemas.microsoft.com/office/powerpoint/2010/main" val="4255699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825920" cy="523220"/>
            <a:chOff x="164064" y="1119724"/>
            <a:chExt cx="682592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2204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The Three Core Functions of SSL/TLS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This technology protects our communications by performing three key functions: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128263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b="1" dirty="0"/>
              <a:t>Encryption (Confidentiality)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620314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scrambles the data being exchanged into a secret code, making it unreadable to anyone who might intercept it. This prevents the exposure of sensitive information.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A9F45-7191-43C1-AD6D-3A6DA1BA629A}"/>
              </a:ext>
            </a:extLst>
          </p:cNvPr>
          <p:cNvSpPr txBox="1"/>
          <p:nvPr/>
        </p:nvSpPr>
        <p:spPr>
          <a:xfrm>
            <a:off x="666929" y="3418355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b="1" dirty="0"/>
              <a:t>Integrity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58FE85-F083-4EB1-83C5-74712D1FEB9B}"/>
              </a:ext>
            </a:extLst>
          </p:cNvPr>
          <p:cNvSpPr txBox="1"/>
          <p:nvPr/>
        </p:nvSpPr>
        <p:spPr>
          <a:xfrm>
            <a:off x="817781" y="3910406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guarantees that the data has not been altered or corrupted during transmission. This is like a </a:t>
            </a:r>
            <a:r>
              <a:rPr lang="en-US" altLang="ko-KR" sz="2000" b="1" dirty="0"/>
              <a:t>tamper-proof seal</a:t>
            </a:r>
            <a:r>
              <a:rPr lang="en-US" altLang="ko-KR" sz="2000" dirty="0"/>
              <a:t> on a letter.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4AE5D-4F25-4F05-B925-9BADF0A97E21}"/>
              </a:ext>
            </a:extLst>
          </p:cNvPr>
          <p:cNvSpPr txBox="1"/>
          <p:nvPr/>
        </p:nvSpPr>
        <p:spPr>
          <a:xfrm>
            <a:off x="666929" y="4720845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b="1" dirty="0"/>
              <a:t>Authentication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F55B2-7CC6-457D-AD80-A21A289D91CC}"/>
              </a:ext>
            </a:extLst>
          </p:cNvPr>
          <p:cNvSpPr txBox="1"/>
          <p:nvPr/>
        </p:nvSpPr>
        <p:spPr>
          <a:xfrm>
            <a:off x="817781" y="5212896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verifies the identity of the server you are connecting to, ensuring it is legitimate and not an imposter. The </a:t>
            </a:r>
            <a:r>
              <a:rPr lang="en-US" altLang="ko-KR" sz="2000" b="1" dirty="0"/>
              <a:t>SSL/TLS Certificate</a:t>
            </a:r>
            <a:r>
              <a:rPr lang="en-US" altLang="ko-KR" sz="2000" dirty="0"/>
              <a:t> acts as a digital ID to prove the website's identity.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659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453574" cy="523220"/>
            <a:chOff x="164064" y="1119724"/>
            <a:chExt cx="645357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8481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SSL vs. TLS: What’s the Difference?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While they serve the same purpose, they are different versions of the technology.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128263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dirty="0"/>
              <a:t>SSL (Secure Sockets Layer)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620314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is the </a:t>
            </a:r>
            <a:r>
              <a:rPr lang="en-US" altLang="ko-KR" sz="2000" b="1" dirty="0"/>
              <a:t>predecessor</a:t>
            </a:r>
            <a:r>
              <a:rPr lang="en-US" altLang="ko-KR" sz="2000" dirty="0"/>
              <a:t> and the original version.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is now considered </a:t>
            </a:r>
            <a:r>
              <a:rPr lang="en-US" altLang="ko-KR" sz="2000" b="1" dirty="0"/>
              <a:t>outdated and insecure</a:t>
            </a:r>
            <a:r>
              <a:rPr lang="en-US" altLang="ko-KR" sz="2000" dirty="0"/>
              <a:t> due to known security vulnerabilities and is no longer used.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4AE5D-4F25-4F05-B925-9BADF0A97E21}"/>
              </a:ext>
            </a:extLst>
          </p:cNvPr>
          <p:cNvSpPr txBox="1"/>
          <p:nvPr/>
        </p:nvSpPr>
        <p:spPr>
          <a:xfrm>
            <a:off x="666929" y="4061622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dirty="0"/>
              <a:t>TLS (Transport Layer Security)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F55B2-7CC6-457D-AD80-A21A289D91CC}"/>
              </a:ext>
            </a:extLst>
          </p:cNvPr>
          <p:cNvSpPr txBox="1"/>
          <p:nvPr/>
        </p:nvSpPr>
        <p:spPr>
          <a:xfrm>
            <a:off x="817781" y="4553673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is the </a:t>
            </a:r>
            <a:r>
              <a:rPr lang="en-US" altLang="ko-KR" sz="2000" b="1" dirty="0"/>
              <a:t>successor</a:t>
            </a:r>
            <a:r>
              <a:rPr lang="en-US" altLang="ko-KR" sz="2000" dirty="0"/>
              <a:t> and the current industry standard.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is a more secure and improved version that fixes the vulnerabilities found in SSL.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867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465164" y="3146944"/>
            <a:ext cx="36749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2-2. Expiration Key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6187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104056" cy="523220"/>
            <a:chOff x="164064" y="1119724"/>
            <a:chExt cx="610405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4986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Securing Access: Timed Sessions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Encrypting the connection is only the first step. We also need to ensure that a user's login session is secure and doesn't last forever.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721324"/>
            <a:ext cx="10206408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We achieve this using </a:t>
            </a:r>
            <a:r>
              <a:rPr lang="en-US" altLang="ko-KR" sz="2000" b="1" dirty="0"/>
              <a:t>auto-expiring access keys</a:t>
            </a:r>
            <a:r>
              <a:rPr lang="en-US" altLang="ko-KR" sz="2000" dirty="0"/>
              <a:t> (also known as tokens).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Instead of keeping a user logged in indefinitely, the server gives the user a temporary key that is only valid for a specific period (e.g., 8 hours).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greatly enhances security because even if an attacker manages to steal a key, it will become useless once it expires.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473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777911" cy="523220"/>
            <a:chOff x="164064" y="1119724"/>
            <a:chExt cx="777791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1724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Mechanism: How Auto-Expiring Keys Work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Here is the step-by-step process: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280073"/>
            <a:ext cx="10206408" cy="325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Login: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user provides their username and password.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Key Generation: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server verifies the credentials. If they are correct, it generates a unique, digitally signed key.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Set Expiration: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server embeds an expiration timestamp directly into the key itself.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Verification: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With every action the user takes, their browser sends the key back to the server. The server checks two things: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 Is the signature valid? (To prevent tampering)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 Has the key expired?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Access Denied on Expiry: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If the current time is past the key's expiration timestamp, the key is rejected. The user is automatically logged out and must log in again to get a new, valid key.</a:t>
            </a:r>
          </a:p>
        </p:txBody>
      </p:sp>
    </p:spTree>
    <p:extLst>
      <p:ext uri="{BB962C8B-B14F-4D97-AF65-F5344CB8AC3E}">
        <p14:creationId xmlns:p14="http://schemas.microsoft.com/office/powerpoint/2010/main" val="2921790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5069116" y="3136612"/>
            <a:ext cx="2053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Lab Setup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0139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2848100" cy="523220"/>
            <a:chOff x="164064" y="1119724"/>
            <a:chExt cx="284810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22426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Prerequisites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This lab is designed to run in a Linux-based environment (e.g., Ubuntu, etc.)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29AA3-35E8-4267-BD22-0CCEAFCFE353}"/>
              </a:ext>
            </a:extLst>
          </p:cNvPr>
          <p:cNvSpPr txBox="1"/>
          <p:nvPr/>
        </p:nvSpPr>
        <p:spPr>
          <a:xfrm>
            <a:off x="819555" y="2728017"/>
            <a:ext cx="10514752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core programming language for our capture scripts.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pip: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package installer for managing Python libraries (e.g.,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Pymongo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NoSQL database used to store and query captured packet </a:t>
            </a:r>
            <a:r>
              <a:rPr lang="en-US" altLang="ko-KR" sz="2000">
                <a:latin typeface="Pretendard Light" panose="02000403000000020004" pitchFamily="2" charset="-127"/>
                <a:ea typeface="Pretendard Light" panose="02000403000000020004" pitchFamily="2" charset="-127"/>
              </a:rPr>
              <a:t>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Nginx: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lightweight web server for hosting the analysis dashboard.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BC2E3-2E5F-4F1D-884B-7D071982B731}"/>
              </a:ext>
            </a:extLst>
          </p:cNvPr>
          <p:cNvSpPr txBox="1"/>
          <p:nvPr/>
        </p:nvSpPr>
        <p:spPr>
          <a:xfrm>
            <a:off x="668702" y="2203448"/>
            <a:ext cx="10327746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Install: python3-pip,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nginx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hostapd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dnsmasq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iptables-persistent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073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682559" cy="523220"/>
            <a:chOff x="164064" y="1119724"/>
            <a:chExt cx="36825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0771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1: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Import the MongoDB GPG Key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curl 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fsSL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https://pgp.mongodb.com/server-7.0.asc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gpg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-o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/share/keyrings/mongodb-server-7.0.gpg --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dearmor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22ABC1-7203-4F8A-8794-F5990CA90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70" y="3187378"/>
            <a:ext cx="11688806" cy="3429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Add the MongoDB Repository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echo "deb [ arch=amd64,arm64 signed-by=/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/share/keyrings/mongodb-server-7.0.gpg ] https://repo.mongodb.org/apt/ubuntu $(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lsb_release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-cs)/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-org/7.0 multiverse"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tee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etc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/apt/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sources.list.d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/mongodb-org-7.0.list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DC27579-22C2-442E-A628-46911A38A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70" y="5575301"/>
            <a:ext cx="116697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5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2977238" cy="523220"/>
            <a:chOff x="164064" y="1119724"/>
            <a:chExt cx="29772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23718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Install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3. Update Local Package List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update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4. Install All Required Packages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-y python3-pip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nginx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hostapd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dnsmasq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iptables-persistent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794258-5DB6-4097-ADE7-B05E10228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17" y="2697899"/>
            <a:ext cx="4881284" cy="10611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1E64A65-3A45-483B-B9DF-721AD4723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5" y="5267177"/>
            <a:ext cx="1178407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74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682559" cy="523220"/>
            <a:chOff x="164064" y="1119724"/>
            <a:chExt cx="36825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0771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4BA23A5-3954-47D3-9DA6-388A93812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48" y="1995396"/>
            <a:ext cx="9149877" cy="450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22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105128" cy="523220"/>
            <a:chOff x="164064" y="1119724"/>
            <a:chExt cx="510512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499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Install python3-venv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–y python3-venv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Create &amp; Activate the Environment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–m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/bin/activate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64CC55-6366-4A9D-BE77-BE0770C60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55" y="2742449"/>
            <a:ext cx="7897327" cy="8859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475E7E-1064-4A5E-A9E3-59DCD5DBF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55" y="5158436"/>
            <a:ext cx="7392432" cy="1028844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C76574D-2AD0-4C6C-B86B-29A4259C63D0}"/>
              </a:ext>
            </a:extLst>
          </p:cNvPr>
          <p:cNvCxnSpPr>
            <a:cxnSpLocks/>
          </p:cNvCxnSpPr>
          <p:nvPr/>
        </p:nvCxnSpPr>
        <p:spPr>
          <a:xfrm flipH="1" flipV="1">
            <a:off x="1245477" y="6243145"/>
            <a:ext cx="1450426" cy="244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9DE673-920E-43B1-B40F-B52D35C5C80C}"/>
              </a:ext>
            </a:extLst>
          </p:cNvPr>
          <p:cNvSpPr/>
          <p:nvPr/>
        </p:nvSpPr>
        <p:spPr>
          <a:xfrm>
            <a:off x="819555" y="6030310"/>
            <a:ext cx="536279" cy="156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8DC38-EFE1-4980-9289-73242456A22D}"/>
              </a:ext>
            </a:extLst>
          </p:cNvPr>
          <p:cNvSpPr txBox="1"/>
          <p:nvPr/>
        </p:nvSpPr>
        <p:spPr>
          <a:xfrm>
            <a:off x="2178783" y="6365327"/>
            <a:ext cx="371751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Virtual Env. is activated.</a:t>
            </a:r>
          </a:p>
        </p:txBody>
      </p:sp>
    </p:spTree>
    <p:extLst>
      <p:ext uri="{BB962C8B-B14F-4D97-AF65-F5344CB8AC3E}">
        <p14:creationId xmlns:p14="http://schemas.microsoft.com/office/powerpoint/2010/main" val="3431402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105128" cy="523220"/>
            <a:chOff x="164064" y="1119724"/>
            <a:chExt cx="510512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499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2827174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3. Install Python Dependencies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3319225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pip install -r requirements.txt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C960F-69DB-4AC5-8B3B-2B30DAC5D45E}"/>
              </a:ext>
            </a:extLst>
          </p:cNvPr>
          <p:cNvSpPr txBox="1"/>
          <p:nvPr/>
        </p:nvSpPr>
        <p:spPr>
          <a:xfrm>
            <a:off x="668703" y="1715700"/>
            <a:ext cx="11265794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With the virtual env. active, install all the required Python libraries (like Flask,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etc.) using 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requirements.txt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file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C7E6CA-A73C-426B-8E66-2E1100DFD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57" y="3994253"/>
            <a:ext cx="849748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44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186835" cy="523220"/>
            <a:chOff x="164064" y="1119724"/>
            <a:chExt cx="618683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5814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4: Start &amp; Enable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Start and Enable the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start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enable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3CDA6C-C144-481F-857F-9F1199639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08" y="3241560"/>
            <a:ext cx="793543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49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359027" cy="523220"/>
            <a:chOff x="164064" y="1119724"/>
            <a:chExt cx="435902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7535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5: Generate Keys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Generate Security Key &amp; Admin Account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src/key_manager.py generate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26B7A2-5822-4E5F-9042-75BE0C75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91" y="2771816"/>
            <a:ext cx="6703223" cy="13945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FFCEE8-EC8A-4378-896E-C875A4DB595B}"/>
              </a:ext>
            </a:extLst>
          </p:cNvPr>
          <p:cNvSpPr txBox="1"/>
          <p:nvPr/>
        </p:nvSpPr>
        <p:spPr>
          <a:xfrm>
            <a:off x="668702" y="4317018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Check Password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B9807-91C9-432D-98DE-4FFCE5E4C09A}"/>
              </a:ext>
            </a:extLst>
          </p:cNvPr>
          <p:cNvSpPr txBox="1"/>
          <p:nvPr/>
        </p:nvSpPr>
        <p:spPr>
          <a:xfrm>
            <a:off x="819555" y="4809069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cat keys/admin_credentials.txt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4B799C5-7309-42F3-9A75-FF042EBE6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91" y="5323507"/>
            <a:ext cx="7783011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03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629935" cy="523220"/>
            <a:chOff x="164064" y="1119724"/>
            <a:chExt cx="462993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024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Run Application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Run the Web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python3 src/web_app.py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8C91B8-6983-47FD-8296-A74B52D19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4" y="2823940"/>
            <a:ext cx="6309691" cy="3615755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3716012" y="3786702"/>
            <a:ext cx="4253457" cy="8311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087569" y="4553332"/>
            <a:ext cx="2530617" cy="129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7157546" y="361884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Ctrl+{Click}</a:t>
            </a:r>
          </a:p>
        </p:txBody>
      </p:sp>
    </p:spTree>
    <p:extLst>
      <p:ext uri="{BB962C8B-B14F-4D97-AF65-F5344CB8AC3E}">
        <p14:creationId xmlns:p14="http://schemas.microsoft.com/office/powerpoint/2010/main" val="33537037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686ABB-3A03-40E2-A2CE-2A8A9BD4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88" y="2512637"/>
            <a:ext cx="5354796" cy="392363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Run the Web Application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2159876" y="3786702"/>
            <a:ext cx="5809594" cy="2105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300405" y="5891910"/>
            <a:ext cx="741230" cy="343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6905298" y="363589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501255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B5B91CA-053B-46EB-A6AF-DAC2384A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77" y="1903644"/>
            <a:ext cx="4981317" cy="451266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2899564" y="3786702"/>
            <a:ext cx="5069907" cy="2299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253108" y="6085745"/>
            <a:ext cx="1474325" cy="267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6905298" y="363589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844643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DD77345-68E6-4FD9-95EC-26FA3099C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74301"/>
            <a:ext cx="5315692" cy="45440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E9A05-1A5F-4976-BE05-10AB9EEA7A36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Log in with Username &amp; Password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00F94-CABF-45BD-AAA7-CF4A47F2B3AB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Username: admin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Password: admin123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EC5CB-58A0-41A8-8836-D5B59768F46E}"/>
              </a:ext>
            </a:extLst>
          </p:cNvPr>
          <p:cNvSpPr txBox="1"/>
          <p:nvPr/>
        </p:nvSpPr>
        <p:spPr>
          <a:xfrm>
            <a:off x="668702" y="4852073"/>
            <a:ext cx="531569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Now, let’s dive into the detailed features of the tool and how to use them in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next section.</a:t>
            </a:r>
          </a:p>
        </p:txBody>
      </p:sp>
    </p:spTree>
    <p:extLst>
      <p:ext uri="{BB962C8B-B14F-4D97-AF65-F5344CB8AC3E}">
        <p14:creationId xmlns:p14="http://schemas.microsoft.com/office/powerpoint/2010/main" val="416466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481589" y="3121672"/>
            <a:ext cx="5580117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 </a:t>
            </a:r>
          </a:p>
        </p:txBody>
      </p:sp>
    </p:spTree>
    <p:extLst>
      <p:ext uri="{BB962C8B-B14F-4D97-AF65-F5344CB8AC3E}">
        <p14:creationId xmlns:p14="http://schemas.microsoft.com/office/powerpoint/2010/main" val="2799494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8690212" cy="523220"/>
            <a:chOff x="164064" y="1119724"/>
            <a:chExt cx="869021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80847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Dashboard Overview: Visualizing Network Traffic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84"/>
          <a:stretch/>
        </p:blipFill>
        <p:spPr>
          <a:xfrm>
            <a:off x="2704734" y="1816410"/>
            <a:ext cx="6782532" cy="4735929"/>
          </a:xfrm>
          <a:prstGeom prst="rect">
            <a:avLst/>
          </a:prstGeom>
        </p:spPr>
      </p:pic>
      <p:pic>
        <p:nvPicPr>
          <p:cNvPr id="8" name="그래픽 16">
            <a:extLst>
              <a:ext uri="{FF2B5EF4-FFF2-40B4-BE49-F238E27FC236}">
                <a16:creationId xmlns:a16="http://schemas.microsoft.com/office/drawing/2014/main" id="{626A9D47-05ED-4582-A783-E49C50758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832064" y="1230740"/>
            <a:ext cx="1310404" cy="8244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F5A7C-8F7D-4F91-98CC-6731E597073D}"/>
              </a:ext>
            </a:extLst>
          </p:cNvPr>
          <p:cNvSpPr txBox="1"/>
          <p:nvPr/>
        </p:nvSpPr>
        <p:spPr>
          <a:xfrm>
            <a:off x="9750737" y="1738153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Start Button for </a:t>
            </a: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Capturing</a:t>
            </a:r>
          </a:p>
        </p:txBody>
      </p:sp>
      <p:pic>
        <p:nvPicPr>
          <p:cNvPr id="10" name="그래픽 16">
            <a:extLst>
              <a:ext uri="{FF2B5EF4-FFF2-40B4-BE49-F238E27FC236}">
                <a16:creationId xmlns:a16="http://schemas.microsoft.com/office/drawing/2014/main" id="{BC67886C-1A37-4095-9AF8-88563F426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7803" y="2113813"/>
            <a:ext cx="3119153" cy="8244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74B333-EF67-4E5E-AE3B-FCB52AFAA7AF}"/>
              </a:ext>
            </a:extLst>
          </p:cNvPr>
          <p:cNvSpPr txBox="1"/>
          <p:nvPr/>
        </p:nvSpPr>
        <p:spPr>
          <a:xfrm>
            <a:off x="821129" y="2180003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Menu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D8F004-0E26-4E17-B9DE-66B6F8E2C7CB}"/>
              </a:ext>
            </a:extLst>
          </p:cNvPr>
          <p:cNvSpPr/>
          <p:nvPr/>
        </p:nvSpPr>
        <p:spPr>
          <a:xfrm>
            <a:off x="2743200" y="2420360"/>
            <a:ext cx="6705600" cy="4042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6">
            <a:extLst>
              <a:ext uri="{FF2B5EF4-FFF2-40B4-BE49-F238E27FC236}">
                <a16:creationId xmlns:a16="http://schemas.microsoft.com/office/drawing/2014/main" id="{172153CF-43EC-4BD0-8640-3E28591B64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75041">
            <a:off x="9647754" y="3661483"/>
            <a:ext cx="1310404" cy="8244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F568D9-7392-4F95-8843-DDF43C024110}"/>
              </a:ext>
            </a:extLst>
          </p:cNvPr>
          <p:cNvSpPr txBox="1"/>
          <p:nvPr/>
        </p:nvSpPr>
        <p:spPr>
          <a:xfrm>
            <a:off x="9624167" y="4654419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Main Contents of Dashboard</a:t>
            </a:r>
          </a:p>
        </p:txBody>
      </p:sp>
    </p:spTree>
    <p:extLst>
      <p:ext uri="{BB962C8B-B14F-4D97-AF65-F5344CB8AC3E}">
        <p14:creationId xmlns:p14="http://schemas.microsoft.com/office/powerpoint/2010/main" val="2104549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6206007" cy="523220"/>
            <a:chOff x="164064" y="1119724"/>
            <a:chExt cx="620600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6005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Three Key Features: A Quick Tour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08" t="7323" r="47300" b="87542"/>
          <a:stretch/>
        </p:blipFill>
        <p:spPr>
          <a:xfrm>
            <a:off x="1955359" y="5863525"/>
            <a:ext cx="8243144" cy="7180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76B42C-03EA-4EEE-9098-6F0AD5EFD748}"/>
              </a:ext>
            </a:extLst>
          </p:cNvPr>
          <p:cNvSpPr txBox="1"/>
          <p:nvPr/>
        </p:nvSpPr>
        <p:spPr>
          <a:xfrm>
            <a:off x="668703" y="1572160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C0E66-7F3A-4EDD-BCB6-D756373A88DA}"/>
              </a:ext>
            </a:extLst>
          </p:cNvPr>
          <p:cNvSpPr txBox="1"/>
          <p:nvPr/>
        </p:nvSpPr>
        <p:spPr>
          <a:xfrm>
            <a:off x="668703" y="2982511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45365E-21F7-4A9D-8A45-1557894EF6DB}"/>
              </a:ext>
            </a:extLst>
          </p:cNvPr>
          <p:cNvSpPr txBox="1"/>
          <p:nvPr/>
        </p:nvSpPr>
        <p:spPr>
          <a:xfrm>
            <a:off x="668703" y="4315361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Admin Panel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F398F-3E4A-47C6-BBFF-33642DD17B07}"/>
              </a:ext>
            </a:extLst>
          </p:cNvPr>
          <p:cNvSpPr txBox="1"/>
          <p:nvPr/>
        </p:nvSpPr>
        <p:spPr>
          <a:xfrm>
            <a:off x="819555" y="204533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visual summary page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to understand the network’s overall status and traffic patterns at a glance through graphs and charts.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F429B-75C9-4D2E-A103-FDAC120BB50D}"/>
              </a:ext>
            </a:extLst>
          </p:cNvPr>
          <p:cNvSpPr txBox="1"/>
          <p:nvPr/>
        </p:nvSpPr>
        <p:spPr>
          <a:xfrm>
            <a:off x="819555" y="3435018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detailed investigation tool to troubleshoot network issues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searching and analyzing specific packets with filtering.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F0B79-57C8-4BE7-A3AB-CA01D5D61743}"/>
              </a:ext>
            </a:extLst>
          </p:cNvPr>
          <p:cNvSpPr txBox="1"/>
          <p:nvPr/>
        </p:nvSpPr>
        <p:spPr>
          <a:xfrm>
            <a:off x="819555" y="4809198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 admin-only page to control user access and manage the system’s overall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status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048501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543392" y="3121672"/>
            <a:ext cx="5435847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b="1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Dashboard - </a:t>
            </a:r>
          </a:p>
        </p:txBody>
      </p:sp>
    </p:spTree>
    <p:extLst>
      <p:ext uri="{BB962C8B-B14F-4D97-AF65-F5344CB8AC3E}">
        <p14:creationId xmlns:p14="http://schemas.microsoft.com/office/powerpoint/2010/main" val="4171095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6013006" cy="523220"/>
            <a:chOff x="164064" y="1119724"/>
            <a:chExt cx="601300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4075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 Snapshot of Network’s Health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A3BF91-D7F1-E229-0F74-006F3F2BD550}"/>
              </a:ext>
            </a:extLst>
          </p:cNvPr>
          <p:cNvSpPr txBox="1"/>
          <p:nvPr/>
        </p:nvSpPr>
        <p:spPr>
          <a:xfrm>
            <a:off x="668703" y="1572160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top panel offers a real-time summary of the network’s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critical information</a:t>
            </a:r>
            <a:endParaRPr lang="en-US" altLang="ko-KR" sz="2200" b="1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684" b="71419"/>
          <a:stretch/>
        </p:blipFill>
        <p:spPr>
          <a:xfrm>
            <a:off x="1551059" y="2277252"/>
            <a:ext cx="9089881" cy="143673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B6B3758-FBE8-437C-8381-CE77A31A5D89}"/>
              </a:ext>
            </a:extLst>
          </p:cNvPr>
          <p:cNvSpPr txBox="1"/>
          <p:nvPr/>
        </p:nvSpPr>
        <p:spPr>
          <a:xfrm>
            <a:off x="819555" y="3765644"/>
            <a:ext cx="10514752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Total Packets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cumulative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count of all captured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Active Devices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Shows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number of unique devices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currently sending or receiving 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Status &amp; Interface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Clearly indicates if the monitoring system is currently running (Status) and which network card (interface) is being monitored.</a:t>
            </a:r>
          </a:p>
        </p:txBody>
      </p:sp>
    </p:spTree>
    <p:extLst>
      <p:ext uri="{BB962C8B-B14F-4D97-AF65-F5344CB8AC3E}">
        <p14:creationId xmlns:p14="http://schemas.microsoft.com/office/powerpoint/2010/main" val="6428650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077015" cy="523220"/>
            <a:chOff x="164064" y="1119724"/>
            <a:chExt cx="707701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4715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Patterns: What Kind and When?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25" b="42075"/>
          <a:stretch/>
        </p:blipFill>
        <p:spPr>
          <a:xfrm>
            <a:off x="340703" y="1720830"/>
            <a:ext cx="7682358" cy="1650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A813A-17DA-4FA7-A5C2-9F51A92D422B}"/>
              </a:ext>
            </a:extLst>
          </p:cNvPr>
          <p:cNvSpPr txBox="1"/>
          <p:nvPr/>
        </p:nvSpPr>
        <p:spPr>
          <a:xfrm>
            <a:off x="819555" y="3347196"/>
            <a:ext cx="10514752" cy="388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 Distribution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donut chart shows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proportion of different protocols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like TCP and UDP.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helps you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understand the primary purpose of the network’s usage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whether it’s for web browsing (TCP) or for video streaming and gaming (UDP).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Traffic Over Time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line graph displays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trend of traffic volume over a specific period.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It’s essential for identifying the network’s busiest periods and spotting anomalies, such as sudden and unexpected traffic spikes.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6CFCAB-4841-4A29-9846-0BD41E0CC2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191" t="23957" b="46088"/>
          <a:stretch/>
        </p:blipFill>
        <p:spPr>
          <a:xfrm>
            <a:off x="8139789" y="1723517"/>
            <a:ext cx="3897229" cy="16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15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10802842" cy="523220"/>
            <a:chOff x="164064" y="1119724"/>
            <a:chExt cx="1080284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101974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Detailed Analysis: Who is Talking and What Are They Saying?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449"/>
          <a:stretch/>
        </p:blipFill>
        <p:spPr>
          <a:xfrm>
            <a:off x="898651" y="1699647"/>
            <a:ext cx="6113452" cy="1921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00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Top Source Ips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table ranks the IP addresses that have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generated the most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on the network.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allows you to identify which devices are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consuming the most bandwidth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Recent Packets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real-time log of captured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displayed chronologically with details like source, destination, protocol, and size.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provides the most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granular and specific data.</a:t>
            </a:r>
          </a:p>
        </p:txBody>
      </p:sp>
    </p:spTree>
    <p:extLst>
      <p:ext uri="{BB962C8B-B14F-4D97-AF65-F5344CB8AC3E}">
        <p14:creationId xmlns:p14="http://schemas.microsoft.com/office/powerpoint/2010/main" val="812187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543392" y="3121672"/>
            <a:ext cx="5435847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b="1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Traffic Monitor - </a:t>
            </a:r>
          </a:p>
        </p:txBody>
      </p:sp>
    </p:spTree>
    <p:extLst>
      <p:ext uri="{BB962C8B-B14F-4D97-AF65-F5344CB8AC3E}">
        <p14:creationId xmlns:p14="http://schemas.microsoft.com/office/powerpoint/2010/main" val="663711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A7C03D-9350-4CA1-92D5-266E742B8ADD}"/>
              </a:ext>
            </a:extLst>
          </p:cNvPr>
          <p:cNvSpPr txBox="1"/>
          <p:nvPr/>
        </p:nvSpPr>
        <p:spPr>
          <a:xfrm>
            <a:off x="668703" y="1572160"/>
            <a:ext cx="11042850" cy="256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into specific network conversations for in-depth investigation and troubleshooting.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ABC19A-302F-42C7-9394-DF804D0E9C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4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00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Filters: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you to pinpoint specific data flows.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search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Protocol, Source IP, and Destination IP.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Exporting: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Enables offline analysis and reporting.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“Export CSV” feature allows you to save your filtered results, making it easy to share data or perform further analysis in other tools like Excel.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69F8F2-FB2E-46E7-8914-BF9A69EC39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339" b="56680"/>
          <a:stretch/>
        </p:blipFill>
        <p:spPr>
          <a:xfrm>
            <a:off x="898651" y="1699647"/>
            <a:ext cx="8775921" cy="19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98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543392" y="3121672"/>
            <a:ext cx="5435847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b="1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Admin Panel - </a:t>
            </a:r>
          </a:p>
        </p:txBody>
      </p:sp>
    </p:spTree>
    <p:extLst>
      <p:ext uri="{BB962C8B-B14F-4D97-AF65-F5344CB8AC3E}">
        <p14:creationId xmlns:p14="http://schemas.microsoft.com/office/powerpoint/2010/main" val="1695231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A7C03D-9350-4CA1-92D5-266E742B8ADD}"/>
              </a:ext>
            </a:extLst>
          </p:cNvPr>
          <p:cNvSpPr txBox="1"/>
          <p:nvPr/>
        </p:nvSpPr>
        <p:spPr>
          <a:xfrm>
            <a:off x="668703" y="1572160"/>
            <a:ext cx="11042850" cy="256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into specific network conversations for in-depth investigation and troubleshooting.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ABC19A-302F-42C7-9394-DF804D0E9C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46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C8FC-A5B9-F0D4-E7D3-D0B91D0C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03809AA-11D0-AA5B-7B00-A08AE2F89E72}"/>
              </a:ext>
            </a:extLst>
          </p:cNvPr>
          <p:cNvGrpSpPr/>
          <p:nvPr/>
        </p:nvGrpSpPr>
        <p:grpSpPr>
          <a:xfrm>
            <a:off x="164064" y="1119724"/>
            <a:ext cx="7990534" cy="523220"/>
            <a:chOff x="164064" y="1119724"/>
            <a:chExt cx="7990534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1263BF-C896-2B08-D740-8C616646134B}"/>
                </a:ext>
              </a:extLst>
            </p:cNvPr>
            <p:cNvSpPr txBox="1"/>
            <p:nvPr/>
          </p:nvSpPr>
          <p:spPr>
            <a:xfrm>
              <a:off x="769499" y="1119724"/>
              <a:ext cx="7385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Admin Panel – System &amp; User Management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0DAC07-C70A-CB1C-6F43-5755627A8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67D96EF-0715-FB29-2F00-85D57785DBE7}"/>
              </a:ext>
            </a:extLst>
          </p:cNvPr>
          <p:cNvSpPr txBox="1"/>
          <p:nvPr/>
        </p:nvSpPr>
        <p:spPr>
          <a:xfrm>
            <a:off x="668703" y="1572160"/>
            <a:ext cx="10660232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Admin Panel is the central hub for system configuration and security, separate from the traffic analysis dashboard.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ECC8FA-F0D2-4A1D-9317-2E6F201ED9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5"/>
          <a:stretch/>
        </p:blipFill>
        <p:spPr>
          <a:xfrm>
            <a:off x="3017003" y="2733388"/>
            <a:ext cx="5961682" cy="39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832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2608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the administrator to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accounts.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define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Username, Password, assign a Role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set an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expiration 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for the account.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solidFill>
                <a:srgbClr val="FF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User Management Table: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Provides a comprehensive list of all existing users.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12F48F-AC01-4487-8976-4F6F25158C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456" b="38471"/>
          <a:stretch/>
        </p:blipFill>
        <p:spPr>
          <a:xfrm>
            <a:off x="877987" y="1699647"/>
            <a:ext cx="8495138" cy="19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105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24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RSA Key Information: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Manages the public key for secure communication.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an advanced security feature, likely used to secure API connections or ensure encrypted communication between monitoring components.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Statistics: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Offer a high-level overview of the system’s health.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quickly see the online status and statistics of the system.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also initialize the database.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6FF483-A844-4063-B25E-D07D8DB85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529" b="-171"/>
          <a:stretch/>
        </p:blipFill>
        <p:spPr>
          <a:xfrm>
            <a:off x="877987" y="1699646"/>
            <a:ext cx="7072644" cy="19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19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6281-8102-18D1-1E2B-E5AAF19E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77E04-D1A5-B3AA-616F-EABD6C4C2468}"/>
              </a:ext>
            </a:extLst>
          </p:cNvPr>
          <p:cNvSpPr txBox="1"/>
          <p:nvPr/>
        </p:nvSpPr>
        <p:spPr>
          <a:xfrm>
            <a:off x="3190881" y="2845379"/>
            <a:ext cx="6115044" cy="1186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Advanced Suggestion</a:t>
            </a:r>
          </a:p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Intelligent Network Monitoring</a:t>
            </a:r>
          </a:p>
        </p:txBody>
      </p:sp>
    </p:spTree>
    <p:extLst>
      <p:ext uri="{BB962C8B-B14F-4D97-AF65-F5344CB8AC3E}">
        <p14:creationId xmlns:p14="http://schemas.microsoft.com/office/powerpoint/2010/main" val="17015834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12068060" cy="523220"/>
            <a:chOff x="164064" y="1119724"/>
            <a:chExt cx="1206806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114626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Future Enhancements: Intelligent Network Monitoring with AI &amp; LLM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037683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current system provides a robust foundation for advanced network analysis.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By integrating AI and Large Language Models (LLMs), we can unlock powerful new capabilities.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751888-3DF3-482E-A28D-DE5CA6BA85E3}"/>
              </a:ext>
            </a:extLst>
          </p:cNvPr>
          <p:cNvSpPr txBox="1"/>
          <p:nvPr/>
        </p:nvSpPr>
        <p:spPr>
          <a:xfrm>
            <a:off x="819555" y="3496897"/>
            <a:ext cx="6851836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1. Intelligent Threat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Anomaly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Proactive Defense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2. Content-Based Filtering &amp; Blocking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Harmful Website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Time-Based Access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5186D-5471-49F4-AD75-E54456244D22}"/>
              </a:ext>
            </a:extLst>
          </p:cNvPr>
          <p:cNvSpPr txBox="1"/>
          <p:nvPr/>
        </p:nvSpPr>
        <p:spPr>
          <a:xfrm>
            <a:off x="5983073" y="3496897"/>
            <a:ext cx="6851836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3. Predictive Network Management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Bandwidth Prediction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Automated Troubleshooting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4. Enhanced Network Insights &amp; Reporting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 Behavior Analysis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Natural Language Reporting</a:t>
            </a:r>
          </a:p>
        </p:txBody>
      </p:sp>
    </p:spTree>
    <p:extLst>
      <p:ext uri="{BB962C8B-B14F-4D97-AF65-F5344CB8AC3E}">
        <p14:creationId xmlns:p14="http://schemas.microsoft.com/office/powerpoint/2010/main" val="88409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18671</TotalTime>
  <Words>3838</Words>
  <Application>Microsoft Office PowerPoint</Application>
  <PresentationFormat>와이드스크린</PresentationFormat>
  <Paragraphs>488</Paragraphs>
  <Slides>60</Slides>
  <Notes>59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1" baseType="lpstr">
      <vt:lpstr>ONE 모바일고딕 Regular</vt:lpstr>
      <vt:lpstr>Pretendard</vt:lpstr>
      <vt:lpstr>Pretendard Light</vt:lpstr>
      <vt:lpstr>Pretendard Medium</vt:lpstr>
      <vt:lpstr>Pretendard SemiBold</vt:lpstr>
      <vt:lpstr>SF싸락눈</vt:lpstr>
      <vt:lpstr>강원교육튼튼</vt:lpstr>
      <vt:lpstr>말싸미815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안수현</dc:creator>
  <cp:lastModifiedBy>oollccddss</cp:lastModifiedBy>
  <cp:revision>309</cp:revision>
  <dcterms:created xsi:type="dcterms:W3CDTF">2025-02-04T05:54:06Z</dcterms:created>
  <dcterms:modified xsi:type="dcterms:W3CDTF">2025-11-14T06:52:59Z</dcterms:modified>
</cp:coreProperties>
</file>