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6"/>
  </p:notesMasterIdLst>
  <p:sldIdLst>
    <p:sldId id="256" r:id="rId2"/>
    <p:sldId id="376" r:id="rId3"/>
    <p:sldId id="377" r:id="rId4"/>
    <p:sldId id="465" r:id="rId5"/>
    <p:sldId id="379" r:id="rId6"/>
    <p:sldId id="493" r:id="rId7"/>
    <p:sldId id="458" r:id="rId8"/>
    <p:sldId id="459" r:id="rId9"/>
    <p:sldId id="462" r:id="rId10"/>
    <p:sldId id="494" r:id="rId11"/>
    <p:sldId id="496" r:id="rId12"/>
    <p:sldId id="382" r:id="rId13"/>
    <p:sldId id="515" r:id="rId14"/>
    <p:sldId id="516" r:id="rId15"/>
    <p:sldId id="517" r:id="rId16"/>
    <p:sldId id="518" r:id="rId17"/>
    <p:sldId id="519" r:id="rId18"/>
    <p:sldId id="521" r:id="rId19"/>
    <p:sldId id="523" r:id="rId20"/>
    <p:sldId id="507" r:id="rId21"/>
    <p:sldId id="509" r:id="rId22"/>
    <p:sldId id="510" r:id="rId23"/>
    <p:sldId id="511" r:id="rId24"/>
    <p:sldId id="514" r:id="rId25"/>
    <p:sldId id="460" r:id="rId26"/>
    <p:sldId id="489" r:id="rId27"/>
    <p:sldId id="480" r:id="rId28"/>
    <p:sldId id="497" r:id="rId29"/>
    <p:sldId id="498" r:id="rId30"/>
    <p:sldId id="499" r:id="rId31"/>
    <p:sldId id="500" r:id="rId32"/>
    <p:sldId id="501" r:id="rId33"/>
    <p:sldId id="502" r:id="rId34"/>
    <p:sldId id="503" r:id="rId35"/>
    <p:sldId id="504" r:id="rId36"/>
    <p:sldId id="505" r:id="rId37"/>
    <p:sldId id="506" r:id="rId38"/>
    <p:sldId id="463" r:id="rId39"/>
    <p:sldId id="467" r:id="rId40"/>
    <p:sldId id="474" r:id="rId41"/>
    <p:sldId id="475" r:id="rId42"/>
    <p:sldId id="416" r:id="rId43"/>
    <p:sldId id="468" r:id="rId44"/>
    <p:sldId id="469" r:id="rId45"/>
    <p:sldId id="476" r:id="rId46"/>
    <p:sldId id="470" r:id="rId47"/>
    <p:sldId id="471" r:id="rId48"/>
    <p:sldId id="477" r:id="rId49"/>
    <p:sldId id="473" r:id="rId50"/>
    <p:sldId id="418" r:id="rId51"/>
    <p:sldId id="478" r:id="rId52"/>
    <p:sldId id="479" r:id="rId53"/>
    <p:sldId id="390" r:id="rId54"/>
    <p:sldId id="466" r:id="rId5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41D641F3-A360-4323-B9E1-542034A8F4A9}">
          <p14:sldIdLst>
            <p14:sldId id="256"/>
            <p14:sldId id="376"/>
            <p14:sldId id="377"/>
            <p14:sldId id="465"/>
            <p14:sldId id="379"/>
            <p14:sldId id="493"/>
            <p14:sldId id="458"/>
            <p14:sldId id="459"/>
            <p14:sldId id="462"/>
            <p14:sldId id="494"/>
            <p14:sldId id="496"/>
            <p14:sldId id="382"/>
            <p14:sldId id="515"/>
            <p14:sldId id="516"/>
            <p14:sldId id="517"/>
            <p14:sldId id="518"/>
            <p14:sldId id="519"/>
            <p14:sldId id="521"/>
            <p14:sldId id="523"/>
            <p14:sldId id="507"/>
            <p14:sldId id="509"/>
            <p14:sldId id="510"/>
            <p14:sldId id="511"/>
            <p14:sldId id="514"/>
            <p14:sldId id="460"/>
            <p14:sldId id="489"/>
            <p14:sldId id="480"/>
            <p14:sldId id="497"/>
            <p14:sldId id="498"/>
            <p14:sldId id="499"/>
            <p14:sldId id="500"/>
            <p14:sldId id="501"/>
            <p14:sldId id="502"/>
            <p14:sldId id="503"/>
            <p14:sldId id="504"/>
            <p14:sldId id="505"/>
            <p14:sldId id="506"/>
            <p14:sldId id="463"/>
            <p14:sldId id="467"/>
            <p14:sldId id="474"/>
            <p14:sldId id="475"/>
            <p14:sldId id="416"/>
            <p14:sldId id="468"/>
            <p14:sldId id="469"/>
            <p14:sldId id="476"/>
            <p14:sldId id="470"/>
            <p14:sldId id="471"/>
            <p14:sldId id="477"/>
            <p14:sldId id="473"/>
            <p14:sldId id="418"/>
            <p14:sldId id="478"/>
            <p14:sldId id="479"/>
            <p14:sldId id="390"/>
            <p14:sldId id="466"/>
          </p14:sldIdLst>
        </p14:section>
      </p14:sectionLst>
    </p:ex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pos="393" userDrawn="1">
          <p15:clr>
            <a:srgbClr val="A4A3A4"/>
          </p15:clr>
        </p15:guide>
        <p15:guide id="3" pos="506" userDrawn="1">
          <p15:clr>
            <a:srgbClr val="A4A3A4"/>
          </p15:clr>
        </p15:guide>
        <p15:guide id="4" pos="688" userDrawn="1">
          <p15:clr>
            <a:srgbClr val="A4A3A4"/>
          </p15:clr>
        </p15:guide>
        <p15:guide id="5" orient="horz" pos="2183" userDrawn="1">
          <p15:clr>
            <a:srgbClr val="A4A3A4"/>
          </p15:clr>
        </p15:guide>
        <p15:guide id="6" orient="horz" pos="1706" userDrawn="1">
          <p15:clr>
            <a:srgbClr val="A4A3A4"/>
          </p15:clr>
        </p15:guide>
        <p15:guide id="7" pos="914" userDrawn="1">
          <p15:clr>
            <a:srgbClr val="A4A3A4"/>
          </p15:clr>
        </p15:guide>
        <p15:guide id="8" pos="234" userDrawn="1">
          <p15:clr>
            <a:srgbClr val="A4A3A4"/>
          </p15:clr>
        </p15:guide>
        <p15:guide id="9" pos="4362" userDrawn="1">
          <p15:clr>
            <a:srgbClr val="A4A3A4"/>
          </p15:clr>
        </p15:guide>
        <p15:guide id="10" pos="393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oollccddss" initials="o" lastIdx="2" clrIdx="0">
    <p:extLst>
      <p:ext uri="{19B8F6BF-5375-455C-9EA6-DF929625EA0E}">
        <p15:presenceInfo xmlns:p15="http://schemas.microsoft.com/office/powerpoint/2012/main" userId="oollccddss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6082"/>
    <a:srgbClr val="0000A8"/>
    <a:srgbClr val="6868CB"/>
    <a:srgbClr val="D8EEF8"/>
    <a:srgbClr val="DCEAF7"/>
    <a:srgbClr val="CCEEC0"/>
    <a:srgbClr val="95DA7C"/>
    <a:srgbClr val="5BC436"/>
    <a:srgbClr val="439028"/>
    <a:srgbClr val="64BE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75698" autoAdjust="0"/>
  </p:normalViewPr>
  <p:slideViewPr>
    <p:cSldViewPr snapToGrid="0">
      <p:cViewPr varScale="1">
        <p:scale>
          <a:sx n="81" d="100"/>
          <a:sy n="81" d="100"/>
        </p:scale>
        <p:origin x="64" y="924"/>
      </p:cViewPr>
      <p:guideLst>
        <p:guide pos="3840"/>
        <p:guide pos="393"/>
        <p:guide pos="506"/>
        <p:guide pos="688"/>
        <p:guide orient="horz" pos="2183"/>
        <p:guide orient="horz" pos="1706"/>
        <p:guide pos="914"/>
        <p:guide pos="234"/>
        <p:guide pos="4362"/>
        <p:guide pos="3931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822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commentAuthors" Target="commentAuthor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881DAD-29D0-4462-A015-AE6325E2BB42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F0AF40-D5B6-4D0F-960D-F933654242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75191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</a:t>
            </a:r>
            <a:r>
              <a:rPr lang="en-US" b="1" dirty="0"/>
              <a:t>First</a:t>
            </a:r>
            <a:r>
              <a:rPr lang="en-US" b="1" baseline="0" dirty="0"/>
              <a:t> chapter </a:t>
            </a:r>
            <a:r>
              <a:rPr lang="en-US" baseline="0" dirty="0"/>
              <a:t>we learned different components of network ( nut and bolt of network )</a:t>
            </a:r>
          </a:p>
          <a:p>
            <a:r>
              <a:rPr lang="en-US" baseline="0" dirty="0"/>
              <a:t>- </a:t>
            </a:r>
            <a:r>
              <a:rPr lang="en-US" b="1" baseline="0" dirty="0"/>
              <a:t>Second chapter </a:t>
            </a:r>
            <a:r>
              <a:rPr lang="en-US" baseline="0" dirty="0"/>
              <a:t>we covered Network Protocol </a:t>
            </a:r>
          </a:p>
          <a:p>
            <a:r>
              <a:rPr lang="en-US" baseline="0" dirty="0"/>
              <a:t>- </a:t>
            </a:r>
            <a:r>
              <a:rPr lang="en-US" b="1" baseline="0" dirty="0"/>
              <a:t>Third chapter </a:t>
            </a:r>
            <a:r>
              <a:rPr lang="en-US" baseline="0" dirty="0"/>
              <a:t>we will cover a very important layer in network ( Network Layer ) from SDN point of view</a:t>
            </a:r>
          </a:p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12056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Hello,</a:t>
            </a:r>
            <a:r>
              <a:rPr lang="en-US" altLang="ko-KR" baseline="0" dirty="0"/>
              <a:t> </a:t>
            </a:r>
            <a:r>
              <a:rPr lang="en-US" altLang="ko-KR" baseline="0" dirty="0" err="1"/>
              <a:t>Anyohasye</a:t>
            </a:r>
            <a:r>
              <a:rPr lang="en-US" altLang="ko-KR" baseline="0" dirty="0"/>
              <a:t>, Namaste</a:t>
            </a:r>
          </a:p>
          <a:p>
            <a:r>
              <a:rPr lang="en-US" altLang="ko-KR" baseline="0" dirty="0"/>
              <a:t>This is Prof </a:t>
            </a:r>
            <a:r>
              <a:rPr lang="en-US" altLang="ko-KR" baseline="0" dirty="0" err="1"/>
              <a:t>Suman</a:t>
            </a:r>
            <a:r>
              <a:rPr lang="en-US" altLang="ko-KR" baseline="0" dirty="0"/>
              <a:t> Pandey from EECS department GIST</a:t>
            </a:r>
          </a:p>
          <a:p>
            <a:r>
              <a:rPr lang="en-US" altLang="ko-KR" baseline="0" dirty="0"/>
              <a:t>We are learning Advanced Computer Networking</a:t>
            </a:r>
          </a:p>
          <a:p>
            <a:r>
              <a:rPr lang="en-US" altLang="ko-KR" baseline="0" dirty="0"/>
              <a:t>We are now in third </a:t>
            </a:r>
            <a:r>
              <a:rPr lang="en-US" altLang="ko-KR" baseline="0" dirty="0" err="1"/>
              <a:t>modeul</a:t>
            </a:r>
            <a:r>
              <a:rPr lang="en-US" altLang="ko-KR" baseline="0" dirty="0"/>
              <a:t> </a:t>
            </a:r>
          </a:p>
          <a:p>
            <a:r>
              <a:rPr lang="en-US" altLang="ko-KR" baseline="0" dirty="0"/>
              <a:t>Focusing on SDN </a:t>
            </a:r>
            <a:r>
              <a:rPr lang="en-US" altLang="ko-KR" baseline="0" dirty="0" err="1"/>
              <a:t>archtesure</a:t>
            </a:r>
            <a:endParaRPr lang="en-US" altLang="ko-KR" baseline="0" dirty="0"/>
          </a:p>
          <a:p>
            <a:r>
              <a:rPr lang="en-US" altLang="ko-KR" baseline="0" dirty="0"/>
              <a:t>We learning about Generalized forwarding in </a:t>
            </a:r>
            <a:r>
              <a:rPr lang="en-US" altLang="ko-KR" baseline="0" dirty="0" err="1"/>
              <a:t>prevous</a:t>
            </a:r>
            <a:r>
              <a:rPr lang="en-US" altLang="ko-KR" baseline="0" dirty="0"/>
              <a:t> module</a:t>
            </a:r>
          </a:p>
          <a:p>
            <a:r>
              <a:rPr lang="en-US" altLang="ko-KR" baseline="0" dirty="0"/>
              <a:t>This module we focus on control plane</a:t>
            </a:r>
          </a:p>
          <a:p>
            <a:endParaRPr lang="en-US" altLang="ko-KR" baseline="0" dirty="0"/>
          </a:p>
          <a:p>
            <a:endParaRPr lang="en-US" altLang="ko-KR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33546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</a:t>
            </a:r>
            <a:r>
              <a:rPr lang="en-US" b="1" dirty="0"/>
              <a:t>First</a:t>
            </a:r>
            <a:r>
              <a:rPr lang="en-US" b="1" baseline="0" dirty="0"/>
              <a:t> chapter </a:t>
            </a:r>
            <a:r>
              <a:rPr lang="en-US" baseline="0" dirty="0"/>
              <a:t>we learned different components of network ( nut and bolt of network )</a:t>
            </a:r>
          </a:p>
          <a:p>
            <a:r>
              <a:rPr lang="en-US" baseline="0" dirty="0"/>
              <a:t>- </a:t>
            </a:r>
            <a:r>
              <a:rPr lang="en-US" b="1" baseline="0" dirty="0"/>
              <a:t>Second chapter </a:t>
            </a:r>
            <a:r>
              <a:rPr lang="en-US" baseline="0" dirty="0"/>
              <a:t>we covered Network Protocol </a:t>
            </a:r>
          </a:p>
          <a:p>
            <a:r>
              <a:rPr lang="en-US" baseline="0" dirty="0"/>
              <a:t>- </a:t>
            </a:r>
            <a:r>
              <a:rPr lang="en-US" b="1" baseline="0" dirty="0"/>
              <a:t>Third chapter </a:t>
            </a:r>
            <a:r>
              <a:rPr lang="en-US" baseline="0" dirty="0"/>
              <a:t>we will cover a very important layer in network ( Network Layer ) from SDN point of view</a:t>
            </a:r>
          </a:p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74388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CA5AA-B72B-3F94-E84F-546DFBE43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3E96BF-D46C-DF3D-96EB-F64DA50AE9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0FE902-A871-A223-0D84-7C8080A371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DD65E1-95AD-97B7-E2A2-548269D4CD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12192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CA5AA-B72B-3F94-E84F-546DFBE43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3E96BF-D46C-DF3D-96EB-F64DA50AE9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0FE902-A871-A223-0D84-7C8080A371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DD65E1-95AD-97B7-E2A2-548269D4CD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74691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9DD9CB-C0F0-8C04-4218-09F1FD09F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0EE5F7-9693-55B1-AA73-53A3D5E79F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799297-9B10-BC3B-C45E-5A28893CBD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7C8F26-3516-5C43-B91F-F064055374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42265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CA5AA-B72B-3F94-E84F-546DFBE43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3E96BF-D46C-DF3D-96EB-F64DA50AE9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0FE902-A871-A223-0D84-7C8080A371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DD65E1-95AD-97B7-E2A2-548269D4CD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33408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CA5AA-B72B-3F94-E84F-546DFBE43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3E96BF-D46C-DF3D-96EB-F64DA50AE9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0FE902-A871-A223-0D84-7C8080A371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DD65E1-95AD-97B7-E2A2-548269D4CD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70601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CA5AA-B72B-3F94-E84F-546DFBE43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3E96BF-D46C-DF3D-96EB-F64DA50AE9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0FE902-A871-A223-0D84-7C8080A371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DD65E1-95AD-97B7-E2A2-548269D4CD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36454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CA5AA-B72B-3F94-E84F-546DFBE43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3E96BF-D46C-DF3D-96EB-F64DA50AE9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0FE902-A871-A223-0D84-7C8080A371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DD65E1-95AD-97B7-E2A2-548269D4CD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86482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014ED5-F466-3F29-D980-CE6F3D57D7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676C51-7C5B-C5F8-D54D-93B038391D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7FAB06-EDD1-17E6-DA3D-070AE8166E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AC29FE-417B-0FDC-0D8F-60429C3BF4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83908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</a:t>
            </a:r>
            <a:r>
              <a:rPr lang="en-US" b="1" dirty="0"/>
              <a:t>First</a:t>
            </a:r>
            <a:r>
              <a:rPr lang="en-US" b="1" baseline="0" dirty="0"/>
              <a:t> chapter </a:t>
            </a:r>
            <a:r>
              <a:rPr lang="en-US" baseline="0" dirty="0"/>
              <a:t>we learned different components of network ( nut and bolt of network )</a:t>
            </a:r>
          </a:p>
          <a:p>
            <a:r>
              <a:rPr lang="en-US" baseline="0" dirty="0"/>
              <a:t>- </a:t>
            </a:r>
            <a:r>
              <a:rPr lang="en-US" b="1" baseline="0" dirty="0"/>
              <a:t>Second chapter </a:t>
            </a:r>
            <a:r>
              <a:rPr lang="en-US" baseline="0" dirty="0"/>
              <a:t>we covered Network Protocol </a:t>
            </a:r>
          </a:p>
          <a:p>
            <a:r>
              <a:rPr lang="en-US" baseline="0" dirty="0"/>
              <a:t>- </a:t>
            </a:r>
            <a:r>
              <a:rPr lang="en-US" b="1" baseline="0" dirty="0"/>
              <a:t>Third chapter </a:t>
            </a:r>
            <a:r>
              <a:rPr lang="en-US" baseline="0" dirty="0"/>
              <a:t>we will cover a very important layer in network ( Network Layer ) from SDN point of view</a:t>
            </a:r>
          </a:p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749358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CA5AA-B72B-3F94-E84F-546DFBE43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3E96BF-D46C-DF3D-96EB-F64DA50AE9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0FE902-A871-A223-0D84-7C8080A371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DD65E1-95AD-97B7-E2A2-548269D4CD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48935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CA5AA-B72B-3F94-E84F-546DFBE43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3E96BF-D46C-DF3D-96EB-F64DA50AE9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0FE902-A871-A223-0D84-7C8080A371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DD65E1-95AD-97B7-E2A2-548269D4CD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089776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CA5AA-B72B-3F94-E84F-546DFBE43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3E96BF-D46C-DF3D-96EB-F64DA50AE9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0FE902-A871-A223-0D84-7C8080A371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DD65E1-95AD-97B7-E2A2-548269D4CD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073406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CA5AA-B72B-3F94-E84F-546DFBE43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3E96BF-D46C-DF3D-96EB-F64DA50AE9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0FE902-A871-A223-0D84-7C8080A371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DD65E1-95AD-97B7-E2A2-548269D4CD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77045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CA5AA-B72B-3F94-E84F-546DFBE43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3E96BF-D46C-DF3D-96EB-F64DA50AE9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0FE902-A871-A223-0D84-7C8080A371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DD65E1-95AD-97B7-E2A2-548269D4CD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81698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CA5AA-B72B-3F94-E84F-546DFBE43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3E96BF-D46C-DF3D-96EB-F64DA50AE9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0FE902-A871-A223-0D84-7C8080A371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DD65E1-95AD-97B7-E2A2-548269D4CD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350031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</a:t>
            </a:r>
            <a:r>
              <a:rPr lang="en-US" b="1" dirty="0"/>
              <a:t>First</a:t>
            </a:r>
            <a:r>
              <a:rPr lang="en-US" b="1" baseline="0" dirty="0"/>
              <a:t> chapter </a:t>
            </a:r>
            <a:r>
              <a:rPr lang="en-US" baseline="0" dirty="0"/>
              <a:t>we learned different components of network ( nut and bolt of network )</a:t>
            </a:r>
          </a:p>
          <a:p>
            <a:r>
              <a:rPr lang="en-US" baseline="0" dirty="0"/>
              <a:t>- </a:t>
            </a:r>
            <a:r>
              <a:rPr lang="en-US" b="1" baseline="0" dirty="0"/>
              <a:t>Second chapter </a:t>
            </a:r>
            <a:r>
              <a:rPr lang="en-US" baseline="0" dirty="0"/>
              <a:t>we covered Network Protocol </a:t>
            </a:r>
          </a:p>
          <a:p>
            <a:r>
              <a:rPr lang="en-US" baseline="0" dirty="0"/>
              <a:t>- </a:t>
            </a:r>
            <a:r>
              <a:rPr lang="en-US" b="1" baseline="0" dirty="0"/>
              <a:t>Third chapter </a:t>
            </a:r>
            <a:r>
              <a:rPr lang="en-US" baseline="0" dirty="0"/>
              <a:t>we will cover a very important layer in network ( Network Layer ) from SDN point of view</a:t>
            </a:r>
          </a:p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956017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CA5AA-B72B-3F94-E84F-546DFBE43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3E96BF-D46C-DF3D-96EB-F64DA50AE9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0FE902-A871-A223-0D84-7C8080A371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DD65E1-95AD-97B7-E2A2-548269D4CD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323304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CA5AA-B72B-3F94-E84F-546DFBE43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3E96BF-D46C-DF3D-96EB-F64DA50AE9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0FE902-A871-A223-0D84-7C8080A371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DD65E1-95AD-97B7-E2A2-548269D4CD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225012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CA5AA-B72B-3F94-E84F-546DFBE43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3E96BF-D46C-DF3D-96EB-F64DA50AE9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0FE902-A871-A223-0D84-7C8080A371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DD65E1-95AD-97B7-E2A2-548269D4CD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824547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CA5AA-B72B-3F94-E84F-546DFBE43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3E96BF-D46C-DF3D-96EB-F64DA50AE9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0FE902-A871-A223-0D84-7C8080A371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DD65E1-95AD-97B7-E2A2-548269D4CD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507505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</a:t>
            </a:r>
            <a:r>
              <a:rPr lang="en-US" b="1" dirty="0"/>
              <a:t>First</a:t>
            </a:r>
            <a:r>
              <a:rPr lang="en-US" b="1" baseline="0" dirty="0"/>
              <a:t> chapter </a:t>
            </a:r>
            <a:r>
              <a:rPr lang="en-US" baseline="0" dirty="0"/>
              <a:t>we learned different components of network ( nut and bolt of network )</a:t>
            </a:r>
          </a:p>
          <a:p>
            <a:r>
              <a:rPr lang="en-US" baseline="0" dirty="0"/>
              <a:t>- </a:t>
            </a:r>
            <a:r>
              <a:rPr lang="en-US" b="1" baseline="0" dirty="0"/>
              <a:t>Second chapter </a:t>
            </a:r>
            <a:r>
              <a:rPr lang="en-US" baseline="0" dirty="0"/>
              <a:t>we covered Network Protocol </a:t>
            </a:r>
          </a:p>
          <a:p>
            <a:r>
              <a:rPr lang="en-US" baseline="0" dirty="0"/>
              <a:t>- </a:t>
            </a:r>
            <a:r>
              <a:rPr lang="en-US" b="1" baseline="0" dirty="0"/>
              <a:t>Third chapter </a:t>
            </a:r>
            <a:r>
              <a:rPr lang="en-US" baseline="0" dirty="0"/>
              <a:t>we will cover a very important layer in network ( Network Layer ) from SDN point of view</a:t>
            </a:r>
          </a:p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053510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CA5AA-B72B-3F94-E84F-546DFBE43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3E96BF-D46C-DF3D-96EB-F64DA50AE9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0FE902-A871-A223-0D84-7C8080A371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DD65E1-95AD-97B7-E2A2-548269D4CD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250391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CA5AA-B72B-3F94-E84F-546DFBE43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3E96BF-D46C-DF3D-96EB-F64DA50AE9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0FE902-A871-A223-0D84-7C8080A371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DD65E1-95AD-97B7-E2A2-548269D4CD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342083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CA5AA-B72B-3F94-E84F-546DFBE43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3E96BF-D46C-DF3D-96EB-F64DA50AE9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0FE902-A871-A223-0D84-7C8080A371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DD65E1-95AD-97B7-E2A2-548269D4CD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095429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CA5AA-B72B-3F94-E84F-546DFBE43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3E96BF-D46C-DF3D-96EB-F64DA50AE9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0FE902-A871-A223-0D84-7C8080A371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DD65E1-95AD-97B7-E2A2-548269D4CD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026558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CA5AA-B72B-3F94-E84F-546DFBE43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3E96BF-D46C-DF3D-96EB-F64DA50AE9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0FE902-A871-A223-0D84-7C8080A371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DD65E1-95AD-97B7-E2A2-548269D4CD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68370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CA5AA-B72B-3F94-E84F-546DFBE43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3E96BF-D46C-DF3D-96EB-F64DA50AE9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0FE902-A871-A223-0D84-7C8080A371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DD65E1-95AD-97B7-E2A2-548269D4CD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117937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CA5AA-B72B-3F94-E84F-546DFBE43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3E96BF-D46C-DF3D-96EB-F64DA50AE9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0FE902-A871-A223-0D84-7C8080A371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DD65E1-95AD-97B7-E2A2-548269D4CD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048468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CA5AA-B72B-3F94-E84F-546DFBE43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3E96BF-D46C-DF3D-96EB-F64DA50AE9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0FE902-A871-A223-0D84-7C8080A371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DD65E1-95AD-97B7-E2A2-548269D4CD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853432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CA5AA-B72B-3F94-E84F-546DFBE43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3E96BF-D46C-DF3D-96EB-F64DA50AE9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0FE902-A871-A223-0D84-7C8080A371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DD65E1-95AD-97B7-E2A2-548269D4CD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063015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CA5AA-B72B-3F94-E84F-546DFBE43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3E96BF-D46C-DF3D-96EB-F64DA50AE9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0FE902-A871-A223-0D84-7C8080A371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DD65E1-95AD-97B7-E2A2-548269D4CD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414438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CA5AA-B72B-3F94-E84F-546DFBE43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3E96BF-D46C-DF3D-96EB-F64DA50AE9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0FE902-A871-A223-0D84-7C8080A371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DD65E1-95AD-97B7-E2A2-548269D4CD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566765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CA5AA-B72B-3F94-E84F-546DFBE43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3E96BF-D46C-DF3D-96EB-F64DA50AE9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0FE902-A871-A223-0D84-7C8080A371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DD65E1-95AD-97B7-E2A2-548269D4CD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336146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</a:t>
            </a:r>
            <a:r>
              <a:rPr lang="en-US" b="1" dirty="0"/>
              <a:t>First</a:t>
            </a:r>
            <a:r>
              <a:rPr lang="en-US" b="1" baseline="0" dirty="0"/>
              <a:t> chapter </a:t>
            </a:r>
            <a:r>
              <a:rPr lang="en-US" baseline="0" dirty="0"/>
              <a:t>we learned different components of network ( nut and bolt of network )</a:t>
            </a:r>
          </a:p>
          <a:p>
            <a:r>
              <a:rPr lang="en-US" baseline="0" dirty="0"/>
              <a:t>- </a:t>
            </a:r>
            <a:r>
              <a:rPr lang="en-US" b="1" baseline="0" dirty="0"/>
              <a:t>Second chapter </a:t>
            </a:r>
            <a:r>
              <a:rPr lang="en-US" baseline="0" dirty="0"/>
              <a:t>we covered Network Protocol </a:t>
            </a:r>
          </a:p>
          <a:p>
            <a:r>
              <a:rPr lang="en-US" baseline="0" dirty="0"/>
              <a:t>- </a:t>
            </a:r>
            <a:r>
              <a:rPr lang="en-US" b="1" baseline="0" dirty="0"/>
              <a:t>Third chapter </a:t>
            </a:r>
            <a:r>
              <a:rPr lang="en-US" baseline="0" dirty="0"/>
              <a:t>we will cover a very important layer in network ( Network Layer ) from SDN point of view</a:t>
            </a:r>
          </a:p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332724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9DD9CB-C0F0-8C04-4218-09F1FD09F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0EE5F7-9693-55B1-AA73-53A3D5E79F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799297-9B10-BC3B-C45E-5A28893CBD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7C8F26-3516-5C43-B91F-F064055374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379040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9DD9CB-C0F0-8C04-4218-09F1FD09F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0EE5F7-9693-55B1-AA73-53A3D5E79F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799297-9B10-BC3B-C45E-5A28893CBD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7C8F26-3516-5C43-B91F-F064055374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119414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</a:t>
            </a:r>
            <a:r>
              <a:rPr lang="en-US" b="1" dirty="0"/>
              <a:t>First</a:t>
            </a:r>
            <a:r>
              <a:rPr lang="en-US" b="1" baseline="0" dirty="0"/>
              <a:t> chapter </a:t>
            </a:r>
            <a:r>
              <a:rPr lang="en-US" baseline="0" dirty="0"/>
              <a:t>we learned different components of network ( nut and bolt of network )</a:t>
            </a:r>
          </a:p>
          <a:p>
            <a:r>
              <a:rPr lang="en-US" baseline="0" dirty="0"/>
              <a:t>- </a:t>
            </a:r>
            <a:r>
              <a:rPr lang="en-US" b="1" baseline="0" dirty="0"/>
              <a:t>Second chapter </a:t>
            </a:r>
            <a:r>
              <a:rPr lang="en-US" baseline="0" dirty="0"/>
              <a:t>we covered Network Protocol </a:t>
            </a:r>
          </a:p>
          <a:p>
            <a:r>
              <a:rPr lang="en-US" baseline="0" dirty="0"/>
              <a:t>- </a:t>
            </a:r>
            <a:r>
              <a:rPr lang="en-US" b="1" baseline="0" dirty="0"/>
              <a:t>Third chapter </a:t>
            </a:r>
            <a:r>
              <a:rPr lang="en-US" baseline="0" dirty="0"/>
              <a:t>we will cover a very important layer in network ( Network Layer ) from SDN point of view</a:t>
            </a:r>
          </a:p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68043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9DD9CB-C0F0-8C04-4218-09F1FD09F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0EE5F7-9693-55B1-AA73-53A3D5E79F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799297-9B10-BC3B-C45E-5A28893CBD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7C8F26-3516-5C43-B91F-F064055374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897822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9DD9CB-C0F0-8C04-4218-09F1FD09F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0EE5F7-9693-55B1-AA73-53A3D5E79F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799297-9B10-BC3B-C45E-5A28893CBD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7C8F26-3516-5C43-B91F-F064055374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956738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9DD9CB-C0F0-8C04-4218-09F1FD09F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0EE5F7-9693-55B1-AA73-53A3D5E79F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799297-9B10-BC3B-C45E-5A28893CBD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7C8F26-3516-5C43-B91F-F064055374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541026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</a:t>
            </a:r>
            <a:r>
              <a:rPr lang="en-US" b="1" dirty="0"/>
              <a:t>First</a:t>
            </a:r>
            <a:r>
              <a:rPr lang="en-US" b="1" baseline="0" dirty="0"/>
              <a:t> chapter </a:t>
            </a:r>
            <a:r>
              <a:rPr lang="en-US" baseline="0" dirty="0"/>
              <a:t>we learned different components of network ( nut and bolt of network )</a:t>
            </a:r>
          </a:p>
          <a:p>
            <a:r>
              <a:rPr lang="en-US" baseline="0" dirty="0"/>
              <a:t>- </a:t>
            </a:r>
            <a:r>
              <a:rPr lang="en-US" b="1" baseline="0" dirty="0"/>
              <a:t>Second chapter </a:t>
            </a:r>
            <a:r>
              <a:rPr lang="en-US" baseline="0" dirty="0"/>
              <a:t>we covered Network Protocol </a:t>
            </a:r>
          </a:p>
          <a:p>
            <a:r>
              <a:rPr lang="en-US" baseline="0" dirty="0"/>
              <a:t>- </a:t>
            </a:r>
            <a:r>
              <a:rPr lang="en-US" b="1" baseline="0" dirty="0"/>
              <a:t>Third chapter </a:t>
            </a:r>
            <a:r>
              <a:rPr lang="en-US" baseline="0" dirty="0"/>
              <a:t>we will cover a very important layer in network ( Network Layer ) from SDN point of view</a:t>
            </a:r>
          </a:p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3071764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9DD9CB-C0F0-8C04-4218-09F1FD09F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0EE5F7-9693-55B1-AA73-53A3D5E79F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799297-9B10-BC3B-C45E-5A28893CBD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7C8F26-3516-5C43-B91F-F064055374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395064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9DD9CB-C0F0-8C04-4218-09F1FD09F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0EE5F7-9693-55B1-AA73-53A3D5E79F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799297-9B10-BC3B-C45E-5A28893CBD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7C8F26-3516-5C43-B91F-F064055374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47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4251284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</a:t>
            </a:r>
            <a:r>
              <a:rPr lang="en-US" b="1" dirty="0"/>
              <a:t>First</a:t>
            </a:r>
            <a:r>
              <a:rPr lang="en-US" b="1" baseline="0" dirty="0"/>
              <a:t> chapter </a:t>
            </a:r>
            <a:r>
              <a:rPr lang="en-US" baseline="0" dirty="0"/>
              <a:t>we learned different components of network ( nut and bolt of network )</a:t>
            </a:r>
          </a:p>
          <a:p>
            <a:r>
              <a:rPr lang="en-US" baseline="0" dirty="0"/>
              <a:t>- </a:t>
            </a:r>
            <a:r>
              <a:rPr lang="en-US" b="1" baseline="0" dirty="0"/>
              <a:t>Second chapter </a:t>
            </a:r>
            <a:r>
              <a:rPr lang="en-US" baseline="0" dirty="0"/>
              <a:t>we covered Network Protocol </a:t>
            </a:r>
          </a:p>
          <a:p>
            <a:r>
              <a:rPr lang="en-US" baseline="0" dirty="0"/>
              <a:t>- </a:t>
            </a:r>
            <a:r>
              <a:rPr lang="en-US" b="1" baseline="0" dirty="0"/>
              <a:t>Third chapter </a:t>
            </a:r>
            <a:r>
              <a:rPr lang="en-US" baseline="0" dirty="0"/>
              <a:t>we will cover a very important layer in network ( Network Layer ) from SDN point of view</a:t>
            </a:r>
          </a:p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48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313204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9DD9CB-C0F0-8C04-4218-09F1FD09F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0EE5F7-9693-55B1-AA73-53A3D5E79F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799297-9B10-BC3B-C45E-5A28893CBD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7C8F26-3516-5C43-B91F-F064055374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6074998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EF643-D3BA-F1B4-30F3-7B96D4674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2C91D9-E6B3-21CD-B4E9-B4A883AB94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E3311C-B051-643A-4DFA-3C9692AD02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CBACCE-2DF6-7A8D-30B2-6B17971224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50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4303714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9DD9CB-C0F0-8C04-4218-09F1FD09F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0EE5F7-9693-55B1-AA73-53A3D5E79F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799297-9B10-BC3B-C45E-5A28893CBD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7C8F26-3516-5C43-B91F-F064055374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51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4342140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9DD9CB-C0F0-8C04-4218-09F1FD09F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0EE5F7-9693-55B1-AA73-53A3D5E79F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799297-9B10-BC3B-C45E-5A28893CBD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7C8F26-3516-5C43-B91F-F064055374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52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8591837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CAD509-CC25-0209-84A8-9691D9A740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C8C064-95CD-70E3-2980-D4C2EFB6E4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9AAFA2-85E0-8E62-22E8-1598A5A809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</a:t>
            </a:r>
            <a:r>
              <a:rPr lang="en-US" b="1" dirty="0"/>
              <a:t>First</a:t>
            </a:r>
            <a:r>
              <a:rPr lang="en-US" b="1" baseline="0" dirty="0"/>
              <a:t> chapter </a:t>
            </a:r>
            <a:r>
              <a:rPr lang="en-US" baseline="0" dirty="0"/>
              <a:t>we learned different components of network ( nut and bolt of network )</a:t>
            </a:r>
          </a:p>
          <a:p>
            <a:r>
              <a:rPr lang="en-US" baseline="0" dirty="0"/>
              <a:t>- </a:t>
            </a:r>
            <a:r>
              <a:rPr lang="en-US" b="1" baseline="0" dirty="0"/>
              <a:t>Second chapter </a:t>
            </a:r>
            <a:r>
              <a:rPr lang="en-US" baseline="0" dirty="0"/>
              <a:t>we covered Network Protocol </a:t>
            </a:r>
          </a:p>
          <a:p>
            <a:r>
              <a:rPr lang="en-US" baseline="0" dirty="0"/>
              <a:t>- </a:t>
            </a:r>
            <a:r>
              <a:rPr lang="en-US" b="1" baseline="0" dirty="0"/>
              <a:t>Third chapter </a:t>
            </a:r>
            <a:r>
              <a:rPr lang="en-US" baseline="0" dirty="0"/>
              <a:t>we will cover a very important layer in network ( Network Layer ) from SDN point of view</a:t>
            </a:r>
          </a:p>
          <a:p>
            <a:endParaRPr lang="en-US" baseline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832BD7-4CE0-E062-1CAE-6AE86291F5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53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2179190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CA5AA-B72B-3F94-E84F-546DFBE43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3E96BF-D46C-DF3D-96EB-F64DA50AE9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0FE902-A871-A223-0D84-7C8080A371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DD65E1-95AD-97B7-E2A2-548269D4CD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54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69286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 descr="텍스트, 스크린샷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CC0F0B0-4140-1C76-63C4-54B46EEA8FE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93867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컴퓨터, 노트북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9574971-476E-8EF1-582B-D144623DA9F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" name="그림 9" descr="스크린샷, 폰트, 텍스트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7985EB3-79D9-E4EC-1CB5-14184EB2662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571" b="14571"/>
          <a:stretch>
            <a:fillRect/>
          </a:stretch>
        </p:blipFill>
        <p:spPr>
          <a:xfrm>
            <a:off x="9552214" y="187777"/>
            <a:ext cx="2639786" cy="623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32459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라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FDB7BA6-6C5A-CC32-41A0-24BFD9C0D7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24D02A3F-6247-9A9D-4F19-B05330988786}"/>
              </a:ext>
            </a:extLst>
          </p:cNvPr>
          <p:cNvSpPr/>
          <p:nvPr userDrawn="1"/>
        </p:nvSpPr>
        <p:spPr>
          <a:xfrm>
            <a:off x="849086" y="1281793"/>
            <a:ext cx="1657350" cy="4163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>
                <a:solidFill>
                  <a:schemeClr val="tx1"/>
                </a:solidFill>
                <a:latin typeface="말싸미815" panose="02020600000000000000" pitchFamily="18" charset="-127"/>
                <a:ea typeface="말싸미815" panose="02020600000000000000" pitchFamily="18" charset="-127"/>
              </a:rPr>
              <a:t>Objectives</a:t>
            </a:r>
            <a:endParaRPr lang="ko-KR" altLang="en-US" sz="2000" b="1" dirty="0">
              <a:solidFill>
                <a:schemeClr val="tx1"/>
              </a:solidFill>
              <a:latin typeface="말싸미815" panose="02020600000000000000" pitchFamily="18" charset="-127"/>
              <a:ea typeface="말싸미815" panose="02020600000000000000" pitchFamily="18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4EF6A61-7120-6522-097E-B94E4DDFA020}"/>
              </a:ext>
            </a:extLst>
          </p:cNvPr>
          <p:cNvSpPr/>
          <p:nvPr userDrawn="1"/>
        </p:nvSpPr>
        <p:spPr>
          <a:xfrm>
            <a:off x="849086" y="3967843"/>
            <a:ext cx="1657350" cy="4163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>
                <a:solidFill>
                  <a:schemeClr val="tx1"/>
                </a:solidFill>
                <a:latin typeface="말싸미815" panose="02020600000000000000" pitchFamily="18" charset="-127"/>
                <a:ea typeface="말싸미815" panose="02020600000000000000" pitchFamily="18" charset="-127"/>
              </a:rPr>
              <a:t>Contents</a:t>
            </a:r>
            <a:endParaRPr lang="ko-KR" altLang="en-US" sz="2000" b="1" dirty="0">
              <a:solidFill>
                <a:schemeClr val="tx1"/>
              </a:solidFill>
              <a:latin typeface="말싸미815" panose="02020600000000000000" pitchFamily="18" charset="-127"/>
              <a:ea typeface="말싸미815" panose="02020600000000000000" pitchFamily="18" charset="-127"/>
            </a:endParaRPr>
          </a:p>
        </p:txBody>
      </p:sp>
      <p:pic>
        <p:nvPicPr>
          <p:cNvPr id="7" name="그림 6" descr="스크린샷, 폰트, 텍스트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BEB621A-BC91-C8D7-B7AB-BDB45BD57F6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571" b="14571"/>
          <a:stretch>
            <a:fillRect/>
          </a:stretch>
        </p:blipFill>
        <p:spPr>
          <a:xfrm>
            <a:off x="9552214" y="245442"/>
            <a:ext cx="2639786" cy="623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0918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스크린샷, 라인, 도표, 직사각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FB4BB1E-5FC2-4309-21E8-F9848F26344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그림 5" descr="스크린샷, 폰트, 텍스트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560299A-5BC8-B86D-134D-A9FEF68090C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571" b="14571"/>
          <a:stretch>
            <a:fillRect/>
          </a:stretch>
        </p:blipFill>
        <p:spPr>
          <a:xfrm>
            <a:off x="9552214" y="228966"/>
            <a:ext cx="2639786" cy="623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68623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스크린샷, 텍스트, 디스플레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1783FCF-F238-4D47-4122-4F4C44D3412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0FC8D51F-3D32-F0F8-0570-68313C57DE4C}"/>
              </a:ext>
            </a:extLst>
          </p:cNvPr>
          <p:cNvSpPr/>
          <p:nvPr userDrawn="1"/>
        </p:nvSpPr>
        <p:spPr>
          <a:xfrm>
            <a:off x="0" y="996043"/>
            <a:ext cx="1094017" cy="4163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1800" b="1" spc="-90" baseline="0" dirty="0">
                <a:solidFill>
                  <a:schemeClr val="tx1"/>
                </a:solidFill>
                <a:latin typeface="말싸미815" panose="02020600000000000000" pitchFamily="18" charset="-127"/>
                <a:ea typeface="말싸미815" panose="02020600000000000000" pitchFamily="18" charset="-127"/>
              </a:rPr>
              <a:t>Practice</a:t>
            </a:r>
            <a:endParaRPr lang="ko-KR" altLang="en-US" sz="1800" b="1" spc="-90" baseline="0" dirty="0">
              <a:solidFill>
                <a:schemeClr val="tx1"/>
              </a:solidFill>
              <a:latin typeface="말싸미815" panose="02020600000000000000" pitchFamily="18" charset="-127"/>
              <a:ea typeface="말싸미815" panose="02020600000000000000" pitchFamily="18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D2A2541-53C8-F763-8B6D-11C8B14C8E56}"/>
              </a:ext>
            </a:extLst>
          </p:cNvPr>
          <p:cNvSpPr/>
          <p:nvPr userDrawn="1"/>
        </p:nvSpPr>
        <p:spPr>
          <a:xfrm>
            <a:off x="532559" y="65313"/>
            <a:ext cx="865414" cy="244929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1400" b="1" spc="-9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말싸미815" panose="02020600000000000000" pitchFamily="18" charset="-127"/>
                <a:ea typeface="말싸미815" panose="02020600000000000000" pitchFamily="18" charset="-127"/>
              </a:rPr>
              <a:t>Session 1</a:t>
            </a:r>
            <a:endParaRPr lang="ko-KR" altLang="en-US" sz="1400" b="1" spc="-90" baseline="0" dirty="0">
              <a:solidFill>
                <a:schemeClr val="tx1">
                  <a:lumMod val="65000"/>
                  <a:lumOff val="35000"/>
                </a:schemeClr>
              </a:solidFill>
              <a:latin typeface="말싸미815" panose="02020600000000000000" pitchFamily="18" charset="-127"/>
              <a:ea typeface="말싸미815" panose="02020600000000000000" pitchFamily="18" charset="-127"/>
            </a:endParaRPr>
          </a:p>
        </p:txBody>
      </p:sp>
      <p:pic>
        <p:nvPicPr>
          <p:cNvPr id="3" name="그림 2" descr="스크린샷, 폰트, 텍스트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968EA07-8D41-6B73-BA20-44A98DF3B1D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571" b="14571"/>
          <a:stretch>
            <a:fillRect/>
          </a:stretch>
        </p:blipFill>
        <p:spPr>
          <a:xfrm>
            <a:off x="9552214" y="245442"/>
            <a:ext cx="2639786" cy="623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5588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29BCE40-24B2-567B-53C1-3F06ED91B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F6AEC81-E756-A201-4018-753B48C91E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CC2B6E-0DC8-95AB-AFCD-A8CA0BDA30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A54C5D-CAEA-481F-9E3C-DFCA8FF6AF9F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AF08408-0AE4-9B6A-7D21-534892EB3D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AB20A9D-C8DE-E46E-E422-1A617D89E5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F8E5E5-B2BF-4DA4-A3BB-10F5BC228E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3955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8.pn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15.svg"/><Relationship Id="rId4" Type="http://schemas.openxmlformats.org/officeDocument/2006/relationships/image" Target="../media/image7.png"/><Relationship Id="rId9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8.pn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15.svg"/><Relationship Id="rId4" Type="http://schemas.openxmlformats.org/officeDocument/2006/relationships/image" Target="../media/image7.png"/><Relationship Id="rId9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6.png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7.png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8.png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png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0.png"/><Relationship Id="rId4" Type="http://schemas.openxmlformats.org/officeDocument/2006/relationships/image" Target="../media/image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1.png"/><Relationship Id="rId4" Type="http://schemas.openxmlformats.org/officeDocument/2006/relationships/image" Target="../media/image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4.png"/><Relationship Id="rId4" Type="http://schemas.openxmlformats.org/officeDocument/2006/relationships/image" Target="../media/image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png"/><Relationship Id="rId4" Type="http://schemas.openxmlformats.org/officeDocument/2006/relationships/image" Target="../media/image37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0.sv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png"/><Relationship Id="rId4" Type="http://schemas.openxmlformats.org/officeDocument/2006/relationships/image" Target="../media/image38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8.png"/><Relationship Id="rId4" Type="http://schemas.openxmlformats.org/officeDocument/2006/relationships/image" Target="../media/image7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1.png"/><Relationship Id="rId4" Type="http://schemas.openxmlformats.org/officeDocument/2006/relationships/image" Target="../media/image38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8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2.png"/><Relationship Id="rId4" Type="http://schemas.openxmlformats.org/officeDocument/2006/relationships/image" Target="../media/image7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2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2.png"/><Relationship Id="rId4" Type="http://schemas.openxmlformats.org/officeDocument/2006/relationships/image" Target="../media/image7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3.png"/><Relationship Id="rId4" Type="http://schemas.openxmlformats.org/officeDocument/2006/relationships/image" Target="../media/image7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3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3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50CB8ED-652E-2D80-DEF3-DA11E01FA3A9}"/>
              </a:ext>
            </a:extLst>
          </p:cNvPr>
          <p:cNvSpPr txBox="1"/>
          <p:nvPr/>
        </p:nvSpPr>
        <p:spPr>
          <a:xfrm>
            <a:off x="4165535" y="5194166"/>
            <a:ext cx="38609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latin typeface="Pretendard Medium" panose="02000603000000020004" pitchFamily="2" charset="-127"/>
                <a:ea typeface="Pretendard Medium" panose="02000603000000020004" pitchFamily="2" charset="-127"/>
              </a:rPr>
              <a:t>Wi-Fi Traffic Monitoring System</a:t>
            </a:r>
            <a:endParaRPr lang="ko-KR" altLang="en-US" sz="2000" dirty="0">
              <a:latin typeface="Pretendard Medium" panose="02000603000000020004" pitchFamily="2" charset="-127"/>
              <a:ea typeface="Pretendard Medium" panose="020006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325355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6272EFE-19CA-7357-CA3D-A47E6988B1F1}"/>
              </a:ext>
            </a:extLst>
          </p:cNvPr>
          <p:cNvSpPr txBox="1"/>
          <p:nvPr/>
        </p:nvSpPr>
        <p:spPr>
          <a:xfrm>
            <a:off x="3064240" y="3136612"/>
            <a:ext cx="606351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dirty="0">
                <a:latin typeface="Pretendard Medium" panose="02000603000000020004" pitchFamily="2" charset="-127"/>
                <a:ea typeface="Pretendard Medium" panose="02000603000000020004" pitchFamily="2" charset="-127"/>
              </a:rPr>
              <a:t>Wi-Fi Traffic Monitoring System</a:t>
            </a:r>
            <a:endParaRPr lang="ko-KR" altLang="en-US" sz="3200" dirty="0">
              <a:latin typeface="Pretendard Medium" panose="02000603000000020004" pitchFamily="2" charset="-127"/>
              <a:ea typeface="Pretendard Medium" panose="020006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97111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78CDECC-A2E1-64A0-7BE1-13CAD404FB89}"/>
              </a:ext>
            </a:extLst>
          </p:cNvPr>
          <p:cNvSpPr txBox="1"/>
          <p:nvPr/>
        </p:nvSpPr>
        <p:spPr>
          <a:xfrm>
            <a:off x="1310052" y="1729183"/>
            <a:ext cx="9590749" cy="2180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Blip>
                <a:blip r:embed="rId3"/>
              </a:buBlip>
            </a:pPr>
            <a:r>
              <a:rPr lang="en-US" altLang="ko-KR" sz="2000" dirty="0">
                <a:latin typeface="ONE 모바일고딕 Regular" panose="00000500000000000000" pitchFamily="2" charset="-127"/>
                <a:ea typeface="ONE 모바일고딕 Regular" panose="00000500000000000000" pitchFamily="2" charset="-127"/>
              </a:rPr>
              <a:t>Understand the</a:t>
            </a:r>
            <a:r>
              <a:rPr lang="ko-KR" altLang="en-US" sz="2000" dirty="0">
                <a:latin typeface="ONE 모바일고딕 Regular" panose="00000500000000000000" pitchFamily="2" charset="-127"/>
                <a:ea typeface="ONE 모바일고딕 Regular" panose="00000500000000000000" pitchFamily="2" charset="-127"/>
              </a:rPr>
              <a:t> </a:t>
            </a:r>
            <a:r>
              <a:rPr lang="en-US" altLang="ko-KR" sz="2000" dirty="0">
                <a:latin typeface="ONE 모바일고딕 Regular" panose="00000500000000000000" pitchFamily="2" charset="-127"/>
                <a:ea typeface="ONE 모바일고딕 Regular" panose="00000500000000000000" pitchFamily="2" charset="-127"/>
              </a:rPr>
              <a:t>fundamental</a:t>
            </a:r>
            <a:r>
              <a:rPr lang="ko-KR" altLang="en-US" sz="2000" dirty="0">
                <a:latin typeface="ONE 모바일고딕 Regular" panose="00000500000000000000" pitchFamily="2" charset="-127"/>
                <a:ea typeface="ONE 모바일고딕 Regular" panose="00000500000000000000" pitchFamily="2" charset="-127"/>
              </a:rPr>
              <a:t> </a:t>
            </a:r>
            <a:r>
              <a:rPr lang="en-US" altLang="ko-KR" sz="2000" dirty="0">
                <a:latin typeface="ONE 모바일고딕 Regular" panose="00000500000000000000" pitchFamily="2" charset="-127"/>
                <a:ea typeface="ONE 모바일고딕 Regular" panose="00000500000000000000" pitchFamily="2" charset="-127"/>
              </a:rPr>
              <a:t>principles</a:t>
            </a:r>
            <a:r>
              <a:rPr lang="ko-KR" altLang="en-US" sz="2000" dirty="0">
                <a:latin typeface="ONE 모바일고딕 Regular" panose="00000500000000000000" pitchFamily="2" charset="-127"/>
                <a:ea typeface="ONE 모바일고딕 Regular" panose="00000500000000000000" pitchFamily="2" charset="-127"/>
              </a:rPr>
              <a:t> </a:t>
            </a:r>
            <a:r>
              <a:rPr lang="en-US" altLang="ko-KR" sz="2000" dirty="0">
                <a:latin typeface="ONE 모바일고딕 Regular" panose="00000500000000000000" pitchFamily="2" charset="-127"/>
                <a:ea typeface="ONE 모바일고딕 Regular" panose="00000500000000000000" pitchFamily="2" charset="-127"/>
              </a:rPr>
              <a:t>of</a:t>
            </a:r>
            <a:r>
              <a:rPr lang="ko-KR" altLang="en-US" sz="2000" dirty="0">
                <a:latin typeface="ONE 모바일고딕 Regular" panose="00000500000000000000" pitchFamily="2" charset="-127"/>
                <a:ea typeface="ONE 모바일고딕 Regular" panose="00000500000000000000" pitchFamily="2" charset="-127"/>
              </a:rPr>
              <a:t> </a:t>
            </a:r>
            <a:r>
              <a:rPr lang="en-US" altLang="ko-KR" sz="2000" dirty="0">
                <a:latin typeface="ONE 모바일고딕 Regular" panose="00000500000000000000" pitchFamily="2" charset="-127"/>
                <a:ea typeface="ONE 모바일고딕 Regular" panose="00000500000000000000" pitchFamily="2" charset="-127"/>
              </a:rPr>
              <a:t>local</a:t>
            </a:r>
            <a:r>
              <a:rPr lang="ko-KR" altLang="en-US" sz="2000" dirty="0">
                <a:latin typeface="ONE 모바일고딕 Regular" panose="00000500000000000000" pitchFamily="2" charset="-127"/>
                <a:ea typeface="ONE 모바일고딕 Regular" panose="00000500000000000000" pitchFamily="2" charset="-127"/>
              </a:rPr>
              <a:t> </a:t>
            </a:r>
            <a:r>
              <a:rPr lang="en-US" altLang="ko-KR" sz="2000" dirty="0" err="1">
                <a:latin typeface="ONE 모바일고딕 Regular" panose="00000500000000000000" pitchFamily="2" charset="-127"/>
                <a:ea typeface="ONE 모바일고딕 Regular" panose="00000500000000000000" pitchFamily="2" charset="-127"/>
              </a:rPr>
              <a:t>WiFi</a:t>
            </a:r>
            <a:r>
              <a:rPr lang="en-US" altLang="ko-KR" sz="2000" dirty="0">
                <a:latin typeface="ONE 모바일고딕 Regular" panose="00000500000000000000" pitchFamily="2" charset="-127"/>
                <a:ea typeface="ONE 모바일고딕 Regular" panose="00000500000000000000" pitchFamily="2" charset="-127"/>
              </a:rPr>
              <a:t> network traffic</a:t>
            </a:r>
          </a:p>
          <a:p>
            <a:pPr marL="342900" indent="-342900">
              <a:lnSpc>
                <a:spcPct val="150000"/>
              </a:lnSpc>
              <a:buBlip>
                <a:blip r:embed="rId3"/>
              </a:buBlip>
            </a:pPr>
            <a:r>
              <a:rPr lang="en-US" altLang="ko-KR" sz="2000" dirty="0">
                <a:latin typeface="ONE 모바일고딕 Regular" panose="00000500000000000000" pitchFamily="2" charset="-127"/>
                <a:ea typeface="ONE 모바일고딕 Regular" panose="00000500000000000000" pitchFamily="2" charset="-127"/>
              </a:rPr>
              <a:t>Learn a practical method for capturing and analyzing data packets</a:t>
            </a:r>
          </a:p>
          <a:p>
            <a:pPr marL="342900" indent="-342900">
              <a:lnSpc>
                <a:spcPct val="150000"/>
              </a:lnSpc>
              <a:buBlip>
                <a:blip r:embed="rId3"/>
              </a:buBlip>
            </a:pPr>
            <a:r>
              <a:rPr lang="en-US" altLang="ko-KR" sz="2000" dirty="0">
                <a:latin typeface="ONE 모바일고딕 Regular" panose="00000500000000000000" pitchFamily="2" charset="-127"/>
                <a:ea typeface="ONE 모바일고딕 Regular" panose="00000500000000000000" pitchFamily="2" charset="-127"/>
              </a:rPr>
              <a:t>Explore how traffic monitoring can be used for performance analysis, security, and general network insights</a:t>
            </a:r>
            <a:endParaRPr lang="en-US" altLang="ko-KR" dirty="0">
              <a:latin typeface="ONE 모바일고딕 Regular" panose="00000500000000000000" pitchFamily="2" charset="-127"/>
              <a:ea typeface="ONE 모바일고딕 Regular" panose="00000500000000000000" pitchFamily="2" charset="-127"/>
            </a:endParaRPr>
          </a:p>
          <a:p>
            <a:pPr marL="342900" indent="-342900">
              <a:lnSpc>
                <a:spcPct val="150000"/>
              </a:lnSpc>
              <a:buBlip>
                <a:blip r:embed="rId3"/>
              </a:buBlip>
            </a:pPr>
            <a:endParaRPr lang="en-US" altLang="ko-KR" sz="1200" dirty="0">
              <a:latin typeface="ONE 모바일고딕 Regular" panose="00000500000000000000" pitchFamily="2" charset="-127"/>
              <a:ea typeface="ONE 모바일고딕 Regular" panose="00000500000000000000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2DEAF6-38EC-FFA1-499C-CC432CE9CD1B}"/>
              </a:ext>
            </a:extLst>
          </p:cNvPr>
          <p:cNvSpPr txBox="1"/>
          <p:nvPr/>
        </p:nvSpPr>
        <p:spPr>
          <a:xfrm>
            <a:off x="1310052" y="4387230"/>
            <a:ext cx="9590749" cy="1893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Blip>
                <a:blip r:embed="rId3"/>
              </a:buBlip>
            </a:pPr>
            <a:r>
              <a:rPr lang="en-US" altLang="ko-KR" sz="2000" dirty="0">
                <a:latin typeface="ONE 모바일고딕 Regular" panose="00000500000000000000" pitchFamily="2" charset="-127"/>
                <a:ea typeface="ONE 모바일고딕 Regular" panose="00000500000000000000" pitchFamily="2" charset="-127"/>
              </a:rPr>
              <a:t>Introduction</a:t>
            </a:r>
          </a:p>
          <a:p>
            <a:pPr marL="342900" indent="-342900">
              <a:lnSpc>
                <a:spcPct val="150000"/>
              </a:lnSpc>
              <a:buBlip>
                <a:blip r:embed="rId3"/>
              </a:buBlip>
            </a:pPr>
            <a:r>
              <a:rPr lang="en-US" altLang="ko-KR" sz="2000" dirty="0">
                <a:latin typeface="ONE 모바일고딕 Regular" panose="00000500000000000000" pitchFamily="2" charset="-127"/>
                <a:ea typeface="ONE 모바일고딕 Regular" panose="00000500000000000000" pitchFamily="2" charset="-127"/>
              </a:rPr>
              <a:t>Lab setup</a:t>
            </a:r>
          </a:p>
          <a:p>
            <a:pPr marL="342900" indent="-342900">
              <a:lnSpc>
                <a:spcPct val="150000"/>
              </a:lnSpc>
              <a:buBlip>
                <a:blip r:embed="rId3"/>
              </a:buBlip>
            </a:pPr>
            <a:r>
              <a:rPr lang="en-US" altLang="ko-KR" sz="2000" dirty="0">
                <a:latin typeface="ONE 모바일고딕 Regular" panose="00000500000000000000" pitchFamily="2" charset="-127"/>
                <a:ea typeface="ONE 모바일고딕 Regular" panose="00000500000000000000" pitchFamily="2" charset="-127"/>
              </a:rPr>
              <a:t>Dashboard and observation</a:t>
            </a:r>
          </a:p>
          <a:p>
            <a:pPr marL="342900" indent="-342900">
              <a:lnSpc>
                <a:spcPct val="150000"/>
              </a:lnSpc>
              <a:buBlip>
                <a:blip r:embed="rId3"/>
              </a:buBlip>
            </a:pPr>
            <a:r>
              <a:rPr lang="en-US" altLang="ko-KR" sz="2000" dirty="0">
                <a:latin typeface="ONE 모바일고딕 Regular" panose="00000500000000000000" pitchFamily="2" charset="-127"/>
                <a:ea typeface="ONE 모바일고딕 Regular" panose="00000500000000000000" pitchFamily="2" charset="-127"/>
              </a:rPr>
              <a:t>Advance suggestions</a:t>
            </a:r>
          </a:p>
        </p:txBody>
      </p:sp>
    </p:spTree>
    <p:extLst>
      <p:ext uri="{BB962C8B-B14F-4D97-AF65-F5344CB8AC3E}">
        <p14:creationId xmlns:p14="http://schemas.microsoft.com/office/powerpoint/2010/main" val="9867209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6272EFE-19CA-7357-CA3D-A47E6988B1F1}"/>
              </a:ext>
            </a:extLst>
          </p:cNvPr>
          <p:cNvSpPr txBox="1"/>
          <p:nvPr/>
        </p:nvSpPr>
        <p:spPr>
          <a:xfrm>
            <a:off x="3998270" y="3146944"/>
            <a:ext cx="460876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3200" b="1" dirty="0">
                <a:latin typeface="Pretendard Medium" panose="02000603000000020004" pitchFamily="2" charset="-127"/>
                <a:ea typeface="Pretendard Medium" panose="02000603000000020004" pitchFamily="2" charset="-127"/>
              </a:rPr>
              <a:t>Introduction</a:t>
            </a:r>
          </a:p>
          <a:p>
            <a:pPr algn="ctr"/>
            <a:endParaRPr lang="en-US" altLang="ko-KR" sz="3200" dirty="0">
              <a:latin typeface="Pretendard Medium" panose="02000603000000020004" pitchFamily="2" charset="-127"/>
              <a:ea typeface="Pretendard Medium" panose="02000603000000020004" pitchFamily="2" charset="-127"/>
            </a:endParaRPr>
          </a:p>
          <a:p>
            <a:pPr algn="ctr"/>
            <a:r>
              <a:rPr lang="en-US" altLang="ko-KR" sz="3200" dirty="0">
                <a:latin typeface="Pretendard Medium" panose="02000603000000020004" pitchFamily="2" charset="-127"/>
                <a:ea typeface="Pretendard Medium" panose="02000603000000020004" pitchFamily="2" charset="-127"/>
              </a:rPr>
              <a:t>Wi-Fi Traffic Monitoring</a:t>
            </a:r>
            <a:endParaRPr lang="ko-KR" altLang="en-US" sz="3200" dirty="0">
              <a:latin typeface="Pretendard Medium" panose="02000603000000020004" pitchFamily="2" charset="-127"/>
              <a:ea typeface="Pretendard Medium" panose="020006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673360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5EDF3-F372-3458-10A8-696C601CD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F8550829-3395-13AE-28BE-BE3621C31F3F}"/>
              </a:ext>
            </a:extLst>
          </p:cNvPr>
          <p:cNvGrpSpPr/>
          <p:nvPr/>
        </p:nvGrpSpPr>
        <p:grpSpPr>
          <a:xfrm>
            <a:off x="164064" y="1119724"/>
            <a:ext cx="7591515" cy="523220"/>
            <a:chOff x="164064" y="1119724"/>
            <a:chExt cx="7591515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ACAE52F-E8E5-593A-1A1C-EFE6217484A3}"/>
                </a:ext>
              </a:extLst>
            </p:cNvPr>
            <p:cNvSpPr txBox="1"/>
            <p:nvPr/>
          </p:nvSpPr>
          <p:spPr>
            <a:xfrm>
              <a:off x="769499" y="1119724"/>
              <a:ext cx="698608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What is Wi-Fi Traffic and Why Monitor it?</a:t>
              </a:r>
              <a:endParaRPr lang="ko-KR" altLang="en-US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A82B2856-E01A-8BE3-8796-26B1B1A186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C92DFE48-3013-4CB3-D46A-8EB1ACF752B9}"/>
              </a:ext>
            </a:extLst>
          </p:cNvPr>
          <p:cNvGrpSpPr/>
          <p:nvPr/>
        </p:nvGrpSpPr>
        <p:grpSpPr>
          <a:xfrm>
            <a:off x="-7110" y="6642020"/>
            <a:ext cx="12096046" cy="246221"/>
            <a:chOff x="-7110" y="6642020"/>
            <a:chExt cx="12096046" cy="246221"/>
          </a:xfrm>
        </p:grpSpPr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7EF808B6-BC0F-74B8-B404-FB98BA78CBB9}"/>
                </a:ext>
              </a:extLst>
            </p:cNvPr>
            <p:cNvGrpSpPr/>
            <p:nvPr/>
          </p:nvGrpSpPr>
          <p:grpSpPr>
            <a:xfrm>
              <a:off x="-2" y="6681788"/>
              <a:ext cx="516733" cy="176212"/>
              <a:chOff x="-1" y="6743700"/>
              <a:chExt cx="416720" cy="114299"/>
            </a:xfrm>
          </p:grpSpPr>
          <p:sp>
            <p:nvSpPr>
              <p:cNvPr id="17" name="직사각형 16">
                <a:extLst>
                  <a:ext uri="{FF2B5EF4-FFF2-40B4-BE49-F238E27FC236}">
                    <a16:creationId xmlns:a16="http://schemas.microsoft.com/office/drawing/2014/main" id="{994D576D-A9E5-59C2-0D0A-381557C1CE34}"/>
                  </a:ext>
                </a:extLst>
              </p:cNvPr>
              <p:cNvSpPr/>
              <p:nvPr/>
            </p:nvSpPr>
            <p:spPr>
              <a:xfrm>
                <a:off x="-1" y="6743700"/>
                <a:ext cx="52389" cy="114299"/>
              </a:xfrm>
              <a:prstGeom prst="rect">
                <a:avLst/>
              </a:prstGeom>
              <a:solidFill>
                <a:srgbClr val="1B7AA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" name="직사각형 17">
                <a:extLst>
                  <a:ext uri="{FF2B5EF4-FFF2-40B4-BE49-F238E27FC236}">
                    <a16:creationId xmlns:a16="http://schemas.microsoft.com/office/drawing/2014/main" id="{2A49961E-E504-1FEA-D47E-8B9FDB6571DC}"/>
                  </a:ext>
                </a:extLst>
              </p:cNvPr>
              <p:cNvSpPr/>
              <p:nvPr/>
            </p:nvSpPr>
            <p:spPr>
              <a:xfrm>
                <a:off x="52388" y="6743700"/>
                <a:ext cx="364331" cy="114299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9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7672F41-4857-1D40-5730-813FBEE6CA3D}"/>
                </a:ext>
              </a:extLst>
            </p:cNvPr>
            <p:cNvSpPr txBox="1"/>
            <p:nvPr/>
          </p:nvSpPr>
          <p:spPr>
            <a:xfrm>
              <a:off x="-7110" y="6642020"/>
              <a:ext cx="58956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source</a:t>
              </a:r>
              <a:endParaRPr lang="ko-KR" altLang="en-US" sz="1000" dirty="0">
                <a:latin typeface="Pretendard SemiBold" panose="02000703000000020004" pitchFamily="2" charset="-127"/>
                <a:ea typeface="Pretendard SemiBold" panose="02000703000000020004" pitchFamily="2" charset="-127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9F76D4B-4F24-CA28-531C-0003B114727C}"/>
                </a:ext>
              </a:extLst>
            </p:cNvPr>
            <p:cNvSpPr txBox="1"/>
            <p:nvPr/>
          </p:nvSpPr>
          <p:spPr>
            <a:xfrm>
              <a:off x="468659" y="6651272"/>
              <a:ext cx="1162027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dirty="0">
                  <a:latin typeface="Pretendard" panose="02000503000000020004" pitchFamily="2" charset="-127"/>
                  <a:ea typeface="Pretendard" panose="02000503000000020004" pitchFamily="2" charset="-127"/>
                </a:rPr>
                <a:t>Re-created illustration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F67EBD3-6B5D-0B04-3152-653837BD277B}"/>
              </a:ext>
            </a:extLst>
          </p:cNvPr>
          <p:cNvSpPr txBox="1"/>
          <p:nvPr/>
        </p:nvSpPr>
        <p:spPr>
          <a:xfrm>
            <a:off x="668703" y="1715700"/>
            <a:ext cx="7160920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What is </a:t>
            </a:r>
            <a:r>
              <a:rPr lang="en-US" altLang="ko-KR" sz="2200" dirty="0">
                <a:solidFill>
                  <a:srgbClr val="FF0000"/>
                </a:solidFill>
                <a:latin typeface="SF싸락눈" panose="02000503000000000000" pitchFamily="2" charset="-127"/>
                <a:ea typeface="SF싸락눈" panose="02000503000000000000" pitchFamily="2" charset="-127"/>
              </a:rPr>
              <a:t>Wi-Fi Traffic</a:t>
            </a: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5410E63-8777-151E-6324-F3BD977E9011}"/>
              </a:ext>
            </a:extLst>
          </p:cNvPr>
          <p:cNvSpPr txBox="1"/>
          <p:nvPr/>
        </p:nvSpPr>
        <p:spPr>
          <a:xfrm>
            <a:off x="819555" y="2207751"/>
            <a:ext cx="5915542" cy="1648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/>
              <a:t>The flow of data </a:t>
            </a:r>
            <a:r>
              <a:rPr lang="en-US" altLang="ko-KR" sz="2000" b="1" dirty="0"/>
              <a:t>packets</a:t>
            </a:r>
            <a:r>
              <a:rPr lang="en-US" altLang="ko-KR" sz="2000" dirty="0"/>
              <a:t> between your devices and the router.</a:t>
            </a: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/>
              <a:t>It's the invisible conversation happening on your network.</a:t>
            </a:r>
            <a:endParaRPr lang="en-US" altLang="ko-KR" sz="2000" dirty="0">
              <a:solidFill>
                <a:srgbClr val="C00000"/>
              </a:solidFill>
              <a:latin typeface="Pretendard Light" panose="02000403000000020004" pitchFamily="2" charset="-127"/>
              <a:ea typeface="Pretendard Light" panose="02000403000000020004" pitchFamily="2" charset="-127"/>
            </a:endParaRPr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B5E6B7E9-8FDE-6AE1-1E77-3711B8FBEC11}"/>
              </a:ext>
            </a:extLst>
          </p:cNvPr>
          <p:cNvGrpSpPr>
            <a:grpSpLocks noChangeAspect="1"/>
          </p:cNvGrpSpPr>
          <p:nvPr/>
        </p:nvGrpSpPr>
        <p:grpSpPr>
          <a:xfrm>
            <a:off x="6191664" y="2583409"/>
            <a:ext cx="5897272" cy="2099010"/>
            <a:chOff x="7713517" y="3239137"/>
            <a:chExt cx="3524590" cy="1254504"/>
          </a:xfrm>
        </p:grpSpPr>
        <p:pic>
          <p:nvPicPr>
            <p:cNvPr id="29" name="Picture 12">
              <a:extLst>
                <a:ext uri="{FF2B5EF4-FFF2-40B4-BE49-F238E27FC236}">
                  <a16:creationId xmlns:a16="http://schemas.microsoft.com/office/drawing/2014/main" id="{85B0C6E9-8F9B-1495-930E-441826DDF29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2544" t="29478" r="1879" b="39357"/>
            <a:stretch/>
          </p:blipFill>
          <p:spPr>
            <a:xfrm>
              <a:off x="7713517" y="3239137"/>
              <a:ext cx="3524590" cy="1254504"/>
            </a:xfrm>
            <a:prstGeom prst="rect">
              <a:avLst/>
            </a:prstGeom>
          </p:spPr>
        </p:pic>
        <p:sp>
          <p:nvSpPr>
            <p:cNvPr id="30" name="Freeform 13">
              <a:extLst>
                <a:ext uri="{FF2B5EF4-FFF2-40B4-BE49-F238E27FC236}">
                  <a16:creationId xmlns:a16="http://schemas.microsoft.com/office/drawing/2014/main" id="{C0AF62A3-C886-440E-E25F-B38905EEEEF5}"/>
                </a:ext>
              </a:extLst>
            </p:cNvPr>
            <p:cNvSpPr/>
            <p:nvPr/>
          </p:nvSpPr>
          <p:spPr>
            <a:xfrm flipV="1">
              <a:off x="8775164" y="3805609"/>
              <a:ext cx="1581873" cy="495116"/>
            </a:xfrm>
            <a:custGeom>
              <a:avLst/>
              <a:gdLst>
                <a:gd name="connsiteX0" fmla="*/ 0 w 2769704"/>
                <a:gd name="connsiteY0" fmla="*/ 0 h 2637182"/>
                <a:gd name="connsiteX1" fmla="*/ 980661 w 2769704"/>
                <a:gd name="connsiteY1" fmla="*/ 1007165 h 2637182"/>
                <a:gd name="connsiteX2" fmla="*/ 2014330 w 2769704"/>
                <a:gd name="connsiteY2" fmla="*/ 993913 h 2637182"/>
                <a:gd name="connsiteX3" fmla="*/ 2478156 w 2769704"/>
                <a:gd name="connsiteY3" fmla="*/ 1007165 h 2637182"/>
                <a:gd name="connsiteX4" fmla="*/ 2054087 w 2769704"/>
                <a:gd name="connsiteY4" fmla="*/ 1709530 h 2637182"/>
                <a:gd name="connsiteX5" fmla="*/ 2650434 w 2769704"/>
                <a:gd name="connsiteY5" fmla="*/ 2001078 h 2637182"/>
                <a:gd name="connsiteX6" fmla="*/ 2769704 w 2769704"/>
                <a:gd name="connsiteY6" fmla="*/ 2637182 h 2637182"/>
                <a:gd name="connsiteX0" fmla="*/ 0 w 2769704"/>
                <a:gd name="connsiteY0" fmla="*/ 0 h 2637182"/>
                <a:gd name="connsiteX1" fmla="*/ 980661 w 2769704"/>
                <a:gd name="connsiteY1" fmla="*/ 1007165 h 2637182"/>
                <a:gd name="connsiteX2" fmla="*/ 2014330 w 2769704"/>
                <a:gd name="connsiteY2" fmla="*/ 1016216 h 2637182"/>
                <a:gd name="connsiteX3" fmla="*/ 2478156 w 2769704"/>
                <a:gd name="connsiteY3" fmla="*/ 1007165 h 2637182"/>
                <a:gd name="connsiteX4" fmla="*/ 2054087 w 2769704"/>
                <a:gd name="connsiteY4" fmla="*/ 1709530 h 2637182"/>
                <a:gd name="connsiteX5" fmla="*/ 2650434 w 2769704"/>
                <a:gd name="connsiteY5" fmla="*/ 2001078 h 2637182"/>
                <a:gd name="connsiteX6" fmla="*/ 2769704 w 2769704"/>
                <a:gd name="connsiteY6" fmla="*/ 2637182 h 2637182"/>
                <a:gd name="connsiteX0" fmla="*/ 0 w 2769704"/>
                <a:gd name="connsiteY0" fmla="*/ 0 h 2637182"/>
                <a:gd name="connsiteX1" fmla="*/ 980661 w 2769704"/>
                <a:gd name="connsiteY1" fmla="*/ 1007165 h 2637182"/>
                <a:gd name="connsiteX2" fmla="*/ 2014330 w 2769704"/>
                <a:gd name="connsiteY2" fmla="*/ 998374 h 2637182"/>
                <a:gd name="connsiteX3" fmla="*/ 2478156 w 2769704"/>
                <a:gd name="connsiteY3" fmla="*/ 1007165 h 2637182"/>
                <a:gd name="connsiteX4" fmla="*/ 2054087 w 2769704"/>
                <a:gd name="connsiteY4" fmla="*/ 1709530 h 2637182"/>
                <a:gd name="connsiteX5" fmla="*/ 2650434 w 2769704"/>
                <a:gd name="connsiteY5" fmla="*/ 2001078 h 2637182"/>
                <a:gd name="connsiteX6" fmla="*/ 2769704 w 2769704"/>
                <a:gd name="connsiteY6" fmla="*/ 2637182 h 2637182"/>
                <a:gd name="connsiteX0" fmla="*/ 0 w 2769704"/>
                <a:gd name="connsiteY0" fmla="*/ 0 h 2637182"/>
                <a:gd name="connsiteX1" fmla="*/ 980661 w 2769704"/>
                <a:gd name="connsiteY1" fmla="*/ 1007165 h 2637182"/>
                <a:gd name="connsiteX2" fmla="*/ 2014330 w 2769704"/>
                <a:gd name="connsiteY2" fmla="*/ 1011756 h 2637182"/>
                <a:gd name="connsiteX3" fmla="*/ 2478156 w 2769704"/>
                <a:gd name="connsiteY3" fmla="*/ 1007165 h 2637182"/>
                <a:gd name="connsiteX4" fmla="*/ 2054087 w 2769704"/>
                <a:gd name="connsiteY4" fmla="*/ 1709530 h 2637182"/>
                <a:gd name="connsiteX5" fmla="*/ 2650434 w 2769704"/>
                <a:gd name="connsiteY5" fmla="*/ 2001078 h 2637182"/>
                <a:gd name="connsiteX6" fmla="*/ 2769704 w 2769704"/>
                <a:gd name="connsiteY6" fmla="*/ 2637182 h 2637182"/>
                <a:gd name="connsiteX0" fmla="*/ 0 w 2769704"/>
                <a:gd name="connsiteY0" fmla="*/ 0 h 2637182"/>
                <a:gd name="connsiteX1" fmla="*/ 980661 w 2769704"/>
                <a:gd name="connsiteY1" fmla="*/ 1007165 h 2637182"/>
                <a:gd name="connsiteX2" fmla="*/ 2014330 w 2769704"/>
                <a:gd name="connsiteY2" fmla="*/ 1011756 h 2637182"/>
                <a:gd name="connsiteX3" fmla="*/ 2478156 w 2769704"/>
                <a:gd name="connsiteY3" fmla="*/ 1007165 h 2637182"/>
                <a:gd name="connsiteX4" fmla="*/ 2054087 w 2769704"/>
                <a:gd name="connsiteY4" fmla="*/ 1709530 h 2637182"/>
                <a:gd name="connsiteX5" fmla="*/ 2753026 w 2769704"/>
                <a:gd name="connsiteY5" fmla="*/ 2050143 h 2637182"/>
                <a:gd name="connsiteX6" fmla="*/ 2769704 w 2769704"/>
                <a:gd name="connsiteY6" fmla="*/ 2637182 h 2637182"/>
                <a:gd name="connsiteX0" fmla="*/ 0 w 2753026"/>
                <a:gd name="connsiteY0" fmla="*/ 0 h 2628261"/>
                <a:gd name="connsiteX1" fmla="*/ 980661 w 2753026"/>
                <a:gd name="connsiteY1" fmla="*/ 1007165 h 2628261"/>
                <a:gd name="connsiteX2" fmla="*/ 2014330 w 2753026"/>
                <a:gd name="connsiteY2" fmla="*/ 1011756 h 2628261"/>
                <a:gd name="connsiteX3" fmla="*/ 2478156 w 2753026"/>
                <a:gd name="connsiteY3" fmla="*/ 1007165 h 2628261"/>
                <a:gd name="connsiteX4" fmla="*/ 2054087 w 2753026"/>
                <a:gd name="connsiteY4" fmla="*/ 1709530 h 2628261"/>
                <a:gd name="connsiteX5" fmla="*/ 2753026 w 2753026"/>
                <a:gd name="connsiteY5" fmla="*/ 2050143 h 2628261"/>
                <a:gd name="connsiteX6" fmla="*/ 2742942 w 2753026"/>
                <a:gd name="connsiteY6" fmla="*/ 2628261 h 2628261"/>
                <a:gd name="connsiteX0" fmla="*/ 0 w 2760784"/>
                <a:gd name="connsiteY0" fmla="*/ 0 h 2820062"/>
                <a:gd name="connsiteX1" fmla="*/ 980661 w 2760784"/>
                <a:gd name="connsiteY1" fmla="*/ 1007165 h 2820062"/>
                <a:gd name="connsiteX2" fmla="*/ 2014330 w 2760784"/>
                <a:gd name="connsiteY2" fmla="*/ 1011756 h 2820062"/>
                <a:gd name="connsiteX3" fmla="*/ 2478156 w 2760784"/>
                <a:gd name="connsiteY3" fmla="*/ 1007165 h 2820062"/>
                <a:gd name="connsiteX4" fmla="*/ 2054087 w 2760784"/>
                <a:gd name="connsiteY4" fmla="*/ 1709530 h 2820062"/>
                <a:gd name="connsiteX5" fmla="*/ 2753026 w 2760784"/>
                <a:gd name="connsiteY5" fmla="*/ 2050143 h 2820062"/>
                <a:gd name="connsiteX6" fmla="*/ 2760784 w 2760784"/>
                <a:gd name="connsiteY6" fmla="*/ 2820062 h 2820062"/>
                <a:gd name="connsiteX0" fmla="*/ 0 w 2760784"/>
                <a:gd name="connsiteY0" fmla="*/ 0 h 2820062"/>
                <a:gd name="connsiteX1" fmla="*/ 980661 w 2760784"/>
                <a:gd name="connsiteY1" fmla="*/ 1007165 h 2820062"/>
                <a:gd name="connsiteX2" fmla="*/ 2014330 w 2760784"/>
                <a:gd name="connsiteY2" fmla="*/ 1011756 h 2820062"/>
                <a:gd name="connsiteX3" fmla="*/ 2478156 w 2760784"/>
                <a:gd name="connsiteY3" fmla="*/ 1007165 h 2820062"/>
                <a:gd name="connsiteX4" fmla="*/ 2054087 w 2760784"/>
                <a:gd name="connsiteY4" fmla="*/ 1709530 h 2820062"/>
                <a:gd name="connsiteX5" fmla="*/ 2753026 w 2760784"/>
                <a:gd name="connsiteY5" fmla="*/ 2050143 h 2820062"/>
                <a:gd name="connsiteX6" fmla="*/ 2760783 w 2760784"/>
                <a:gd name="connsiteY6" fmla="*/ 2639768 h 2820062"/>
                <a:gd name="connsiteX7" fmla="*/ 2760784 w 2760784"/>
                <a:gd name="connsiteY7" fmla="*/ 2820062 h 2820062"/>
                <a:gd name="connsiteX0" fmla="*/ 0 w 3188991"/>
                <a:gd name="connsiteY0" fmla="*/ 0 h 2681787"/>
                <a:gd name="connsiteX1" fmla="*/ 980661 w 3188991"/>
                <a:gd name="connsiteY1" fmla="*/ 1007165 h 2681787"/>
                <a:gd name="connsiteX2" fmla="*/ 2014330 w 3188991"/>
                <a:gd name="connsiteY2" fmla="*/ 1011756 h 2681787"/>
                <a:gd name="connsiteX3" fmla="*/ 2478156 w 3188991"/>
                <a:gd name="connsiteY3" fmla="*/ 1007165 h 2681787"/>
                <a:gd name="connsiteX4" fmla="*/ 2054087 w 3188991"/>
                <a:gd name="connsiteY4" fmla="*/ 1709530 h 2681787"/>
                <a:gd name="connsiteX5" fmla="*/ 2753026 w 3188991"/>
                <a:gd name="connsiteY5" fmla="*/ 2050143 h 2681787"/>
                <a:gd name="connsiteX6" fmla="*/ 2760783 w 3188991"/>
                <a:gd name="connsiteY6" fmla="*/ 2639768 h 2681787"/>
                <a:gd name="connsiteX7" fmla="*/ 3188991 w 3188991"/>
                <a:gd name="connsiteY7" fmla="*/ 2681787 h 2681787"/>
                <a:gd name="connsiteX0" fmla="*/ 0 w 3188991"/>
                <a:gd name="connsiteY0" fmla="*/ 0 h 2691285"/>
                <a:gd name="connsiteX1" fmla="*/ 980661 w 3188991"/>
                <a:gd name="connsiteY1" fmla="*/ 1007165 h 2691285"/>
                <a:gd name="connsiteX2" fmla="*/ 2014330 w 3188991"/>
                <a:gd name="connsiteY2" fmla="*/ 1011756 h 2691285"/>
                <a:gd name="connsiteX3" fmla="*/ 2478156 w 3188991"/>
                <a:gd name="connsiteY3" fmla="*/ 1007165 h 2691285"/>
                <a:gd name="connsiteX4" fmla="*/ 2054087 w 3188991"/>
                <a:gd name="connsiteY4" fmla="*/ 1709530 h 2691285"/>
                <a:gd name="connsiteX5" fmla="*/ 2753026 w 3188991"/>
                <a:gd name="connsiteY5" fmla="*/ 2050143 h 2691285"/>
                <a:gd name="connsiteX6" fmla="*/ 2760783 w 3188991"/>
                <a:gd name="connsiteY6" fmla="*/ 2639768 h 2691285"/>
                <a:gd name="connsiteX7" fmla="*/ 3188991 w 3188991"/>
                <a:gd name="connsiteY7" fmla="*/ 2681787 h 2691285"/>
                <a:gd name="connsiteX0" fmla="*/ 0 w 3188991"/>
                <a:gd name="connsiteY0" fmla="*/ 0 h 2700394"/>
                <a:gd name="connsiteX1" fmla="*/ 980661 w 3188991"/>
                <a:gd name="connsiteY1" fmla="*/ 1007165 h 2700394"/>
                <a:gd name="connsiteX2" fmla="*/ 2014330 w 3188991"/>
                <a:gd name="connsiteY2" fmla="*/ 1011756 h 2700394"/>
                <a:gd name="connsiteX3" fmla="*/ 2478156 w 3188991"/>
                <a:gd name="connsiteY3" fmla="*/ 1007165 h 2700394"/>
                <a:gd name="connsiteX4" fmla="*/ 2054087 w 3188991"/>
                <a:gd name="connsiteY4" fmla="*/ 1709530 h 2700394"/>
                <a:gd name="connsiteX5" fmla="*/ 2753026 w 3188991"/>
                <a:gd name="connsiteY5" fmla="*/ 2050143 h 2700394"/>
                <a:gd name="connsiteX6" fmla="*/ 2765243 w 3188991"/>
                <a:gd name="connsiteY6" fmla="*/ 2662071 h 2700394"/>
                <a:gd name="connsiteX7" fmla="*/ 3188991 w 3188991"/>
                <a:gd name="connsiteY7" fmla="*/ 2681787 h 2700394"/>
                <a:gd name="connsiteX0" fmla="*/ 0 w 3188991"/>
                <a:gd name="connsiteY0" fmla="*/ 0 h 2686921"/>
                <a:gd name="connsiteX1" fmla="*/ 980661 w 3188991"/>
                <a:gd name="connsiteY1" fmla="*/ 1007165 h 2686921"/>
                <a:gd name="connsiteX2" fmla="*/ 2014330 w 3188991"/>
                <a:gd name="connsiteY2" fmla="*/ 1011756 h 2686921"/>
                <a:gd name="connsiteX3" fmla="*/ 2478156 w 3188991"/>
                <a:gd name="connsiteY3" fmla="*/ 1007165 h 2686921"/>
                <a:gd name="connsiteX4" fmla="*/ 2054087 w 3188991"/>
                <a:gd name="connsiteY4" fmla="*/ 1709530 h 2686921"/>
                <a:gd name="connsiteX5" fmla="*/ 2753026 w 3188991"/>
                <a:gd name="connsiteY5" fmla="*/ 2050143 h 2686921"/>
                <a:gd name="connsiteX6" fmla="*/ 2765243 w 3188991"/>
                <a:gd name="connsiteY6" fmla="*/ 2662071 h 2686921"/>
                <a:gd name="connsiteX7" fmla="*/ 3188991 w 3188991"/>
                <a:gd name="connsiteY7" fmla="*/ 2681787 h 2686921"/>
                <a:gd name="connsiteX0" fmla="*/ 0 w 3188991"/>
                <a:gd name="connsiteY0" fmla="*/ 0 h 2689619"/>
                <a:gd name="connsiteX1" fmla="*/ 980661 w 3188991"/>
                <a:gd name="connsiteY1" fmla="*/ 1007165 h 2689619"/>
                <a:gd name="connsiteX2" fmla="*/ 2014330 w 3188991"/>
                <a:gd name="connsiteY2" fmla="*/ 1011756 h 2689619"/>
                <a:gd name="connsiteX3" fmla="*/ 2478156 w 3188991"/>
                <a:gd name="connsiteY3" fmla="*/ 1007165 h 2689619"/>
                <a:gd name="connsiteX4" fmla="*/ 2054087 w 3188991"/>
                <a:gd name="connsiteY4" fmla="*/ 1709530 h 2689619"/>
                <a:gd name="connsiteX5" fmla="*/ 2753026 w 3188991"/>
                <a:gd name="connsiteY5" fmla="*/ 2050143 h 2689619"/>
                <a:gd name="connsiteX6" fmla="*/ 2769703 w 3188991"/>
                <a:gd name="connsiteY6" fmla="*/ 2675452 h 2689619"/>
                <a:gd name="connsiteX7" fmla="*/ 3188991 w 3188991"/>
                <a:gd name="connsiteY7" fmla="*/ 2681787 h 2689619"/>
                <a:gd name="connsiteX0" fmla="*/ 0 w 3188991"/>
                <a:gd name="connsiteY0" fmla="*/ 0 h 2681967"/>
                <a:gd name="connsiteX1" fmla="*/ 980661 w 3188991"/>
                <a:gd name="connsiteY1" fmla="*/ 1007165 h 2681967"/>
                <a:gd name="connsiteX2" fmla="*/ 2014330 w 3188991"/>
                <a:gd name="connsiteY2" fmla="*/ 1011756 h 2681967"/>
                <a:gd name="connsiteX3" fmla="*/ 2478156 w 3188991"/>
                <a:gd name="connsiteY3" fmla="*/ 1007165 h 2681967"/>
                <a:gd name="connsiteX4" fmla="*/ 2054087 w 3188991"/>
                <a:gd name="connsiteY4" fmla="*/ 1709530 h 2681967"/>
                <a:gd name="connsiteX5" fmla="*/ 2753026 w 3188991"/>
                <a:gd name="connsiteY5" fmla="*/ 2050143 h 2681967"/>
                <a:gd name="connsiteX6" fmla="*/ 2769703 w 3188991"/>
                <a:gd name="connsiteY6" fmla="*/ 2675452 h 2681967"/>
                <a:gd name="connsiteX7" fmla="*/ 3188991 w 3188991"/>
                <a:gd name="connsiteY7" fmla="*/ 2681787 h 2681967"/>
                <a:gd name="connsiteX0" fmla="*/ 0 w 3188991"/>
                <a:gd name="connsiteY0" fmla="*/ 0 h 2687647"/>
                <a:gd name="connsiteX1" fmla="*/ 980661 w 3188991"/>
                <a:gd name="connsiteY1" fmla="*/ 1007165 h 2687647"/>
                <a:gd name="connsiteX2" fmla="*/ 2014330 w 3188991"/>
                <a:gd name="connsiteY2" fmla="*/ 1011756 h 2687647"/>
                <a:gd name="connsiteX3" fmla="*/ 2478156 w 3188991"/>
                <a:gd name="connsiteY3" fmla="*/ 1007165 h 2687647"/>
                <a:gd name="connsiteX4" fmla="*/ 2054087 w 3188991"/>
                <a:gd name="connsiteY4" fmla="*/ 1709530 h 2687647"/>
                <a:gd name="connsiteX5" fmla="*/ 2753026 w 3188991"/>
                <a:gd name="connsiteY5" fmla="*/ 2050143 h 2687647"/>
                <a:gd name="connsiteX6" fmla="*/ 2769703 w 3188991"/>
                <a:gd name="connsiteY6" fmla="*/ 2675452 h 2687647"/>
                <a:gd name="connsiteX7" fmla="*/ 3188991 w 3188991"/>
                <a:gd name="connsiteY7" fmla="*/ 2681787 h 2687647"/>
                <a:gd name="connsiteX0" fmla="*/ 0 w 3064097"/>
                <a:gd name="connsiteY0" fmla="*/ 0 h 2687647"/>
                <a:gd name="connsiteX1" fmla="*/ 980661 w 3064097"/>
                <a:gd name="connsiteY1" fmla="*/ 1007165 h 2687647"/>
                <a:gd name="connsiteX2" fmla="*/ 2014330 w 3064097"/>
                <a:gd name="connsiteY2" fmla="*/ 1011756 h 2687647"/>
                <a:gd name="connsiteX3" fmla="*/ 2478156 w 3064097"/>
                <a:gd name="connsiteY3" fmla="*/ 1007165 h 2687647"/>
                <a:gd name="connsiteX4" fmla="*/ 2054087 w 3064097"/>
                <a:gd name="connsiteY4" fmla="*/ 1709530 h 2687647"/>
                <a:gd name="connsiteX5" fmla="*/ 2753026 w 3064097"/>
                <a:gd name="connsiteY5" fmla="*/ 2050143 h 2687647"/>
                <a:gd name="connsiteX6" fmla="*/ 2769703 w 3064097"/>
                <a:gd name="connsiteY6" fmla="*/ 2675452 h 2687647"/>
                <a:gd name="connsiteX7" fmla="*/ 3064097 w 3064097"/>
                <a:gd name="connsiteY7" fmla="*/ 2681787 h 2687647"/>
                <a:gd name="connsiteX0" fmla="*/ 0 w 3064097"/>
                <a:gd name="connsiteY0" fmla="*/ 0 h 2683755"/>
                <a:gd name="connsiteX1" fmla="*/ 980661 w 3064097"/>
                <a:gd name="connsiteY1" fmla="*/ 1007165 h 2683755"/>
                <a:gd name="connsiteX2" fmla="*/ 2014330 w 3064097"/>
                <a:gd name="connsiteY2" fmla="*/ 1011756 h 2683755"/>
                <a:gd name="connsiteX3" fmla="*/ 2478156 w 3064097"/>
                <a:gd name="connsiteY3" fmla="*/ 1007165 h 2683755"/>
                <a:gd name="connsiteX4" fmla="*/ 2054087 w 3064097"/>
                <a:gd name="connsiteY4" fmla="*/ 1709530 h 2683755"/>
                <a:gd name="connsiteX5" fmla="*/ 2753026 w 3064097"/>
                <a:gd name="connsiteY5" fmla="*/ 2050143 h 2683755"/>
                <a:gd name="connsiteX6" fmla="*/ 2769703 w 3064097"/>
                <a:gd name="connsiteY6" fmla="*/ 2675452 h 2683755"/>
                <a:gd name="connsiteX7" fmla="*/ 3064097 w 3064097"/>
                <a:gd name="connsiteY7" fmla="*/ 2681787 h 2683755"/>
                <a:gd name="connsiteX0" fmla="*/ 0 w 3064097"/>
                <a:gd name="connsiteY0" fmla="*/ 0 h 2683755"/>
                <a:gd name="connsiteX1" fmla="*/ 980661 w 3064097"/>
                <a:gd name="connsiteY1" fmla="*/ 1007165 h 2683755"/>
                <a:gd name="connsiteX2" fmla="*/ 2014330 w 3064097"/>
                <a:gd name="connsiteY2" fmla="*/ 1011756 h 2683755"/>
                <a:gd name="connsiteX3" fmla="*/ 2478156 w 3064097"/>
                <a:gd name="connsiteY3" fmla="*/ 1007165 h 2683755"/>
                <a:gd name="connsiteX4" fmla="*/ 2054087 w 3064097"/>
                <a:gd name="connsiteY4" fmla="*/ 1709530 h 2683755"/>
                <a:gd name="connsiteX5" fmla="*/ 2753026 w 3064097"/>
                <a:gd name="connsiteY5" fmla="*/ 2050143 h 2683755"/>
                <a:gd name="connsiteX6" fmla="*/ 2769703 w 3064097"/>
                <a:gd name="connsiteY6" fmla="*/ 2675452 h 2683755"/>
                <a:gd name="connsiteX7" fmla="*/ 3064097 w 3064097"/>
                <a:gd name="connsiteY7" fmla="*/ 2681787 h 2683755"/>
                <a:gd name="connsiteX0" fmla="*/ 0 w 4205087"/>
                <a:gd name="connsiteY0" fmla="*/ 0 h 4917290"/>
                <a:gd name="connsiteX1" fmla="*/ 980661 w 4205087"/>
                <a:gd name="connsiteY1" fmla="*/ 1007165 h 4917290"/>
                <a:gd name="connsiteX2" fmla="*/ 2014330 w 4205087"/>
                <a:gd name="connsiteY2" fmla="*/ 1011756 h 4917290"/>
                <a:gd name="connsiteX3" fmla="*/ 2478156 w 4205087"/>
                <a:gd name="connsiteY3" fmla="*/ 1007165 h 4917290"/>
                <a:gd name="connsiteX4" fmla="*/ 2054087 w 4205087"/>
                <a:gd name="connsiteY4" fmla="*/ 1709530 h 4917290"/>
                <a:gd name="connsiteX5" fmla="*/ 2753026 w 4205087"/>
                <a:gd name="connsiteY5" fmla="*/ 2050143 h 4917290"/>
                <a:gd name="connsiteX6" fmla="*/ 2769703 w 4205087"/>
                <a:gd name="connsiteY6" fmla="*/ 2675452 h 4917290"/>
                <a:gd name="connsiteX7" fmla="*/ 4205087 w 4205087"/>
                <a:gd name="connsiteY7" fmla="*/ 4917290 h 4917290"/>
                <a:gd name="connsiteX0" fmla="*/ 0 w 4205087"/>
                <a:gd name="connsiteY0" fmla="*/ 0 h 4917315"/>
                <a:gd name="connsiteX1" fmla="*/ 980661 w 4205087"/>
                <a:gd name="connsiteY1" fmla="*/ 1007165 h 4917315"/>
                <a:gd name="connsiteX2" fmla="*/ 2014330 w 4205087"/>
                <a:gd name="connsiteY2" fmla="*/ 1011756 h 4917315"/>
                <a:gd name="connsiteX3" fmla="*/ 2478156 w 4205087"/>
                <a:gd name="connsiteY3" fmla="*/ 1007165 h 4917315"/>
                <a:gd name="connsiteX4" fmla="*/ 2054087 w 4205087"/>
                <a:gd name="connsiteY4" fmla="*/ 1709530 h 4917315"/>
                <a:gd name="connsiteX5" fmla="*/ 2753026 w 4205087"/>
                <a:gd name="connsiteY5" fmla="*/ 2050143 h 4917315"/>
                <a:gd name="connsiteX6" fmla="*/ 2701787 w 4205087"/>
                <a:gd name="connsiteY6" fmla="*/ 4738996 h 4917315"/>
                <a:gd name="connsiteX7" fmla="*/ 4205087 w 4205087"/>
                <a:gd name="connsiteY7" fmla="*/ 4917290 h 4917315"/>
                <a:gd name="connsiteX0" fmla="*/ 0 w 4205087"/>
                <a:gd name="connsiteY0" fmla="*/ 0 h 4917315"/>
                <a:gd name="connsiteX1" fmla="*/ 980661 w 4205087"/>
                <a:gd name="connsiteY1" fmla="*/ 1007165 h 4917315"/>
                <a:gd name="connsiteX2" fmla="*/ 2014330 w 4205087"/>
                <a:gd name="connsiteY2" fmla="*/ 1011756 h 4917315"/>
                <a:gd name="connsiteX3" fmla="*/ 2478156 w 4205087"/>
                <a:gd name="connsiteY3" fmla="*/ 1007165 h 4917315"/>
                <a:gd name="connsiteX4" fmla="*/ 2054087 w 4205087"/>
                <a:gd name="connsiteY4" fmla="*/ 1709530 h 4917315"/>
                <a:gd name="connsiteX5" fmla="*/ 2780192 w 4205087"/>
                <a:gd name="connsiteY5" fmla="*/ 2852631 h 4917315"/>
                <a:gd name="connsiteX6" fmla="*/ 2701787 w 4205087"/>
                <a:gd name="connsiteY6" fmla="*/ 4738996 h 4917315"/>
                <a:gd name="connsiteX7" fmla="*/ 4205087 w 4205087"/>
                <a:gd name="connsiteY7" fmla="*/ 4917290 h 4917315"/>
                <a:gd name="connsiteX0" fmla="*/ 0 w 4205087"/>
                <a:gd name="connsiteY0" fmla="*/ 0 h 4917315"/>
                <a:gd name="connsiteX1" fmla="*/ 980661 w 4205087"/>
                <a:gd name="connsiteY1" fmla="*/ 1007165 h 4917315"/>
                <a:gd name="connsiteX2" fmla="*/ 2014330 w 4205087"/>
                <a:gd name="connsiteY2" fmla="*/ 1011756 h 4917315"/>
                <a:gd name="connsiteX3" fmla="*/ 2478156 w 4205087"/>
                <a:gd name="connsiteY3" fmla="*/ 1007165 h 4917315"/>
                <a:gd name="connsiteX4" fmla="*/ 2529499 w 4205087"/>
                <a:gd name="connsiteY4" fmla="*/ 1308286 h 4917315"/>
                <a:gd name="connsiteX5" fmla="*/ 2780192 w 4205087"/>
                <a:gd name="connsiteY5" fmla="*/ 2852631 h 4917315"/>
                <a:gd name="connsiteX6" fmla="*/ 2701787 w 4205087"/>
                <a:gd name="connsiteY6" fmla="*/ 4738996 h 4917315"/>
                <a:gd name="connsiteX7" fmla="*/ 4205087 w 4205087"/>
                <a:gd name="connsiteY7" fmla="*/ 4917290 h 4917315"/>
                <a:gd name="connsiteX0" fmla="*/ 0 w 4205087"/>
                <a:gd name="connsiteY0" fmla="*/ 0 h 4917315"/>
                <a:gd name="connsiteX1" fmla="*/ 939912 w 4205087"/>
                <a:gd name="connsiteY1" fmla="*/ 1293766 h 4917315"/>
                <a:gd name="connsiteX2" fmla="*/ 2014330 w 4205087"/>
                <a:gd name="connsiteY2" fmla="*/ 1011756 h 4917315"/>
                <a:gd name="connsiteX3" fmla="*/ 2478156 w 4205087"/>
                <a:gd name="connsiteY3" fmla="*/ 1007165 h 4917315"/>
                <a:gd name="connsiteX4" fmla="*/ 2529499 w 4205087"/>
                <a:gd name="connsiteY4" fmla="*/ 1308286 h 4917315"/>
                <a:gd name="connsiteX5" fmla="*/ 2780192 w 4205087"/>
                <a:gd name="connsiteY5" fmla="*/ 2852631 h 4917315"/>
                <a:gd name="connsiteX6" fmla="*/ 2701787 w 4205087"/>
                <a:gd name="connsiteY6" fmla="*/ 4738996 h 4917315"/>
                <a:gd name="connsiteX7" fmla="*/ 4205087 w 4205087"/>
                <a:gd name="connsiteY7" fmla="*/ 4917290 h 4917315"/>
                <a:gd name="connsiteX0" fmla="*/ 0 w 4205087"/>
                <a:gd name="connsiteY0" fmla="*/ 0 h 4917315"/>
                <a:gd name="connsiteX1" fmla="*/ 939912 w 4205087"/>
                <a:gd name="connsiteY1" fmla="*/ 1293766 h 4917315"/>
                <a:gd name="connsiteX2" fmla="*/ 2014330 w 4205087"/>
                <a:gd name="connsiteY2" fmla="*/ 1011756 h 4917315"/>
                <a:gd name="connsiteX3" fmla="*/ 2518907 w 4205087"/>
                <a:gd name="connsiteY3" fmla="*/ 720563 h 4917315"/>
                <a:gd name="connsiteX4" fmla="*/ 2529499 w 4205087"/>
                <a:gd name="connsiteY4" fmla="*/ 1308286 h 4917315"/>
                <a:gd name="connsiteX5" fmla="*/ 2780192 w 4205087"/>
                <a:gd name="connsiteY5" fmla="*/ 2852631 h 4917315"/>
                <a:gd name="connsiteX6" fmla="*/ 2701787 w 4205087"/>
                <a:gd name="connsiteY6" fmla="*/ 4738996 h 4917315"/>
                <a:gd name="connsiteX7" fmla="*/ 4205087 w 4205087"/>
                <a:gd name="connsiteY7" fmla="*/ 4917290 h 4917315"/>
                <a:gd name="connsiteX0" fmla="*/ 0 w 4205087"/>
                <a:gd name="connsiteY0" fmla="*/ 0 h 4917315"/>
                <a:gd name="connsiteX1" fmla="*/ 939912 w 4205087"/>
                <a:gd name="connsiteY1" fmla="*/ 1293766 h 4917315"/>
                <a:gd name="connsiteX2" fmla="*/ 2014330 w 4205087"/>
                <a:gd name="connsiteY2" fmla="*/ 1011756 h 4917315"/>
                <a:gd name="connsiteX3" fmla="*/ 2518907 w 4205087"/>
                <a:gd name="connsiteY3" fmla="*/ 720563 h 4917315"/>
                <a:gd name="connsiteX4" fmla="*/ 2556665 w 4205087"/>
                <a:gd name="connsiteY4" fmla="*/ 849722 h 4917315"/>
                <a:gd name="connsiteX5" fmla="*/ 2780192 w 4205087"/>
                <a:gd name="connsiteY5" fmla="*/ 2852631 h 4917315"/>
                <a:gd name="connsiteX6" fmla="*/ 2701787 w 4205087"/>
                <a:gd name="connsiteY6" fmla="*/ 4738996 h 4917315"/>
                <a:gd name="connsiteX7" fmla="*/ 4205087 w 4205087"/>
                <a:gd name="connsiteY7" fmla="*/ 4917290 h 4917315"/>
                <a:gd name="connsiteX0" fmla="*/ 0 w 4205087"/>
                <a:gd name="connsiteY0" fmla="*/ 0 h 4917315"/>
                <a:gd name="connsiteX1" fmla="*/ 1145642 w 4205087"/>
                <a:gd name="connsiteY1" fmla="*/ 1610210 h 4917315"/>
                <a:gd name="connsiteX2" fmla="*/ 2014330 w 4205087"/>
                <a:gd name="connsiteY2" fmla="*/ 1011756 h 4917315"/>
                <a:gd name="connsiteX3" fmla="*/ 2518907 w 4205087"/>
                <a:gd name="connsiteY3" fmla="*/ 720563 h 4917315"/>
                <a:gd name="connsiteX4" fmla="*/ 2556665 w 4205087"/>
                <a:gd name="connsiteY4" fmla="*/ 849722 h 4917315"/>
                <a:gd name="connsiteX5" fmla="*/ 2780192 w 4205087"/>
                <a:gd name="connsiteY5" fmla="*/ 2852631 h 4917315"/>
                <a:gd name="connsiteX6" fmla="*/ 2701787 w 4205087"/>
                <a:gd name="connsiteY6" fmla="*/ 4738996 h 4917315"/>
                <a:gd name="connsiteX7" fmla="*/ 4205087 w 4205087"/>
                <a:gd name="connsiteY7" fmla="*/ 4917290 h 4917315"/>
                <a:gd name="connsiteX0" fmla="*/ 0 w 4205087"/>
                <a:gd name="connsiteY0" fmla="*/ 0 h 4917315"/>
                <a:gd name="connsiteX1" fmla="*/ 1145642 w 4205087"/>
                <a:gd name="connsiteY1" fmla="*/ 1610210 h 4917315"/>
                <a:gd name="connsiteX2" fmla="*/ 2014330 w 4205087"/>
                <a:gd name="connsiteY2" fmla="*/ 1011756 h 4917315"/>
                <a:gd name="connsiteX3" fmla="*/ 2518907 w 4205087"/>
                <a:gd name="connsiteY3" fmla="*/ 720563 h 4917315"/>
                <a:gd name="connsiteX4" fmla="*/ 2677684 w 4205087"/>
                <a:gd name="connsiteY4" fmla="*/ 1194934 h 4917315"/>
                <a:gd name="connsiteX5" fmla="*/ 2780192 w 4205087"/>
                <a:gd name="connsiteY5" fmla="*/ 2852631 h 4917315"/>
                <a:gd name="connsiteX6" fmla="*/ 2701787 w 4205087"/>
                <a:gd name="connsiteY6" fmla="*/ 4738996 h 4917315"/>
                <a:gd name="connsiteX7" fmla="*/ 4205087 w 4205087"/>
                <a:gd name="connsiteY7" fmla="*/ 4917290 h 4917315"/>
                <a:gd name="connsiteX0" fmla="*/ 0 w 4205087"/>
                <a:gd name="connsiteY0" fmla="*/ 0 h 4917315"/>
                <a:gd name="connsiteX1" fmla="*/ 1145642 w 4205087"/>
                <a:gd name="connsiteY1" fmla="*/ 1610210 h 4917315"/>
                <a:gd name="connsiteX2" fmla="*/ 2014330 w 4205087"/>
                <a:gd name="connsiteY2" fmla="*/ 1011756 h 4917315"/>
                <a:gd name="connsiteX3" fmla="*/ 2700435 w 4205087"/>
                <a:gd name="connsiteY3" fmla="*/ 1180845 h 4917315"/>
                <a:gd name="connsiteX4" fmla="*/ 2677684 w 4205087"/>
                <a:gd name="connsiteY4" fmla="*/ 1194934 h 4917315"/>
                <a:gd name="connsiteX5" fmla="*/ 2780192 w 4205087"/>
                <a:gd name="connsiteY5" fmla="*/ 2852631 h 4917315"/>
                <a:gd name="connsiteX6" fmla="*/ 2701787 w 4205087"/>
                <a:gd name="connsiteY6" fmla="*/ 4738996 h 4917315"/>
                <a:gd name="connsiteX7" fmla="*/ 4205087 w 4205087"/>
                <a:gd name="connsiteY7" fmla="*/ 4917290 h 4917315"/>
                <a:gd name="connsiteX0" fmla="*/ 0 w 4205087"/>
                <a:gd name="connsiteY0" fmla="*/ 0 h 4917315"/>
                <a:gd name="connsiteX1" fmla="*/ 1145642 w 4205087"/>
                <a:gd name="connsiteY1" fmla="*/ 1610210 h 4917315"/>
                <a:gd name="connsiteX2" fmla="*/ 2026431 w 4205087"/>
                <a:gd name="connsiteY2" fmla="*/ 1385734 h 4917315"/>
                <a:gd name="connsiteX3" fmla="*/ 2700435 w 4205087"/>
                <a:gd name="connsiteY3" fmla="*/ 1180845 h 4917315"/>
                <a:gd name="connsiteX4" fmla="*/ 2677684 w 4205087"/>
                <a:gd name="connsiteY4" fmla="*/ 1194934 h 4917315"/>
                <a:gd name="connsiteX5" fmla="*/ 2780192 w 4205087"/>
                <a:gd name="connsiteY5" fmla="*/ 2852631 h 4917315"/>
                <a:gd name="connsiteX6" fmla="*/ 2701787 w 4205087"/>
                <a:gd name="connsiteY6" fmla="*/ 4738996 h 4917315"/>
                <a:gd name="connsiteX7" fmla="*/ 4205087 w 4205087"/>
                <a:gd name="connsiteY7" fmla="*/ 4917290 h 4917315"/>
                <a:gd name="connsiteX0" fmla="*/ 0 w 4205087"/>
                <a:gd name="connsiteY0" fmla="*/ 0 h 4917315"/>
                <a:gd name="connsiteX1" fmla="*/ 1145642 w 4205087"/>
                <a:gd name="connsiteY1" fmla="*/ 1610210 h 4917315"/>
                <a:gd name="connsiteX2" fmla="*/ 2026431 w 4205087"/>
                <a:gd name="connsiteY2" fmla="*/ 1385734 h 4917315"/>
                <a:gd name="connsiteX3" fmla="*/ 2700435 w 4205087"/>
                <a:gd name="connsiteY3" fmla="*/ 1180845 h 4917315"/>
                <a:gd name="connsiteX4" fmla="*/ 2677684 w 4205087"/>
                <a:gd name="connsiteY4" fmla="*/ 1194934 h 4917315"/>
                <a:gd name="connsiteX5" fmla="*/ 2816497 w 4205087"/>
                <a:gd name="connsiteY5" fmla="*/ 3111539 h 4917315"/>
                <a:gd name="connsiteX6" fmla="*/ 2701787 w 4205087"/>
                <a:gd name="connsiteY6" fmla="*/ 4738996 h 4917315"/>
                <a:gd name="connsiteX7" fmla="*/ 4205087 w 4205087"/>
                <a:gd name="connsiteY7" fmla="*/ 4917290 h 4917315"/>
                <a:gd name="connsiteX0" fmla="*/ 0 w 4205087"/>
                <a:gd name="connsiteY0" fmla="*/ 0 h 4917315"/>
                <a:gd name="connsiteX1" fmla="*/ 1145642 w 4205087"/>
                <a:gd name="connsiteY1" fmla="*/ 1610210 h 4917315"/>
                <a:gd name="connsiteX2" fmla="*/ 1276117 w 4205087"/>
                <a:gd name="connsiteY2" fmla="*/ 1558340 h 4917315"/>
                <a:gd name="connsiteX3" fmla="*/ 2700435 w 4205087"/>
                <a:gd name="connsiteY3" fmla="*/ 1180845 h 4917315"/>
                <a:gd name="connsiteX4" fmla="*/ 2677684 w 4205087"/>
                <a:gd name="connsiteY4" fmla="*/ 1194934 h 4917315"/>
                <a:gd name="connsiteX5" fmla="*/ 2816497 w 4205087"/>
                <a:gd name="connsiteY5" fmla="*/ 3111539 h 4917315"/>
                <a:gd name="connsiteX6" fmla="*/ 2701787 w 4205087"/>
                <a:gd name="connsiteY6" fmla="*/ 4738996 h 4917315"/>
                <a:gd name="connsiteX7" fmla="*/ 4205087 w 4205087"/>
                <a:gd name="connsiteY7" fmla="*/ 4917290 h 4917315"/>
                <a:gd name="connsiteX0" fmla="*/ 0 w 4205087"/>
                <a:gd name="connsiteY0" fmla="*/ 0 h 4917315"/>
                <a:gd name="connsiteX1" fmla="*/ 1145642 w 4205087"/>
                <a:gd name="connsiteY1" fmla="*/ 1610210 h 4917315"/>
                <a:gd name="connsiteX2" fmla="*/ 1276117 w 4205087"/>
                <a:gd name="connsiteY2" fmla="*/ 1558340 h 4917315"/>
                <a:gd name="connsiteX3" fmla="*/ 2700435 w 4205087"/>
                <a:gd name="connsiteY3" fmla="*/ 1180845 h 4917315"/>
                <a:gd name="connsiteX4" fmla="*/ 2713991 w 4205087"/>
                <a:gd name="connsiteY4" fmla="*/ 1223701 h 4917315"/>
                <a:gd name="connsiteX5" fmla="*/ 2816497 w 4205087"/>
                <a:gd name="connsiteY5" fmla="*/ 3111539 h 4917315"/>
                <a:gd name="connsiteX6" fmla="*/ 2701787 w 4205087"/>
                <a:gd name="connsiteY6" fmla="*/ 4738996 h 4917315"/>
                <a:gd name="connsiteX7" fmla="*/ 4205087 w 4205087"/>
                <a:gd name="connsiteY7" fmla="*/ 4917290 h 4917315"/>
                <a:gd name="connsiteX0" fmla="*/ 0 w 4205087"/>
                <a:gd name="connsiteY0" fmla="*/ 0 h 5142121"/>
                <a:gd name="connsiteX1" fmla="*/ 1145642 w 4205087"/>
                <a:gd name="connsiteY1" fmla="*/ 1610210 h 5142121"/>
                <a:gd name="connsiteX2" fmla="*/ 1276117 w 4205087"/>
                <a:gd name="connsiteY2" fmla="*/ 1558340 h 5142121"/>
                <a:gd name="connsiteX3" fmla="*/ 2700435 w 4205087"/>
                <a:gd name="connsiteY3" fmla="*/ 1180845 h 5142121"/>
                <a:gd name="connsiteX4" fmla="*/ 2713991 w 4205087"/>
                <a:gd name="connsiteY4" fmla="*/ 1223701 h 5142121"/>
                <a:gd name="connsiteX5" fmla="*/ 2816497 w 4205087"/>
                <a:gd name="connsiteY5" fmla="*/ 3111539 h 5142121"/>
                <a:gd name="connsiteX6" fmla="*/ 2750195 w 4205087"/>
                <a:gd name="connsiteY6" fmla="*/ 5141743 h 5142121"/>
                <a:gd name="connsiteX7" fmla="*/ 4205087 w 4205087"/>
                <a:gd name="connsiteY7" fmla="*/ 4917290 h 5142121"/>
                <a:gd name="connsiteX0" fmla="*/ 0 w 4205087"/>
                <a:gd name="connsiteY0" fmla="*/ 256527 h 5398648"/>
                <a:gd name="connsiteX1" fmla="*/ 1145642 w 4205087"/>
                <a:gd name="connsiteY1" fmla="*/ 1866737 h 5398648"/>
                <a:gd name="connsiteX2" fmla="*/ 50473 w 4205087"/>
                <a:gd name="connsiteY2" fmla="*/ 0 h 5398648"/>
                <a:gd name="connsiteX3" fmla="*/ 2700435 w 4205087"/>
                <a:gd name="connsiteY3" fmla="*/ 1437372 h 5398648"/>
                <a:gd name="connsiteX4" fmla="*/ 2713991 w 4205087"/>
                <a:gd name="connsiteY4" fmla="*/ 1480228 h 5398648"/>
                <a:gd name="connsiteX5" fmla="*/ 2816497 w 4205087"/>
                <a:gd name="connsiteY5" fmla="*/ 3368066 h 5398648"/>
                <a:gd name="connsiteX6" fmla="*/ 2750195 w 4205087"/>
                <a:gd name="connsiteY6" fmla="*/ 5398270 h 5398648"/>
                <a:gd name="connsiteX7" fmla="*/ 4205087 w 4205087"/>
                <a:gd name="connsiteY7" fmla="*/ 5173817 h 5398648"/>
                <a:gd name="connsiteX0" fmla="*/ 4782461 w 8987548"/>
                <a:gd name="connsiteY0" fmla="*/ 256527 h 5398648"/>
                <a:gd name="connsiteX1" fmla="*/ 0 w 8987548"/>
                <a:gd name="connsiteY1" fmla="*/ 3379134 h 5398648"/>
                <a:gd name="connsiteX2" fmla="*/ 4832934 w 8987548"/>
                <a:gd name="connsiteY2" fmla="*/ 0 h 5398648"/>
                <a:gd name="connsiteX3" fmla="*/ 7482896 w 8987548"/>
                <a:gd name="connsiteY3" fmla="*/ 1437372 h 5398648"/>
                <a:gd name="connsiteX4" fmla="*/ 7496452 w 8987548"/>
                <a:gd name="connsiteY4" fmla="*/ 1480228 h 5398648"/>
                <a:gd name="connsiteX5" fmla="*/ 7598958 w 8987548"/>
                <a:gd name="connsiteY5" fmla="*/ 3368066 h 5398648"/>
                <a:gd name="connsiteX6" fmla="*/ 7532656 w 8987548"/>
                <a:gd name="connsiteY6" fmla="*/ 5398270 h 5398648"/>
                <a:gd name="connsiteX7" fmla="*/ 8987548 w 8987548"/>
                <a:gd name="connsiteY7" fmla="*/ 5173817 h 5398648"/>
                <a:gd name="connsiteX0" fmla="*/ 4782461 w 8987548"/>
                <a:gd name="connsiteY0" fmla="*/ 256527 h 5298098"/>
                <a:gd name="connsiteX1" fmla="*/ 0 w 8987548"/>
                <a:gd name="connsiteY1" fmla="*/ 3379134 h 5298098"/>
                <a:gd name="connsiteX2" fmla="*/ 4832934 w 8987548"/>
                <a:gd name="connsiteY2" fmla="*/ 0 h 5298098"/>
                <a:gd name="connsiteX3" fmla="*/ 7482896 w 8987548"/>
                <a:gd name="connsiteY3" fmla="*/ 1437372 h 5298098"/>
                <a:gd name="connsiteX4" fmla="*/ 7496452 w 8987548"/>
                <a:gd name="connsiteY4" fmla="*/ 1480228 h 5298098"/>
                <a:gd name="connsiteX5" fmla="*/ 7598958 w 8987548"/>
                <a:gd name="connsiteY5" fmla="*/ 3368066 h 5298098"/>
                <a:gd name="connsiteX6" fmla="*/ 7857827 w 8987548"/>
                <a:gd name="connsiteY6" fmla="*/ 5297441 h 5298098"/>
                <a:gd name="connsiteX7" fmla="*/ 8987548 w 8987548"/>
                <a:gd name="connsiteY7" fmla="*/ 5173817 h 5298098"/>
                <a:gd name="connsiteX0" fmla="*/ 0 w 4205087"/>
                <a:gd name="connsiteY0" fmla="*/ 256527 h 5298098"/>
                <a:gd name="connsiteX1" fmla="*/ 45066 w 4205087"/>
                <a:gd name="connsiteY1" fmla="*/ 51875 h 5298098"/>
                <a:gd name="connsiteX2" fmla="*/ 50473 w 4205087"/>
                <a:gd name="connsiteY2" fmla="*/ 0 h 5298098"/>
                <a:gd name="connsiteX3" fmla="*/ 2700435 w 4205087"/>
                <a:gd name="connsiteY3" fmla="*/ 1437372 h 5298098"/>
                <a:gd name="connsiteX4" fmla="*/ 2713991 w 4205087"/>
                <a:gd name="connsiteY4" fmla="*/ 1480228 h 5298098"/>
                <a:gd name="connsiteX5" fmla="*/ 2816497 w 4205087"/>
                <a:gd name="connsiteY5" fmla="*/ 3368066 h 5298098"/>
                <a:gd name="connsiteX6" fmla="*/ 3075366 w 4205087"/>
                <a:gd name="connsiteY6" fmla="*/ 5297441 h 5298098"/>
                <a:gd name="connsiteX7" fmla="*/ 4205087 w 4205087"/>
                <a:gd name="connsiteY7" fmla="*/ 5173817 h 5298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205087" h="5298098">
                  <a:moveTo>
                    <a:pt x="0" y="256527"/>
                  </a:moveTo>
                  <a:lnTo>
                    <a:pt x="45066" y="51875"/>
                  </a:lnTo>
                  <a:lnTo>
                    <a:pt x="50473" y="0"/>
                  </a:lnTo>
                  <a:lnTo>
                    <a:pt x="2700435" y="1437372"/>
                  </a:lnTo>
                  <a:lnTo>
                    <a:pt x="2713991" y="1480228"/>
                  </a:lnTo>
                  <a:lnTo>
                    <a:pt x="2816497" y="3368066"/>
                  </a:lnTo>
                  <a:lnTo>
                    <a:pt x="3075366" y="5297441"/>
                  </a:lnTo>
                  <a:cubicBezTo>
                    <a:pt x="3209182" y="5308474"/>
                    <a:pt x="4071274" y="5176166"/>
                    <a:pt x="4205087" y="5173817"/>
                  </a:cubicBezTo>
                </a:path>
              </a:pathLst>
            </a:custGeom>
            <a:noFill/>
            <a:ln w="31750">
              <a:solidFill>
                <a:srgbClr val="C00000"/>
              </a:solidFill>
              <a:headEnd type="triangle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Light" panose="02000403000000020004" pitchFamily="2" charset="-127"/>
                <a:ea typeface="+mn-ea"/>
                <a:cs typeface="+mn-cs"/>
              </a:endParaRPr>
            </a:p>
          </p:txBody>
        </p:sp>
        <p:sp>
          <p:nvSpPr>
            <p:cNvPr id="31" name="Freeform 14">
              <a:extLst>
                <a:ext uri="{FF2B5EF4-FFF2-40B4-BE49-F238E27FC236}">
                  <a16:creationId xmlns:a16="http://schemas.microsoft.com/office/drawing/2014/main" id="{9D0EBC2F-6381-4BD8-ECEE-2DFC10C639C7}"/>
                </a:ext>
              </a:extLst>
            </p:cNvPr>
            <p:cNvSpPr/>
            <p:nvPr/>
          </p:nvSpPr>
          <p:spPr>
            <a:xfrm flipV="1">
              <a:off x="8723807" y="3774486"/>
              <a:ext cx="1610101" cy="429159"/>
            </a:xfrm>
            <a:custGeom>
              <a:avLst/>
              <a:gdLst>
                <a:gd name="connsiteX0" fmla="*/ 0 w 2769704"/>
                <a:gd name="connsiteY0" fmla="*/ 0 h 2637182"/>
                <a:gd name="connsiteX1" fmla="*/ 980661 w 2769704"/>
                <a:gd name="connsiteY1" fmla="*/ 1007165 h 2637182"/>
                <a:gd name="connsiteX2" fmla="*/ 2014330 w 2769704"/>
                <a:gd name="connsiteY2" fmla="*/ 993913 h 2637182"/>
                <a:gd name="connsiteX3" fmla="*/ 2478156 w 2769704"/>
                <a:gd name="connsiteY3" fmla="*/ 1007165 h 2637182"/>
                <a:gd name="connsiteX4" fmla="*/ 2054087 w 2769704"/>
                <a:gd name="connsiteY4" fmla="*/ 1709530 h 2637182"/>
                <a:gd name="connsiteX5" fmla="*/ 2650434 w 2769704"/>
                <a:gd name="connsiteY5" fmla="*/ 2001078 h 2637182"/>
                <a:gd name="connsiteX6" fmla="*/ 2769704 w 2769704"/>
                <a:gd name="connsiteY6" fmla="*/ 2637182 h 2637182"/>
                <a:gd name="connsiteX0" fmla="*/ 0 w 2769704"/>
                <a:gd name="connsiteY0" fmla="*/ 0 h 2637182"/>
                <a:gd name="connsiteX1" fmla="*/ 980661 w 2769704"/>
                <a:gd name="connsiteY1" fmla="*/ 1007165 h 2637182"/>
                <a:gd name="connsiteX2" fmla="*/ 2014330 w 2769704"/>
                <a:gd name="connsiteY2" fmla="*/ 1016216 h 2637182"/>
                <a:gd name="connsiteX3" fmla="*/ 2478156 w 2769704"/>
                <a:gd name="connsiteY3" fmla="*/ 1007165 h 2637182"/>
                <a:gd name="connsiteX4" fmla="*/ 2054087 w 2769704"/>
                <a:gd name="connsiteY4" fmla="*/ 1709530 h 2637182"/>
                <a:gd name="connsiteX5" fmla="*/ 2650434 w 2769704"/>
                <a:gd name="connsiteY5" fmla="*/ 2001078 h 2637182"/>
                <a:gd name="connsiteX6" fmla="*/ 2769704 w 2769704"/>
                <a:gd name="connsiteY6" fmla="*/ 2637182 h 2637182"/>
                <a:gd name="connsiteX0" fmla="*/ 0 w 2769704"/>
                <a:gd name="connsiteY0" fmla="*/ 0 h 2637182"/>
                <a:gd name="connsiteX1" fmla="*/ 980661 w 2769704"/>
                <a:gd name="connsiteY1" fmla="*/ 1007165 h 2637182"/>
                <a:gd name="connsiteX2" fmla="*/ 2014330 w 2769704"/>
                <a:gd name="connsiteY2" fmla="*/ 998374 h 2637182"/>
                <a:gd name="connsiteX3" fmla="*/ 2478156 w 2769704"/>
                <a:gd name="connsiteY3" fmla="*/ 1007165 h 2637182"/>
                <a:gd name="connsiteX4" fmla="*/ 2054087 w 2769704"/>
                <a:gd name="connsiteY4" fmla="*/ 1709530 h 2637182"/>
                <a:gd name="connsiteX5" fmla="*/ 2650434 w 2769704"/>
                <a:gd name="connsiteY5" fmla="*/ 2001078 h 2637182"/>
                <a:gd name="connsiteX6" fmla="*/ 2769704 w 2769704"/>
                <a:gd name="connsiteY6" fmla="*/ 2637182 h 2637182"/>
                <a:gd name="connsiteX0" fmla="*/ 0 w 2769704"/>
                <a:gd name="connsiteY0" fmla="*/ 0 h 2637182"/>
                <a:gd name="connsiteX1" fmla="*/ 980661 w 2769704"/>
                <a:gd name="connsiteY1" fmla="*/ 1007165 h 2637182"/>
                <a:gd name="connsiteX2" fmla="*/ 2014330 w 2769704"/>
                <a:gd name="connsiteY2" fmla="*/ 1011756 h 2637182"/>
                <a:gd name="connsiteX3" fmla="*/ 2478156 w 2769704"/>
                <a:gd name="connsiteY3" fmla="*/ 1007165 h 2637182"/>
                <a:gd name="connsiteX4" fmla="*/ 2054087 w 2769704"/>
                <a:gd name="connsiteY4" fmla="*/ 1709530 h 2637182"/>
                <a:gd name="connsiteX5" fmla="*/ 2650434 w 2769704"/>
                <a:gd name="connsiteY5" fmla="*/ 2001078 h 2637182"/>
                <a:gd name="connsiteX6" fmla="*/ 2769704 w 2769704"/>
                <a:gd name="connsiteY6" fmla="*/ 2637182 h 2637182"/>
                <a:gd name="connsiteX0" fmla="*/ 0 w 2769704"/>
                <a:gd name="connsiteY0" fmla="*/ 0 h 2637182"/>
                <a:gd name="connsiteX1" fmla="*/ 980661 w 2769704"/>
                <a:gd name="connsiteY1" fmla="*/ 1007165 h 2637182"/>
                <a:gd name="connsiteX2" fmla="*/ 2014330 w 2769704"/>
                <a:gd name="connsiteY2" fmla="*/ 1011756 h 2637182"/>
                <a:gd name="connsiteX3" fmla="*/ 2478156 w 2769704"/>
                <a:gd name="connsiteY3" fmla="*/ 1007165 h 2637182"/>
                <a:gd name="connsiteX4" fmla="*/ 2054087 w 2769704"/>
                <a:gd name="connsiteY4" fmla="*/ 1709530 h 2637182"/>
                <a:gd name="connsiteX5" fmla="*/ 2753026 w 2769704"/>
                <a:gd name="connsiteY5" fmla="*/ 2050143 h 2637182"/>
                <a:gd name="connsiteX6" fmla="*/ 2769704 w 2769704"/>
                <a:gd name="connsiteY6" fmla="*/ 2637182 h 2637182"/>
                <a:gd name="connsiteX0" fmla="*/ 0 w 2753026"/>
                <a:gd name="connsiteY0" fmla="*/ 0 h 2628261"/>
                <a:gd name="connsiteX1" fmla="*/ 980661 w 2753026"/>
                <a:gd name="connsiteY1" fmla="*/ 1007165 h 2628261"/>
                <a:gd name="connsiteX2" fmla="*/ 2014330 w 2753026"/>
                <a:gd name="connsiteY2" fmla="*/ 1011756 h 2628261"/>
                <a:gd name="connsiteX3" fmla="*/ 2478156 w 2753026"/>
                <a:gd name="connsiteY3" fmla="*/ 1007165 h 2628261"/>
                <a:gd name="connsiteX4" fmla="*/ 2054087 w 2753026"/>
                <a:gd name="connsiteY4" fmla="*/ 1709530 h 2628261"/>
                <a:gd name="connsiteX5" fmla="*/ 2753026 w 2753026"/>
                <a:gd name="connsiteY5" fmla="*/ 2050143 h 2628261"/>
                <a:gd name="connsiteX6" fmla="*/ 2742942 w 2753026"/>
                <a:gd name="connsiteY6" fmla="*/ 2628261 h 2628261"/>
                <a:gd name="connsiteX0" fmla="*/ 0 w 2760784"/>
                <a:gd name="connsiteY0" fmla="*/ 0 h 2820062"/>
                <a:gd name="connsiteX1" fmla="*/ 980661 w 2760784"/>
                <a:gd name="connsiteY1" fmla="*/ 1007165 h 2820062"/>
                <a:gd name="connsiteX2" fmla="*/ 2014330 w 2760784"/>
                <a:gd name="connsiteY2" fmla="*/ 1011756 h 2820062"/>
                <a:gd name="connsiteX3" fmla="*/ 2478156 w 2760784"/>
                <a:gd name="connsiteY3" fmla="*/ 1007165 h 2820062"/>
                <a:gd name="connsiteX4" fmla="*/ 2054087 w 2760784"/>
                <a:gd name="connsiteY4" fmla="*/ 1709530 h 2820062"/>
                <a:gd name="connsiteX5" fmla="*/ 2753026 w 2760784"/>
                <a:gd name="connsiteY5" fmla="*/ 2050143 h 2820062"/>
                <a:gd name="connsiteX6" fmla="*/ 2760784 w 2760784"/>
                <a:gd name="connsiteY6" fmla="*/ 2820062 h 2820062"/>
                <a:gd name="connsiteX0" fmla="*/ 0 w 2760784"/>
                <a:gd name="connsiteY0" fmla="*/ 0 h 2820062"/>
                <a:gd name="connsiteX1" fmla="*/ 980661 w 2760784"/>
                <a:gd name="connsiteY1" fmla="*/ 1007165 h 2820062"/>
                <a:gd name="connsiteX2" fmla="*/ 2014330 w 2760784"/>
                <a:gd name="connsiteY2" fmla="*/ 1011756 h 2820062"/>
                <a:gd name="connsiteX3" fmla="*/ 2478156 w 2760784"/>
                <a:gd name="connsiteY3" fmla="*/ 1007165 h 2820062"/>
                <a:gd name="connsiteX4" fmla="*/ 2054087 w 2760784"/>
                <a:gd name="connsiteY4" fmla="*/ 1709530 h 2820062"/>
                <a:gd name="connsiteX5" fmla="*/ 2753026 w 2760784"/>
                <a:gd name="connsiteY5" fmla="*/ 2050143 h 2820062"/>
                <a:gd name="connsiteX6" fmla="*/ 2760783 w 2760784"/>
                <a:gd name="connsiteY6" fmla="*/ 2639768 h 2820062"/>
                <a:gd name="connsiteX7" fmla="*/ 2760784 w 2760784"/>
                <a:gd name="connsiteY7" fmla="*/ 2820062 h 2820062"/>
                <a:gd name="connsiteX0" fmla="*/ 0 w 3188991"/>
                <a:gd name="connsiteY0" fmla="*/ 0 h 2681787"/>
                <a:gd name="connsiteX1" fmla="*/ 980661 w 3188991"/>
                <a:gd name="connsiteY1" fmla="*/ 1007165 h 2681787"/>
                <a:gd name="connsiteX2" fmla="*/ 2014330 w 3188991"/>
                <a:gd name="connsiteY2" fmla="*/ 1011756 h 2681787"/>
                <a:gd name="connsiteX3" fmla="*/ 2478156 w 3188991"/>
                <a:gd name="connsiteY3" fmla="*/ 1007165 h 2681787"/>
                <a:gd name="connsiteX4" fmla="*/ 2054087 w 3188991"/>
                <a:gd name="connsiteY4" fmla="*/ 1709530 h 2681787"/>
                <a:gd name="connsiteX5" fmla="*/ 2753026 w 3188991"/>
                <a:gd name="connsiteY5" fmla="*/ 2050143 h 2681787"/>
                <a:gd name="connsiteX6" fmla="*/ 2760783 w 3188991"/>
                <a:gd name="connsiteY6" fmla="*/ 2639768 h 2681787"/>
                <a:gd name="connsiteX7" fmla="*/ 3188991 w 3188991"/>
                <a:gd name="connsiteY7" fmla="*/ 2681787 h 2681787"/>
                <a:gd name="connsiteX0" fmla="*/ 0 w 3188991"/>
                <a:gd name="connsiteY0" fmla="*/ 0 h 2691285"/>
                <a:gd name="connsiteX1" fmla="*/ 980661 w 3188991"/>
                <a:gd name="connsiteY1" fmla="*/ 1007165 h 2691285"/>
                <a:gd name="connsiteX2" fmla="*/ 2014330 w 3188991"/>
                <a:gd name="connsiteY2" fmla="*/ 1011756 h 2691285"/>
                <a:gd name="connsiteX3" fmla="*/ 2478156 w 3188991"/>
                <a:gd name="connsiteY3" fmla="*/ 1007165 h 2691285"/>
                <a:gd name="connsiteX4" fmla="*/ 2054087 w 3188991"/>
                <a:gd name="connsiteY4" fmla="*/ 1709530 h 2691285"/>
                <a:gd name="connsiteX5" fmla="*/ 2753026 w 3188991"/>
                <a:gd name="connsiteY5" fmla="*/ 2050143 h 2691285"/>
                <a:gd name="connsiteX6" fmla="*/ 2760783 w 3188991"/>
                <a:gd name="connsiteY6" fmla="*/ 2639768 h 2691285"/>
                <a:gd name="connsiteX7" fmla="*/ 3188991 w 3188991"/>
                <a:gd name="connsiteY7" fmla="*/ 2681787 h 2691285"/>
                <a:gd name="connsiteX0" fmla="*/ 0 w 3188991"/>
                <a:gd name="connsiteY0" fmla="*/ 0 h 2700394"/>
                <a:gd name="connsiteX1" fmla="*/ 980661 w 3188991"/>
                <a:gd name="connsiteY1" fmla="*/ 1007165 h 2700394"/>
                <a:gd name="connsiteX2" fmla="*/ 2014330 w 3188991"/>
                <a:gd name="connsiteY2" fmla="*/ 1011756 h 2700394"/>
                <a:gd name="connsiteX3" fmla="*/ 2478156 w 3188991"/>
                <a:gd name="connsiteY3" fmla="*/ 1007165 h 2700394"/>
                <a:gd name="connsiteX4" fmla="*/ 2054087 w 3188991"/>
                <a:gd name="connsiteY4" fmla="*/ 1709530 h 2700394"/>
                <a:gd name="connsiteX5" fmla="*/ 2753026 w 3188991"/>
                <a:gd name="connsiteY5" fmla="*/ 2050143 h 2700394"/>
                <a:gd name="connsiteX6" fmla="*/ 2765243 w 3188991"/>
                <a:gd name="connsiteY6" fmla="*/ 2662071 h 2700394"/>
                <a:gd name="connsiteX7" fmla="*/ 3188991 w 3188991"/>
                <a:gd name="connsiteY7" fmla="*/ 2681787 h 2700394"/>
                <a:gd name="connsiteX0" fmla="*/ 0 w 3188991"/>
                <a:gd name="connsiteY0" fmla="*/ 0 h 2686921"/>
                <a:gd name="connsiteX1" fmla="*/ 980661 w 3188991"/>
                <a:gd name="connsiteY1" fmla="*/ 1007165 h 2686921"/>
                <a:gd name="connsiteX2" fmla="*/ 2014330 w 3188991"/>
                <a:gd name="connsiteY2" fmla="*/ 1011756 h 2686921"/>
                <a:gd name="connsiteX3" fmla="*/ 2478156 w 3188991"/>
                <a:gd name="connsiteY3" fmla="*/ 1007165 h 2686921"/>
                <a:gd name="connsiteX4" fmla="*/ 2054087 w 3188991"/>
                <a:gd name="connsiteY4" fmla="*/ 1709530 h 2686921"/>
                <a:gd name="connsiteX5" fmla="*/ 2753026 w 3188991"/>
                <a:gd name="connsiteY5" fmla="*/ 2050143 h 2686921"/>
                <a:gd name="connsiteX6" fmla="*/ 2765243 w 3188991"/>
                <a:gd name="connsiteY6" fmla="*/ 2662071 h 2686921"/>
                <a:gd name="connsiteX7" fmla="*/ 3188991 w 3188991"/>
                <a:gd name="connsiteY7" fmla="*/ 2681787 h 2686921"/>
                <a:gd name="connsiteX0" fmla="*/ 0 w 3188991"/>
                <a:gd name="connsiteY0" fmla="*/ 0 h 2689619"/>
                <a:gd name="connsiteX1" fmla="*/ 980661 w 3188991"/>
                <a:gd name="connsiteY1" fmla="*/ 1007165 h 2689619"/>
                <a:gd name="connsiteX2" fmla="*/ 2014330 w 3188991"/>
                <a:gd name="connsiteY2" fmla="*/ 1011756 h 2689619"/>
                <a:gd name="connsiteX3" fmla="*/ 2478156 w 3188991"/>
                <a:gd name="connsiteY3" fmla="*/ 1007165 h 2689619"/>
                <a:gd name="connsiteX4" fmla="*/ 2054087 w 3188991"/>
                <a:gd name="connsiteY4" fmla="*/ 1709530 h 2689619"/>
                <a:gd name="connsiteX5" fmla="*/ 2753026 w 3188991"/>
                <a:gd name="connsiteY5" fmla="*/ 2050143 h 2689619"/>
                <a:gd name="connsiteX6" fmla="*/ 2769703 w 3188991"/>
                <a:gd name="connsiteY6" fmla="*/ 2675452 h 2689619"/>
                <a:gd name="connsiteX7" fmla="*/ 3188991 w 3188991"/>
                <a:gd name="connsiteY7" fmla="*/ 2681787 h 2689619"/>
                <a:gd name="connsiteX0" fmla="*/ 0 w 3188991"/>
                <a:gd name="connsiteY0" fmla="*/ 0 h 2681967"/>
                <a:gd name="connsiteX1" fmla="*/ 980661 w 3188991"/>
                <a:gd name="connsiteY1" fmla="*/ 1007165 h 2681967"/>
                <a:gd name="connsiteX2" fmla="*/ 2014330 w 3188991"/>
                <a:gd name="connsiteY2" fmla="*/ 1011756 h 2681967"/>
                <a:gd name="connsiteX3" fmla="*/ 2478156 w 3188991"/>
                <a:gd name="connsiteY3" fmla="*/ 1007165 h 2681967"/>
                <a:gd name="connsiteX4" fmla="*/ 2054087 w 3188991"/>
                <a:gd name="connsiteY4" fmla="*/ 1709530 h 2681967"/>
                <a:gd name="connsiteX5" fmla="*/ 2753026 w 3188991"/>
                <a:gd name="connsiteY5" fmla="*/ 2050143 h 2681967"/>
                <a:gd name="connsiteX6" fmla="*/ 2769703 w 3188991"/>
                <a:gd name="connsiteY6" fmla="*/ 2675452 h 2681967"/>
                <a:gd name="connsiteX7" fmla="*/ 3188991 w 3188991"/>
                <a:gd name="connsiteY7" fmla="*/ 2681787 h 2681967"/>
                <a:gd name="connsiteX0" fmla="*/ 0 w 3188991"/>
                <a:gd name="connsiteY0" fmla="*/ 0 h 2687647"/>
                <a:gd name="connsiteX1" fmla="*/ 980661 w 3188991"/>
                <a:gd name="connsiteY1" fmla="*/ 1007165 h 2687647"/>
                <a:gd name="connsiteX2" fmla="*/ 2014330 w 3188991"/>
                <a:gd name="connsiteY2" fmla="*/ 1011756 h 2687647"/>
                <a:gd name="connsiteX3" fmla="*/ 2478156 w 3188991"/>
                <a:gd name="connsiteY3" fmla="*/ 1007165 h 2687647"/>
                <a:gd name="connsiteX4" fmla="*/ 2054087 w 3188991"/>
                <a:gd name="connsiteY4" fmla="*/ 1709530 h 2687647"/>
                <a:gd name="connsiteX5" fmla="*/ 2753026 w 3188991"/>
                <a:gd name="connsiteY5" fmla="*/ 2050143 h 2687647"/>
                <a:gd name="connsiteX6" fmla="*/ 2769703 w 3188991"/>
                <a:gd name="connsiteY6" fmla="*/ 2675452 h 2687647"/>
                <a:gd name="connsiteX7" fmla="*/ 3188991 w 3188991"/>
                <a:gd name="connsiteY7" fmla="*/ 2681787 h 2687647"/>
                <a:gd name="connsiteX0" fmla="*/ 0 w 3064097"/>
                <a:gd name="connsiteY0" fmla="*/ 0 h 2687647"/>
                <a:gd name="connsiteX1" fmla="*/ 980661 w 3064097"/>
                <a:gd name="connsiteY1" fmla="*/ 1007165 h 2687647"/>
                <a:gd name="connsiteX2" fmla="*/ 2014330 w 3064097"/>
                <a:gd name="connsiteY2" fmla="*/ 1011756 h 2687647"/>
                <a:gd name="connsiteX3" fmla="*/ 2478156 w 3064097"/>
                <a:gd name="connsiteY3" fmla="*/ 1007165 h 2687647"/>
                <a:gd name="connsiteX4" fmla="*/ 2054087 w 3064097"/>
                <a:gd name="connsiteY4" fmla="*/ 1709530 h 2687647"/>
                <a:gd name="connsiteX5" fmla="*/ 2753026 w 3064097"/>
                <a:gd name="connsiteY5" fmla="*/ 2050143 h 2687647"/>
                <a:gd name="connsiteX6" fmla="*/ 2769703 w 3064097"/>
                <a:gd name="connsiteY6" fmla="*/ 2675452 h 2687647"/>
                <a:gd name="connsiteX7" fmla="*/ 3064097 w 3064097"/>
                <a:gd name="connsiteY7" fmla="*/ 2681787 h 2687647"/>
                <a:gd name="connsiteX0" fmla="*/ 0 w 3064097"/>
                <a:gd name="connsiteY0" fmla="*/ 0 h 2683755"/>
                <a:gd name="connsiteX1" fmla="*/ 980661 w 3064097"/>
                <a:gd name="connsiteY1" fmla="*/ 1007165 h 2683755"/>
                <a:gd name="connsiteX2" fmla="*/ 2014330 w 3064097"/>
                <a:gd name="connsiteY2" fmla="*/ 1011756 h 2683755"/>
                <a:gd name="connsiteX3" fmla="*/ 2478156 w 3064097"/>
                <a:gd name="connsiteY3" fmla="*/ 1007165 h 2683755"/>
                <a:gd name="connsiteX4" fmla="*/ 2054087 w 3064097"/>
                <a:gd name="connsiteY4" fmla="*/ 1709530 h 2683755"/>
                <a:gd name="connsiteX5" fmla="*/ 2753026 w 3064097"/>
                <a:gd name="connsiteY5" fmla="*/ 2050143 h 2683755"/>
                <a:gd name="connsiteX6" fmla="*/ 2769703 w 3064097"/>
                <a:gd name="connsiteY6" fmla="*/ 2675452 h 2683755"/>
                <a:gd name="connsiteX7" fmla="*/ 3064097 w 3064097"/>
                <a:gd name="connsiteY7" fmla="*/ 2681787 h 2683755"/>
                <a:gd name="connsiteX0" fmla="*/ 0 w 3064097"/>
                <a:gd name="connsiteY0" fmla="*/ 0 h 2683755"/>
                <a:gd name="connsiteX1" fmla="*/ 980661 w 3064097"/>
                <a:gd name="connsiteY1" fmla="*/ 1007165 h 2683755"/>
                <a:gd name="connsiteX2" fmla="*/ 2014330 w 3064097"/>
                <a:gd name="connsiteY2" fmla="*/ 1011756 h 2683755"/>
                <a:gd name="connsiteX3" fmla="*/ 2478156 w 3064097"/>
                <a:gd name="connsiteY3" fmla="*/ 1007165 h 2683755"/>
                <a:gd name="connsiteX4" fmla="*/ 2054087 w 3064097"/>
                <a:gd name="connsiteY4" fmla="*/ 1709530 h 2683755"/>
                <a:gd name="connsiteX5" fmla="*/ 2753026 w 3064097"/>
                <a:gd name="connsiteY5" fmla="*/ 2050143 h 2683755"/>
                <a:gd name="connsiteX6" fmla="*/ 2769703 w 3064097"/>
                <a:gd name="connsiteY6" fmla="*/ 2675452 h 2683755"/>
                <a:gd name="connsiteX7" fmla="*/ 3064097 w 3064097"/>
                <a:gd name="connsiteY7" fmla="*/ 2681787 h 2683755"/>
                <a:gd name="connsiteX0" fmla="*/ 0 w 4205087"/>
                <a:gd name="connsiteY0" fmla="*/ 0 h 4917290"/>
                <a:gd name="connsiteX1" fmla="*/ 980661 w 4205087"/>
                <a:gd name="connsiteY1" fmla="*/ 1007165 h 4917290"/>
                <a:gd name="connsiteX2" fmla="*/ 2014330 w 4205087"/>
                <a:gd name="connsiteY2" fmla="*/ 1011756 h 4917290"/>
                <a:gd name="connsiteX3" fmla="*/ 2478156 w 4205087"/>
                <a:gd name="connsiteY3" fmla="*/ 1007165 h 4917290"/>
                <a:gd name="connsiteX4" fmla="*/ 2054087 w 4205087"/>
                <a:gd name="connsiteY4" fmla="*/ 1709530 h 4917290"/>
                <a:gd name="connsiteX5" fmla="*/ 2753026 w 4205087"/>
                <a:gd name="connsiteY5" fmla="*/ 2050143 h 4917290"/>
                <a:gd name="connsiteX6" fmla="*/ 2769703 w 4205087"/>
                <a:gd name="connsiteY6" fmla="*/ 2675452 h 4917290"/>
                <a:gd name="connsiteX7" fmla="*/ 4205087 w 4205087"/>
                <a:gd name="connsiteY7" fmla="*/ 4917290 h 4917290"/>
                <a:gd name="connsiteX0" fmla="*/ 0 w 4205087"/>
                <a:gd name="connsiteY0" fmla="*/ 0 h 4917315"/>
                <a:gd name="connsiteX1" fmla="*/ 980661 w 4205087"/>
                <a:gd name="connsiteY1" fmla="*/ 1007165 h 4917315"/>
                <a:gd name="connsiteX2" fmla="*/ 2014330 w 4205087"/>
                <a:gd name="connsiteY2" fmla="*/ 1011756 h 4917315"/>
                <a:gd name="connsiteX3" fmla="*/ 2478156 w 4205087"/>
                <a:gd name="connsiteY3" fmla="*/ 1007165 h 4917315"/>
                <a:gd name="connsiteX4" fmla="*/ 2054087 w 4205087"/>
                <a:gd name="connsiteY4" fmla="*/ 1709530 h 4917315"/>
                <a:gd name="connsiteX5" fmla="*/ 2753026 w 4205087"/>
                <a:gd name="connsiteY5" fmla="*/ 2050143 h 4917315"/>
                <a:gd name="connsiteX6" fmla="*/ 2701787 w 4205087"/>
                <a:gd name="connsiteY6" fmla="*/ 4738996 h 4917315"/>
                <a:gd name="connsiteX7" fmla="*/ 4205087 w 4205087"/>
                <a:gd name="connsiteY7" fmla="*/ 4917290 h 4917315"/>
                <a:gd name="connsiteX0" fmla="*/ 0 w 4205087"/>
                <a:gd name="connsiteY0" fmla="*/ 0 h 4917315"/>
                <a:gd name="connsiteX1" fmla="*/ 980661 w 4205087"/>
                <a:gd name="connsiteY1" fmla="*/ 1007165 h 4917315"/>
                <a:gd name="connsiteX2" fmla="*/ 2014330 w 4205087"/>
                <a:gd name="connsiteY2" fmla="*/ 1011756 h 4917315"/>
                <a:gd name="connsiteX3" fmla="*/ 2478156 w 4205087"/>
                <a:gd name="connsiteY3" fmla="*/ 1007165 h 4917315"/>
                <a:gd name="connsiteX4" fmla="*/ 2054087 w 4205087"/>
                <a:gd name="connsiteY4" fmla="*/ 1709530 h 4917315"/>
                <a:gd name="connsiteX5" fmla="*/ 2780192 w 4205087"/>
                <a:gd name="connsiteY5" fmla="*/ 2852631 h 4917315"/>
                <a:gd name="connsiteX6" fmla="*/ 2701787 w 4205087"/>
                <a:gd name="connsiteY6" fmla="*/ 4738996 h 4917315"/>
                <a:gd name="connsiteX7" fmla="*/ 4205087 w 4205087"/>
                <a:gd name="connsiteY7" fmla="*/ 4917290 h 4917315"/>
                <a:gd name="connsiteX0" fmla="*/ 0 w 4205087"/>
                <a:gd name="connsiteY0" fmla="*/ 0 h 4917315"/>
                <a:gd name="connsiteX1" fmla="*/ 980661 w 4205087"/>
                <a:gd name="connsiteY1" fmla="*/ 1007165 h 4917315"/>
                <a:gd name="connsiteX2" fmla="*/ 2014330 w 4205087"/>
                <a:gd name="connsiteY2" fmla="*/ 1011756 h 4917315"/>
                <a:gd name="connsiteX3" fmla="*/ 2478156 w 4205087"/>
                <a:gd name="connsiteY3" fmla="*/ 1007165 h 4917315"/>
                <a:gd name="connsiteX4" fmla="*/ 2529499 w 4205087"/>
                <a:gd name="connsiteY4" fmla="*/ 1308286 h 4917315"/>
                <a:gd name="connsiteX5" fmla="*/ 2780192 w 4205087"/>
                <a:gd name="connsiteY5" fmla="*/ 2852631 h 4917315"/>
                <a:gd name="connsiteX6" fmla="*/ 2701787 w 4205087"/>
                <a:gd name="connsiteY6" fmla="*/ 4738996 h 4917315"/>
                <a:gd name="connsiteX7" fmla="*/ 4205087 w 4205087"/>
                <a:gd name="connsiteY7" fmla="*/ 4917290 h 4917315"/>
                <a:gd name="connsiteX0" fmla="*/ 0 w 4205087"/>
                <a:gd name="connsiteY0" fmla="*/ 0 h 4917315"/>
                <a:gd name="connsiteX1" fmla="*/ 939912 w 4205087"/>
                <a:gd name="connsiteY1" fmla="*/ 1293766 h 4917315"/>
                <a:gd name="connsiteX2" fmla="*/ 2014330 w 4205087"/>
                <a:gd name="connsiteY2" fmla="*/ 1011756 h 4917315"/>
                <a:gd name="connsiteX3" fmla="*/ 2478156 w 4205087"/>
                <a:gd name="connsiteY3" fmla="*/ 1007165 h 4917315"/>
                <a:gd name="connsiteX4" fmla="*/ 2529499 w 4205087"/>
                <a:gd name="connsiteY4" fmla="*/ 1308286 h 4917315"/>
                <a:gd name="connsiteX5" fmla="*/ 2780192 w 4205087"/>
                <a:gd name="connsiteY5" fmla="*/ 2852631 h 4917315"/>
                <a:gd name="connsiteX6" fmla="*/ 2701787 w 4205087"/>
                <a:gd name="connsiteY6" fmla="*/ 4738996 h 4917315"/>
                <a:gd name="connsiteX7" fmla="*/ 4205087 w 4205087"/>
                <a:gd name="connsiteY7" fmla="*/ 4917290 h 4917315"/>
                <a:gd name="connsiteX0" fmla="*/ 0 w 4205087"/>
                <a:gd name="connsiteY0" fmla="*/ 0 h 4917315"/>
                <a:gd name="connsiteX1" fmla="*/ 939912 w 4205087"/>
                <a:gd name="connsiteY1" fmla="*/ 1293766 h 4917315"/>
                <a:gd name="connsiteX2" fmla="*/ 2014330 w 4205087"/>
                <a:gd name="connsiteY2" fmla="*/ 1011756 h 4917315"/>
                <a:gd name="connsiteX3" fmla="*/ 2518907 w 4205087"/>
                <a:gd name="connsiteY3" fmla="*/ 720563 h 4917315"/>
                <a:gd name="connsiteX4" fmla="*/ 2529499 w 4205087"/>
                <a:gd name="connsiteY4" fmla="*/ 1308286 h 4917315"/>
                <a:gd name="connsiteX5" fmla="*/ 2780192 w 4205087"/>
                <a:gd name="connsiteY5" fmla="*/ 2852631 h 4917315"/>
                <a:gd name="connsiteX6" fmla="*/ 2701787 w 4205087"/>
                <a:gd name="connsiteY6" fmla="*/ 4738996 h 4917315"/>
                <a:gd name="connsiteX7" fmla="*/ 4205087 w 4205087"/>
                <a:gd name="connsiteY7" fmla="*/ 4917290 h 4917315"/>
                <a:gd name="connsiteX0" fmla="*/ 0 w 4205087"/>
                <a:gd name="connsiteY0" fmla="*/ 0 h 4917315"/>
                <a:gd name="connsiteX1" fmla="*/ 939912 w 4205087"/>
                <a:gd name="connsiteY1" fmla="*/ 1293766 h 4917315"/>
                <a:gd name="connsiteX2" fmla="*/ 2014330 w 4205087"/>
                <a:gd name="connsiteY2" fmla="*/ 1011756 h 4917315"/>
                <a:gd name="connsiteX3" fmla="*/ 2518907 w 4205087"/>
                <a:gd name="connsiteY3" fmla="*/ 720563 h 4917315"/>
                <a:gd name="connsiteX4" fmla="*/ 2556665 w 4205087"/>
                <a:gd name="connsiteY4" fmla="*/ 849722 h 4917315"/>
                <a:gd name="connsiteX5" fmla="*/ 2780192 w 4205087"/>
                <a:gd name="connsiteY5" fmla="*/ 2852631 h 4917315"/>
                <a:gd name="connsiteX6" fmla="*/ 2701787 w 4205087"/>
                <a:gd name="connsiteY6" fmla="*/ 4738996 h 4917315"/>
                <a:gd name="connsiteX7" fmla="*/ 4205087 w 4205087"/>
                <a:gd name="connsiteY7" fmla="*/ 4917290 h 4917315"/>
                <a:gd name="connsiteX0" fmla="*/ 0 w 4205087"/>
                <a:gd name="connsiteY0" fmla="*/ 0 h 4917315"/>
                <a:gd name="connsiteX1" fmla="*/ 1145642 w 4205087"/>
                <a:gd name="connsiteY1" fmla="*/ 1610210 h 4917315"/>
                <a:gd name="connsiteX2" fmla="*/ 2014330 w 4205087"/>
                <a:gd name="connsiteY2" fmla="*/ 1011756 h 4917315"/>
                <a:gd name="connsiteX3" fmla="*/ 2518907 w 4205087"/>
                <a:gd name="connsiteY3" fmla="*/ 720563 h 4917315"/>
                <a:gd name="connsiteX4" fmla="*/ 2556665 w 4205087"/>
                <a:gd name="connsiteY4" fmla="*/ 849722 h 4917315"/>
                <a:gd name="connsiteX5" fmla="*/ 2780192 w 4205087"/>
                <a:gd name="connsiteY5" fmla="*/ 2852631 h 4917315"/>
                <a:gd name="connsiteX6" fmla="*/ 2701787 w 4205087"/>
                <a:gd name="connsiteY6" fmla="*/ 4738996 h 4917315"/>
                <a:gd name="connsiteX7" fmla="*/ 4205087 w 4205087"/>
                <a:gd name="connsiteY7" fmla="*/ 4917290 h 4917315"/>
                <a:gd name="connsiteX0" fmla="*/ 0 w 4205087"/>
                <a:gd name="connsiteY0" fmla="*/ 0 h 4917315"/>
                <a:gd name="connsiteX1" fmla="*/ 1145642 w 4205087"/>
                <a:gd name="connsiteY1" fmla="*/ 1610210 h 4917315"/>
                <a:gd name="connsiteX2" fmla="*/ 2014330 w 4205087"/>
                <a:gd name="connsiteY2" fmla="*/ 1011756 h 4917315"/>
                <a:gd name="connsiteX3" fmla="*/ 2518907 w 4205087"/>
                <a:gd name="connsiteY3" fmla="*/ 720563 h 4917315"/>
                <a:gd name="connsiteX4" fmla="*/ 2677684 w 4205087"/>
                <a:gd name="connsiteY4" fmla="*/ 1194934 h 4917315"/>
                <a:gd name="connsiteX5" fmla="*/ 2780192 w 4205087"/>
                <a:gd name="connsiteY5" fmla="*/ 2852631 h 4917315"/>
                <a:gd name="connsiteX6" fmla="*/ 2701787 w 4205087"/>
                <a:gd name="connsiteY6" fmla="*/ 4738996 h 4917315"/>
                <a:gd name="connsiteX7" fmla="*/ 4205087 w 4205087"/>
                <a:gd name="connsiteY7" fmla="*/ 4917290 h 4917315"/>
                <a:gd name="connsiteX0" fmla="*/ 0 w 4205087"/>
                <a:gd name="connsiteY0" fmla="*/ 0 h 4917315"/>
                <a:gd name="connsiteX1" fmla="*/ 1145642 w 4205087"/>
                <a:gd name="connsiteY1" fmla="*/ 1610210 h 4917315"/>
                <a:gd name="connsiteX2" fmla="*/ 2014330 w 4205087"/>
                <a:gd name="connsiteY2" fmla="*/ 1011756 h 4917315"/>
                <a:gd name="connsiteX3" fmla="*/ 2700435 w 4205087"/>
                <a:gd name="connsiteY3" fmla="*/ 1180845 h 4917315"/>
                <a:gd name="connsiteX4" fmla="*/ 2677684 w 4205087"/>
                <a:gd name="connsiteY4" fmla="*/ 1194934 h 4917315"/>
                <a:gd name="connsiteX5" fmla="*/ 2780192 w 4205087"/>
                <a:gd name="connsiteY5" fmla="*/ 2852631 h 4917315"/>
                <a:gd name="connsiteX6" fmla="*/ 2701787 w 4205087"/>
                <a:gd name="connsiteY6" fmla="*/ 4738996 h 4917315"/>
                <a:gd name="connsiteX7" fmla="*/ 4205087 w 4205087"/>
                <a:gd name="connsiteY7" fmla="*/ 4917290 h 4917315"/>
                <a:gd name="connsiteX0" fmla="*/ 0 w 4205087"/>
                <a:gd name="connsiteY0" fmla="*/ 0 h 4917315"/>
                <a:gd name="connsiteX1" fmla="*/ 1145642 w 4205087"/>
                <a:gd name="connsiteY1" fmla="*/ 1610210 h 4917315"/>
                <a:gd name="connsiteX2" fmla="*/ 2026431 w 4205087"/>
                <a:gd name="connsiteY2" fmla="*/ 1385734 h 4917315"/>
                <a:gd name="connsiteX3" fmla="*/ 2700435 w 4205087"/>
                <a:gd name="connsiteY3" fmla="*/ 1180845 h 4917315"/>
                <a:gd name="connsiteX4" fmla="*/ 2677684 w 4205087"/>
                <a:gd name="connsiteY4" fmla="*/ 1194934 h 4917315"/>
                <a:gd name="connsiteX5" fmla="*/ 2780192 w 4205087"/>
                <a:gd name="connsiteY5" fmla="*/ 2852631 h 4917315"/>
                <a:gd name="connsiteX6" fmla="*/ 2701787 w 4205087"/>
                <a:gd name="connsiteY6" fmla="*/ 4738996 h 4917315"/>
                <a:gd name="connsiteX7" fmla="*/ 4205087 w 4205087"/>
                <a:gd name="connsiteY7" fmla="*/ 4917290 h 4917315"/>
                <a:gd name="connsiteX0" fmla="*/ 0 w 4205087"/>
                <a:gd name="connsiteY0" fmla="*/ 0 h 4917315"/>
                <a:gd name="connsiteX1" fmla="*/ 1145642 w 4205087"/>
                <a:gd name="connsiteY1" fmla="*/ 1610210 h 4917315"/>
                <a:gd name="connsiteX2" fmla="*/ 2026431 w 4205087"/>
                <a:gd name="connsiteY2" fmla="*/ 1385734 h 4917315"/>
                <a:gd name="connsiteX3" fmla="*/ 2700435 w 4205087"/>
                <a:gd name="connsiteY3" fmla="*/ 1180845 h 4917315"/>
                <a:gd name="connsiteX4" fmla="*/ 2677684 w 4205087"/>
                <a:gd name="connsiteY4" fmla="*/ 1194934 h 4917315"/>
                <a:gd name="connsiteX5" fmla="*/ 2816497 w 4205087"/>
                <a:gd name="connsiteY5" fmla="*/ 3111539 h 4917315"/>
                <a:gd name="connsiteX6" fmla="*/ 2701787 w 4205087"/>
                <a:gd name="connsiteY6" fmla="*/ 4738996 h 4917315"/>
                <a:gd name="connsiteX7" fmla="*/ 4205087 w 4205087"/>
                <a:gd name="connsiteY7" fmla="*/ 4917290 h 4917315"/>
                <a:gd name="connsiteX0" fmla="*/ 0 w 4205087"/>
                <a:gd name="connsiteY0" fmla="*/ 0 h 4917315"/>
                <a:gd name="connsiteX1" fmla="*/ 1145642 w 4205087"/>
                <a:gd name="connsiteY1" fmla="*/ 1610210 h 4917315"/>
                <a:gd name="connsiteX2" fmla="*/ 1276117 w 4205087"/>
                <a:gd name="connsiteY2" fmla="*/ 1558340 h 4917315"/>
                <a:gd name="connsiteX3" fmla="*/ 2700435 w 4205087"/>
                <a:gd name="connsiteY3" fmla="*/ 1180845 h 4917315"/>
                <a:gd name="connsiteX4" fmla="*/ 2677684 w 4205087"/>
                <a:gd name="connsiteY4" fmla="*/ 1194934 h 4917315"/>
                <a:gd name="connsiteX5" fmla="*/ 2816497 w 4205087"/>
                <a:gd name="connsiteY5" fmla="*/ 3111539 h 4917315"/>
                <a:gd name="connsiteX6" fmla="*/ 2701787 w 4205087"/>
                <a:gd name="connsiteY6" fmla="*/ 4738996 h 4917315"/>
                <a:gd name="connsiteX7" fmla="*/ 4205087 w 4205087"/>
                <a:gd name="connsiteY7" fmla="*/ 4917290 h 4917315"/>
                <a:gd name="connsiteX0" fmla="*/ 0 w 4205087"/>
                <a:gd name="connsiteY0" fmla="*/ 0 h 4917315"/>
                <a:gd name="connsiteX1" fmla="*/ 1145642 w 4205087"/>
                <a:gd name="connsiteY1" fmla="*/ 1610210 h 4917315"/>
                <a:gd name="connsiteX2" fmla="*/ 1276117 w 4205087"/>
                <a:gd name="connsiteY2" fmla="*/ 1558340 h 4917315"/>
                <a:gd name="connsiteX3" fmla="*/ 2700435 w 4205087"/>
                <a:gd name="connsiteY3" fmla="*/ 1180845 h 4917315"/>
                <a:gd name="connsiteX4" fmla="*/ 2713991 w 4205087"/>
                <a:gd name="connsiteY4" fmla="*/ 1223701 h 4917315"/>
                <a:gd name="connsiteX5" fmla="*/ 2816497 w 4205087"/>
                <a:gd name="connsiteY5" fmla="*/ 3111539 h 4917315"/>
                <a:gd name="connsiteX6" fmla="*/ 2701787 w 4205087"/>
                <a:gd name="connsiteY6" fmla="*/ 4738996 h 4917315"/>
                <a:gd name="connsiteX7" fmla="*/ 4205087 w 4205087"/>
                <a:gd name="connsiteY7" fmla="*/ 4917290 h 4917315"/>
                <a:gd name="connsiteX0" fmla="*/ 0 w 4205087"/>
                <a:gd name="connsiteY0" fmla="*/ 0 h 5142121"/>
                <a:gd name="connsiteX1" fmla="*/ 1145642 w 4205087"/>
                <a:gd name="connsiteY1" fmla="*/ 1610210 h 5142121"/>
                <a:gd name="connsiteX2" fmla="*/ 1276117 w 4205087"/>
                <a:gd name="connsiteY2" fmla="*/ 1558340 h 5142121"/>
                <a:gd name="connsiteX3" fmla="*/ 2700435 w 4205087"/>
                <a:gd name="connsiteY3" fmla="*/ 1180845 h 5142121"/>
                <a:gd name="connsiteX4" fmla="*/ 2713991 w 4205087"/>
                <a:gd name="connsiteY4" fmla="*/ 1223701 h 5142121"/>
                <a:gd name="connsiteX5" fmla="*/ 2816497 w 4205087"/>
                <a:gd name="connsiteY5" fmla="*/ 3111539 h 5142121"/>
                <a:gd name="connsiteX6" fmla="*/ 2750195 w 4205087"/>
                <a:gd name="connsiteY6" fmla="*/ 5141743 h 5142121"/>
                <a:gd name="connsiteX7" fmla="*/ 4205087 w 4205087"/>
                <a:gd name="connsiteY7" fmla="*/ 4917290 h 5142121"/>
                <a:gd name="connsiteX0" fmla="*/ 0 w 4205087"/>
                <a:gd name="connsiteY0" fmla="*/ 256527 h 5398648"/>
                <a:gd name="connsiteX1" fmla="*/ 1145642 w 4205087"/>
                <a:gd name="connsiteY1" fmla="*/ 1866737 h 5398648"/>
                <a:gd name="connsiteX2" fmla="*/ 50473 w 4205087"/>
                <a:gd name="connsiteY2" fmla="*/ 0 h 5398648"/>
                <a:gd name="connsiteX3" fmla="*/ 2700435 w 4205087"/>
                <a:gd name="connsiteY3" fmla="*/ 1437372 h 5398648"/>
                <a:gd name="connsiteX4" fmla="*/ 2713991 w 4205087"/>
                <a:gd name="connsiteY4" fmla="*/ 1480228 h 5398648"/>
                <a:gd name="connsiteX5" fmla="*/ 2816497 w 4205087"/>
                <a:gd name="connsiteY5" fmla="*/ 3368066 h 5398648"/>
                <a:gd name="connsiteX6" fmla="*/ 2750195 w 4205087"/>
                <a:gd name="connsiteY6" fmla="*/ 5398270 h 5398648"/>
                <a:gd name="connsiteX7" fmla="*/ 4205087 w 4205087"/>
                <a:gd name="connsiteY7" fmla="*/ 5173817 h 5398648"/>
                <a:gd name="connsiteX0" fmla="*/ 4782461 w 8987548"/>
                <a:gd name="connsiteY0" fmla="*/ 256527 h 5398648"/>
                <a:gd name="connsiteX1" fmla="*/ 0 w 8987548"/>
                <a:gd name="connsiteY1" fmla="*/ 3379134 h 5398648"/>
                <a:gd name="connsiteX2" fmla="*/ 4832934 w 8987548"/>
                <a:gd name="connsiteY2" fmla="*/ 0 h 5398648"/>
                <a:gd name="connsiteX3" fmla="*/ 7482896 w 8987548"/>
                <a:gd name="connsiteY3" fmla="*/ 1437372 h 5398648"/>
                <a:gd name="connsiteX4" fmla="*/ 7496452 w 8987548"/>
                <a:gd name="connsiteY4" fmla="*/ 1480228 h 5398648"/>
                <a:gd name="connsiteX5" fmla="*/ 7598958 w 8987548"/>
                <a:gd name="connsiteY5" fmla="*/ 3368066 h 5398648"/>
                <a:gd name="connsiteX6" fmla="*/ 7532656 w 8987548"/>
                <a:gd name="connsiteY6" fmla="*/ 5398270 h 5398648"/>
                <a:gd name="connsiteX7" fmla="*/ 8987548 w 8987548"/>
                <a:gd name="connsiteY7" fmla="*/ 5173817 h 5398648"/>
                <a:gd name="connsiteX0" fmla="*/ 4782461 w 8987548"/>
                <a:gd name="connsiteY0" fmla="*/ 256527 h 5298098"/>
                <a:gd name="connsiteX1" fmla="*/ 0 w 8987548"/>
                <a:gd name="connsiteY1" fmla="*/ 3379134 h 5298098"/>
                <a:gd name="connsiteX2" fmla="*/ 4832934 w 8987548"/>
                <a:gd name="connsiteY2" fmla="*/ 0 h 5298098"/>
                <a:gd name="connsiteX3" fmla="*/ 7482896 w 8987548"/>
                <a:gd name="connsiteY3" fmla="*/ 1437372 h 5298098"/>
                <a:gd name="connsiteX4" fmla="*/ 7496452 w 8987548"/>
                <a:gd name="connsiteY4" fmla="*/ 1480228 h 5298098"/>
                <a:gd name="connsiteX5" fmla="*/ 7598958 w 8987548"/>
                <a:gd name="connsiteY5" fmla="*/ 3368066 h 5298098"/>
                <a:gd name="connsiteX6" fmla="*/ 7857827 w 8987548"/>
                <a:gd name="connsiteY6" fmla="*/ 5297441 h 5298098"/>
                <a:gd name="connsiteX7" fmla="*/ 8987548 w 8987548"/>
                <a:gd name="connsiteY7" fmla="*/ 5173817 h 5298098"/>
                <a:gd name="connsiteX0" fmla="*/ 0 w 4205087"/>
                <a:gd name="connsiteY0" fmla="*/ 256527 h 5298098"/>
                <a:gd name="connsiteX1" fmla="*/ 45066 w 4205087"/>
                <a:gd name="connsiteY1" fmla="*/ 51875 h 5298098"/>
                <a:gd name="connsiteX2" fmla="*/ 50473 w 4205087"/>
                <a:gd name="connsiteY2" fmla="*/ 0 h 5298098"/>
                <a:gd name="connsiteX3" fmla="*/ 2700435 w 4205087"/>
                <a:gd name="connsiteY3" fmla="*/ 1437372 h 5298098"/>
                <a:gd name="connsiteX4" fmla="*/ 2713991 w 4205087"/>
                <a:gd name="connsiteY4" fmla="*/ 1480228 h 5298098"/>
                <a:gd name="connsiteX5" fmla="*/ 2816497 w 4205087"/>
                <a:gd name="connsiteY5" fmla="*/ 3368066 h 5298098"/>
                <a:gd name="connsiteX6" fmla="*/ 3075366 w 4205087"/>
                <a:gd name="connsiteY6" fmla="*/ 5297441 h 5298098"/>
                <a:gd name="connsiteX7" fmla="*/ 4205087 w 4205087"/>
                <a:gd name="connsiteY7" fmla="*/ 5173817 h 5298098"/>
                <a:gd name="connsiteX0" fmla="*/ 0 w 4205087"/>
                <a:gd name="connsiteY0" fmla="*/ 256527 h 5298098"/>
                <a:gd name="connsiteX1" fmla="*/ 45066 w 4205087"/>
                <a:gd name="connsiteY1" fmla="*/ 51875 h 5298098"/>
                <a:gd name="connsiteX2" fmla="*/ 50473 w 4205087"/>
                <a:gd name="connsiteY2" fmla="*/ 0 h 5298098"/>
                <a:gd name="connsiteX3" fmla="*/ 2700435 w 4205087"/>
                <a:gd name="connsiteY3" fmla="*/ 1437372 h 5298098"/>
                <a:gd name="connsiteX4" fmla="*/ 2713991 w 4205087"/>
                <a:gd name="connsiteY4" fmla="*/ 1480228 h 5298098"/>
                <a:gd name="connsiteX5" fmla="*/ 1966050 w 4205087"/>
                <a:gd name="connsiteY5" fmla="*/ 3670548 h 5298098"/>
                <a:gd name="connsiteX6" fmla="*/ 3075366 w 4205087"/>
                <a:gd name="connsiteY6" fmla="*/ 5297441 h 5298098"/>
                <a:gd name="connsiteX7" fmla="*/ 4205087 w 4205087"/>
                <a:gd name="connsiteY7" fmla="*/ 5173817 h 5298098"/>
                <a:gd name="connsiteX0" fmla="*/ 0 w 4205087"/>
                <a:gd name="connsiteY0" fmla="*/ 256527 h 5173829"/>
                <a:gd name="connsiteX1" fmla="*/ 45066 w 4205087"/>
                <a:gd name="connsiteY1" fmla="*/ 51875 h 5173829"/>
                <a:gd name="connsiteX2" fmla="*/ 50473 w 4205087"/>
                <a:gd name="connsiteY2" fmla="*/ 0 h 5173829"/>
                <a:gd name="connsiteX3" fmla="*/ 2700435 w 4205087"/>
                <a:gd name="connsiteY3" fmla="*/ 1437372 h 5173829"/>
                <a:gd name="connsiteX4" fmla="*/ 2713991 w 4205087"/>
                <a:gd name="connsiteY4" fmla="*/ 1480228 h 5173829"/>
                <a:gd name="connsiteX5" fmla="*/ 1966050 w 4205087"/>
                <a:gd name="connsiteY5" fmla="*/ 3670548 h 5173829"/>
                <a:gd name="connsiteX6" fmla="*/ 2975313 w 4205087"/>
                <a:gd name="connsiteY6" fmla="*/ 4591659 h 5173829"/>
                <a:gd name="connsiteX7" fmla="*/ 4205087 w 4205087"/>
                <a:gd name="connsiteY7" fmla="*/ 5173817 h 5173829"/>
                <a:gd name="connsiteX0" fmla="*/ 0 w 4280125"/>
                <a:gd name="connsiteY0" fmla="*/ 256527 h 4592316"/>
                <a:gd name="connsiteX1" fmla="*/ 45066 w 4280125"/>
                <a:gd name="connsiteY1" fmla="*/ 51875 h 4592316"/>
                <a:gd name="connsiteX2" fmla="*/ 50473 w 4280125"/>
                <a:gd name="connsiteY2" fmla="*/ 0 h 4592316"/>
                <a:gd name="connsiteX3" fmla="*/ 2700435 w 4280125"/>
                <a:gd name="connsiteY3" fmla="*/ 1437372 h 4592316"/>
                <a:gd name="connsiteX4" fmla="*/ 2713991 w 4280125"/>
                <a:gd name="connsiteY4" fmla="*/ 1480228 h 4592316"/>
                <a:gd name="connsiteX5" fmla="*/ 1966050 w 4280125"/>
                <a:gd name="connsiteY5" fmla="*/ 3670548 h 4592316"/>
                <a:gd name="connsiteX6" fmla="*/ 2975313 w 4280125"/>
                <a:gd name="connsiteY6" fmla="*/ 4591659 h 4592316"/>
                <a:gd name="connsiteX7" fmla="*/ 4280125 w 4280125"/>
                <a:gd name="connsiteY7" fmla="*/ 4468037 h 4592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280125" h="4592316">
                  <a:moveTo>
                    <a:pt x="0" y="256527"/>
                  </a:moveTo>
                  <a:lnTo>
                    <a:pt x="45066" y="51875"/>
                  </a:lnTo>
                  <a:lnTo>
                    <a:pt x="50473" y="0"/>
                  </a:lnTo>
                  <a:lnTo>
                    <a:pt x="2700435" y="1437372"/>
                  </a:lnTo>
                  <a:lnTo>
                    <a:pt x="2713991" y="1480228"/>
                  </a:lnTo>
                  <a:lnTo>
                    <a:pt x="1966050" y="3670548"/>
                  </a:lnTo>
                  <a:lnTo>
                    <a:pt x="2975313" y="4591659"/>
                  </a:lnTo>
                  <a:cubicBezTo>
                    <a:pt x="3109129" y="4602692"/>
                    <a:pt x="4146312" y="4470386"/>
                    <a:pt x="4280125" y="4468037"/>
                  </a:cubicBezTo>
                </a:path>
              </a:pathLst>
            </a:custGeom>
            <a:noFill/>
            <a:ln w="31750">
              <a:solidFill>
                <a:srgbClr val="0000A8"/>
              </a:solidFill>
              <a:headEnd type="triangle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endParaRPr lang="en-US" dirty="0">
                <a:solidFill>
                  <a:srgbClr val="00B050"/>
                </a:solidFill>
                <a:latin typeface="Pretendard Light" panose="02000403000000020004" pitchFamily="2" charset="-127"/>
              </a:endParaRPr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F1669A50-6C26-44DA-B8C5-59364028D2DB}"/>
              </a:ext>
            </a:extLst>
          </p:cNvPr>
          <p:cNvSpPr txBox="1"/>
          <p:nvPr/>
        </p:nvSpPr>
        <p:spPr>
          <a:xfrm>
            <a:off x="668703" y="4084662"/>
            <a:ext cx="7160920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Why monitor it?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D4FE009-73CD-470E-9414-A1F498E01B29}"/>
              </a:ext>
            </a:extLst>
          </p:cNvPr>
          <p:cNvSpPr txBox="1"/>
          <p:nvPr/>
        </p:nvSpPr>
        <p:spPr>
          <a:xfrm>
            <a:off x="819555" y="4576713"/>
            <a:ext cx="6851836" cy="1248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b="1" dirty="0"/>
              <a:t>Security: </a:t>
            </a:r>
            <a:r>
              <a:rPr lang="en-US" altLang="ko-KR" sz="2000" dirty="0"/>
              <a:t>Detect threats &amp; unauthorized devices.</a:t>
            </a: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b="1" dirty="0"/>
              <a:t>Performance: </a:t>
            </a:r>
            <a:r>
              <a:rPr lang="en-US" altLang="ko-KR" sz="2000" dirty="0"/>
              <a:t>Find bottlenecks &amp; manage bandwidth.</a:t>
            </a: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b="1" dirty="0"/>
              <a:t>Troubleshooting: </a:t>
            </a:r>
            <a:r>
              <a:rPr lang="en-US" altLang="ko-KR" sz="2000" dirty="0"/>
              <a:t>Diagnose connection issues.</a:t>
            </a:r>
            <a:endParaRPr lang="en-US" altLang="ko-KR" sz="2000" dirty="0">
              <a:solidFill>
                <a:srgbClr val="C00000"/>
              </a:solidFill>
              <a:latin typeface="Pretendard Light" panose="02000403000000020004" pitchFamily="2" charset="-127"/>
              <a:ea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694805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5EDF3-F372-3458-10A8-696C601CD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F8550829-3395-13AE-28BE-BE3621C31F3F}"/>
              </a:ext>
            </a:extLst>
          </p:cNvPr>
          <p:cNvGrpSpPr/>
          <p:nvPr/>
        </p:nvGrpSpPr>
        <p:grpSpPr>
          <a:xfrm>
            <a:off x="164064" y="1119724"/>
            <a:ext cx="8061387" cy="523220"/>
            <a:chOff x="164064" y="1119724"/>
            <a:chExt cx="8061387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ACAE52F-E8E5-593A-1A1C-EFE6217484A3}"/>
                </a:ext>
              </a:extLst>
            </p:cNvPr>
            <p:cNvSpPr txBox="1"/>
            <p:nvPr/>
          </p:nvSpPr>
          <p:spPr>
            <a:xfrm>
              <a:off x="769499" y="1119724"/>
              <a:ext cx="745595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What is a packet? Anatomy of a Data Packet</a:t>
              </a:r>
              <a:endParaRPr lang="ko-KR" altLang="en-US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A82B2856-E01A-8BE3-8796-26B1B1A186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F67EBD3-6B5D-0B04-3152-653837BD277B}"/>
              </a:ext>
            </a:extLst>
          </p:cNvPr>
          <p:cNvSpPr txBox="1"/>
          <p:nvPr/>
        </p:nvSpPr>
        <p:spPr>
          <a:xfrm>
            <a:off x="668702" y="1715700"/>
            <a:ext cx="10966249" cy="1042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Every piece of data is sent in a packet, which is like a digital envelop. Each packet has three main parts: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5410E63-8777-151E-6324-F3BD977E9011}"/>
              </a:ext>
            </a:extLst>
          </p:cNvPr>
          <p:cNvSpPr txBox="1"/>
          <p:nvPr/>
        </p:nvSpPr>
        <p:spPr>
          <a:xfrm>
            <a:off x="819555" y="2791073"/>
            <a:ext cx="10514752" cy="448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buClr>
                <a:srgbClr val="0076A3"/>
              </a:buClr>
            </a:pPr>
            <a:r>
              <a:rPr lang="en-US" altLang="ko-KR" sz="2000" dirty="0">
                <a:solidFill>
                  <a:srgbClr val="FF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</a:rPr>
              <a:t>1. Header (The “Mailing Label”)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1669A50-6C26-44DA-B8C5-59364028D2DB}"/>
              </a:ext>
            </a:extLst>
          </p:cNvPr>
          <p:cNvSpPr txBox="1"/>
          <p:nvPr/>
        </p:nvSpPr>
        <p:spPr>
          <a:xfrm>
            <a:off x="668703" y="3234293"/>
            <a:ext cx="7160920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endParaRPr lang="en-US" altLang="ko-KR" sz="2200" dirty="0">
              <a:latin typeface="SF싸락눈" panose="02000503000000000000" pitchFamily="2" charset="-127"/>
              <a:ea typeface="SF싸락눈" panose="02000503000000000000" pitchFamily="2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BCB2DBC-F62F-418B-806E-CB13BD4A8007}"/>
              </a:ext>
            </a:extLst>
          </p:cNvPr>
          <p:cNvSpPr txBox="1"/>
          <p:nvPr/>
        </p:nvSpPr>
        <p:spPr>
          <a:xfrm>
            <a:off x="819555" y="3192112"/>
            <a:ext cx="10514752" cy="848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Contains all 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the control information for delivery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.</a:t>
            </a: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Source &amp; Destination Addresses / Protocol / Port Number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12DF6EE-1ADB-4B4A-B099-2C3FC110C0EF}"/>
              </a:ext>
            </a:extLst>
          </p:cNvPr>
          <p:cNvSpPr txBox="1"/>
          <p:nvPr/>
        </p:nvSpPr>
        <p:spPr>
          <a:xfrm>
            <a:off x="819555" y="4115383"/>
            <a:ext cx="10514752" cy="448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buClr>
                <a:srgbClr val="0076A3"/>
              </a:buClr>
            </a:pPr>
            <a:r>
              <a:rPr lang="en-US" altLang="ko-KR" sz="2000" dirty="0">
                <a:solidFill>
                  <a:srgbClr val="FF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</a:rPr>
              <a:t>2. Payload (The “Letter”)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79355EA-ED25-4C8D-8D7A-7FE94C121ACB}"/>
              </a:ext>
            </a:extLst>
          </p:cNvPr>
          <p:cNvSpPr txBox="1"/>
          <p:nvPr/>
        </p:nvSpPr>
        <p:spPr>
          <a:xfrm>
            <a:off x="819555" y="4516422"/>
            <a:ext cx="10514752" cy="848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This is the 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actual data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 packets are delivering.</a:t>
            </a: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It could be a piece of an email, part of a website, or a second of video.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5B513C2-6BCB-4913-B331-582ED2D0FC94}"/>
              </a:ext>
            </a:extLst>
          </p:cNvPr>
          <p:cNvSpPr txBox="1"/>
          <p:nvPr/>
        </p:nvSpPr>
        <p:spPr>
          <a:xfrm>
            <a:off x="819555" y="5439693"/>
            <a:ext cx="10514752" cy="448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buClr>
                <a:srgbClr val="0076A3"/>
              </a:buClr>
            </a:pPr>
            <a:r>
              <a:rPr lang="en-US" altLang="ko-KR" sz="2000" dirty="0">
                <a:solidFill>
                  <a:srgbClr val="FF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</a:rPr>
              <a:t>3. Trailer (The “Seal of Integrity”)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E3B705B-948D-4404-9EA9-70AA7A48A879}"/>
              </a:ext>
            </a:extLst>
          </p:cNvPr>
          <p:cNvSpPr txBox="1"/>
          <p:nvPr/>
        </p:nvSpPr>
        <p:spPr>
          <a:xfrm>
            <a:off x="819555" y="5840732"/>
            <a:ext cx="10514752" cy="848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Marks the end of the packet and contains 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error-checking information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.</a:t>
            </a: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Frame Check Sequence (FCS): Verifies that the data arrived without being corrupted.</a:t>
            </a:r>
          </a:p>
        </p:txBody>
      </p:sp>
    </p:spTree>
    <p:extLst>
      <p:ext uri="{BB962C8B-B14F-4D97-AF65-F5344CB8AC3E}">
        <p14:creationId xmlns:p14="http://schemas.microsoft.com/office/powerpoint/2010/main" val="1690219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C0D9F-11F6-B511-8366-E176B9158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64F98910-3B41-8F94-6233-C903BEF90B48}"/>
              </a:ext>
            </a:extLst>
          </p:cNvPr>
          <p:cNvGrpSpPr/>
          <p:nvPr/>
        </p:nvGrpSpPr>
        <p:grpSpPr>
          <a:xfrm>
            <a:off x="164064" y="1119724"/>
            <a:ext cx="5789546" cy="523220"/>
            <a:chOff x="164064" y="1119724"/>
            <a:chExt cx="5789546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5DEF75A-2EEA-7942-1913-401F7DF01287}"/>
                </a:ext>
              </a:extLst>
            </p:cNvPr>
            <p:cNvSpPr txBox="1"/>
            <p:nvPr/>
          </p:nvSpPr>
          <p:spPr>
            <a:xfrm>
              <a:off x="769499" y="1119724"/>
              <a:ext cx="518411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The Central Role of the Router</a:t>
              </a:r>
              <a:endParaRPr lang="ko-KR" altLang="en-US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60EC06A3-F416-E1A7-1DB3-79C28D68E8B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D2A3BF91-D7F1-E229-0F74-006F3F2BD550}"/>
              </a:ext>
            </a:extLst>
          </p:cNvPr>
          <p:cNvSpPr txBox="1"/>
          <p:nvPr/>
        </p:nvSpPr>
        <p:spPr>
          <a:xfrm>
            <a:off x="668703" y="1572160"/>
            <a:ext cx="8724890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The Router: </a:t>
            </a:r>
            <a:r>
              <a:rPr lang="en-US" altLang="ko-KR" sz="2200" dirty="0">
                <a:solidFill>
                  <a:srgbClr val="FF0000"/>
                </a:solidFill>
                <a:latin typeface="SF싸락눈" panose="02000503000000000000" pitchFamily="2" charset="-127"/>
                <a:ea typeface="SF싸락눈" panose="02000503000000000000" pitchFamily="2" charset="-127"/>
              </a:rPr>
              <a:t>Network’s Gateway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1F5E87A-9E05-460F-8E74-D3CFB6148868}"/>
              </a:ext>
            </a:extLst>
          </p:cNvPr>
          <p:cNvSpPr txBox="1"/>
          <p:nvPr/>
        </p:nvSpPr>
        <p:spPr>
          <a:xfrm>
            <a:off x="819555" y="2207751"/>
            <a:ext cx="9371752" cy="1248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/>
              <a:t>The router is the </a:t>
            </a:r>
            <a:r>
              <a:rPr lang="en-US" altLang="ko-KR" sz="2000" b="1" dirty="0"/>
              <a:t>single gateway</a:t>
            </a:r>
            <a:r>
              <a:rPr lang="en-US" altLang="ko-KR" sz="2000" dirty="0"/>
              <a:t> for all network traffic</a:t>
            </a: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solidFill>
                  <a:srgbClr val="C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</a:rPr>
              <a:t>All data packets must pass through it, making it the ideal monitoring point.</a:t>
            </a: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solidFill>
                  <a:srgbClr val="C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</a:rPr>
              <a:t>Our system uses a standard home/office router-no special hardware needed</a:t>
            </a:r>
          </a:p>
        </p:txBody>
      </p:sp>
      <p:pic>
        <p:nvPicPr>
          <p:cNvPr id="54" name="Picture 5">
            <a:extLst>
              <a:ext uri="{FF2B5EF4-FFF2-40B4-BE49-F238E27FC236}">
                <a16:creationId xmlns:a16="http://schemas.microsoft.com/office/drawing/2014/main" id="{81D60DD7-4D3A-4092-B6F1-E483864267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4010" y="4819087"/>
            <a:ext cx="609600" cy="400050"/>
          </a:xfrm>
          <a:prstGeom prst="rect">
            <a:avLst/>
          </a:prstGeom>
        </p:spPr>
      </p:pic>
      <p:pic>
        <p:nvPicPr>
          <p:cNvPr id="55" name="Picture 1613" descr="desktop_computer_stylized_medium">
            <a:extLst>
              <a:ext uri="{FF2B5EF4-FFF2-40B4-BE49-F238E27FC236}">
                <a16:creationId xmlns:a16="http://schemas.microsoft.com/office/drawing/2014/main" id="{6209CE85-C6CD-4E7F-A3BA-4DEBFF9E0F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3361554" y="4685401"/>
            <a:ext cx="855053" cy="655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8" name="Group 1507">
            <a:extLst>
              <a:ext uri="{FF2B5EF4-FFF2-40B4-BE49-F238E27FC236}">
                <a16:creationId xmlns:a16="http://schemas.microsoft.com/office/drawing/2014/main" id="{D9E0E42B-ACAE-4525-9248-76A44BB31342}"/>
              </a:ext>
            </a:extLst>
          </p:cNvPr>
          <p:cNvGrpSpPr>
            <a:grpSpLocks/>
          </p:cNvGrpSpPr>
          <p:nvPr/>
        </p:nvGrpSpPr>
        <p:grpSpPr bwMode="auto">
          <a:xfrm>
            <a:off x="7311872" y="4635060"/>
            <a:ext cx="427480" cy="711995"/>
            <a:chOff x="4140" y="429"/>
            <a:chExt cx="1425" cy="2396"/>
          </a:xfrm>
        </p:grpSpPr>
        <p:sp>
          <p:nvSpPr>
            <p:cNvPr id="59" name="Freeform 1508">
              <a:extLst>
                <a:ext uri="{FF2B5EF4-FFF2-40B4-BE49-F238E27FC236}">
                  <a16:creationId xmlns:a16="http://schemas.microsoft.com/office/drawing/2014/main" id="{44266FBD-8216-4777-9748-50289A4B91E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6 w 354"/>
                <a:gd name="T1" fmla="*/ 0 h 2742"/>
                <a:gd name="T2" fmla="*/ 30 w 354"/>
                <a:gd name="T3" fmla="*/ 46 h 2742"/>
                <a:gd name="T4" fmla="*/ 30 w 354"/>
                <a:gd name="T5" fmla="*/ 354 h 2742"/>
                <a:gd name="T6" fmla="*/ 0 w 354"/>
                <a:gd name="T7" fmla="*/ 371 h 2742"/>
                <a:gd name="T8" fmla="*/ 6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0" name="Rectangle 1509">
              <a:extLst>
                <a:ext uri="{FF2B5EF4-FFF2-40B4-BE49-F238E27FC236}">
                  <a16:creationId xmlns:a16="http://schemas.microsoft.com/office/drawing/2014/main" id="{E3B82AE7-C8B5-42A1-ABD0-7105B18523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429"/>
              <a:ext cx="1046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1" name="Freeform 1510">
              <a:extLst>
                <a:ext uri="{FF2B5EF4-FFF2-40B4-BE49-F238E27FC236}">
                  <a16:creationId xmlns:a16="http://schemas.microsoft.com/office/drawing/2014/main" id="{83FB8D73-5393-4CAA-8CD1-9861C356121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18 w 211"/>
                <a:gd name="T3" fmla="*/ 30 h 2537"/>
                <a:gd name="T4" fmla="*/ 2 w 211"/>
                <a:gd name="T5" fmla="*/ 338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2" name="Freeform 1511">
              <a:extLst>
                <a:ext uri="{FF2B5EF4-FFF2-40B4-BE49-F238E27FC236}">
                  <a16:creationId xmlns:a16="http://schemas.microsoft.com/office/drawing/2014/main" id="{575D1F77-40A9-46AF-880E-E57BE9B747C3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29 w 328"/>
                <a:gd name="T3" fmla="*/ 18 h 226"/>
                <a:gd name="T4" fmla="*/ 29 w 328"/>
                <a:gd name="T5" fmla="*/ 32 h 226"/>
                <a:gd name="T6" fmla="*/ 0 w 328"/>
                <a:gd name="T7" fmla="*/ 13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3" name="Rectangle 1512">
              <a:extLst>
                <a:ext uri="{FF2B5EF4-FFF2-40B4-BE49-F238E27FC236}">
                  <a16:creationId xmlns:a16="http://schemas.microsoft.com/office/drawing/2014/main" id="{3EAF9E93-EA7C-4A84-B4BB-52496DA965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0"/>
              <a:ext cx="598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64" name="Group 1513">
              <a:extLst>
                <a:ext uri="{FF2B5EF4-FFF2-40B4-BE49-F238E27FC236}">
                  <a16:creationId xmlns:a16="http://schemas.microsoft.com/office/drawing/2014/main" id="{69EFEE31-B13C-456D-B7B2-BF9ACD97955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89" name="AutoShape 1514">
                <a:extLst>
                  <a:ext uri="{FF2B5EF4-FFF2-40B4-BE49-F238E27FC236}">
                    <a16:creationId xmlns:a16="http://schemas.microsoft.com/office/drawing/2014/main" id="{057C8C9D-C3C1-4943-BD3A-F7C5AECF9A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1" cy="14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90" name="AutoShape 1515">
                <a:extLst>
                  <a:ext uri="{FF2B5EF4-FFF2-40B4-BE49-F238E27FC236}">
                    <a16:creationId xmlns:a16="http://schemas.microsoft.com/office/drawing/2014/main" id="{9FA999AB-53EF-4C37-9193-9C6B9AB1F5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6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65" name="Rectangle 1516">
              <a:extLst>
                <a:ext uri="{FF2B5EF4-FFF2-40B4-BE49-F238E27FC236}">
                  <a16:creationId xmlns:a16="http://schemas.microsoft.com/office/drawing/2014/main" id="{F584DE36-16C4-407B-87C5-19C4A57A90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022"/>
              <a:ext cx="598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66" name="Group 1517">
              <a:extLst>
                <a:ext uri="{FF2B5EF4-FFF2-40B4-BE49-F238E27FC236}">
                  <a16:creationId xmlns:a16="http://schemas.microsoft.com/office/drawing/2014/main" id="{B28543C8-E6DF-4C67-BEEF-2A9DAE54F9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87" name="AutoShape 1518">
                <a:extLst>
                  <a:ext uri="{FF2B5EF4-FFF2-40B4-BE49-F238E27FC236}">
                    <a16:creationId xmlns:a16="http://schemas.microsoft.com/office/drawing/2014/main" id="{F4EE5587-166F-42D1-9D10-EB0E032CFA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4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88" name="AutoShape 1519">
                <a:extLst>
                  <a:ext uri="{FF2B5EF4-FFF2-40B4-BE49-F238E27FC236}">
                    <a16:creationId xmlns:a16="http://schemas.microsoft.com/office/drawing/2014/main" id="{854211FD-2A8F-4856-99E0-216BC7D7D5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1"/>
                <a:ext cx="69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67" name="Rectangle 1520">
              <a:extLst>
                <a:ext uri="{FF2B5EF4-FFF2-40B4-BE49-F238E27FC236}">
                  <a16:creationId xmlns:a16="http://schemas.microsoft.com/office/drawing/2014/main" id="{C45DF5A7-E180-41AC-AF8D-32BE73A034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354"/>
              <a:ext cx="598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8" name="Rectangle 1521">
              <a:extLst>
                <a:ext uri="{FF2B5EF4-FFF2-40B4-BE49-F238E27FC236}">
                  <a16:creationId xmlns:a16="http://schemas.microsoft.com/office/drawing/2014/main" id="{7A3133D7-80E9-42AA-BA7E-38F039241F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5"/>
              <a:ext cx="598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69" name="Group 1522">
              <a:extLst>
                <a:ext uri="{FF2B5EF4-FFF2-40B4-BE49-F238E27FC236}">
                  <a16:creationId xmlns:a16="http://schemas.microsoft.com/office/drawing/2014/main" id="{2A947A49-ABFD-4C03-9047-C7C8C9430A0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85" name="AutoShape 1523">
                <a:extLst>
                  <a:ext uri="{FF2B5EF4-FFF2-40B4-BE49-F238E27FC236}">
                    <a16:creationId xmlns:a16="http://schemas.microsoft.com/office/drawing/2014/main" id="{E88B9543-C8AF-41BF-87C7-ACE5143BE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8" y="2579"/>
                <a:ext cx="720" cy="13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86" name="AutoShape 1524">
                <a:extLst>
                  <a:ext uri="{FF2B5EF4-FFF2-40B4-BE49-F238E27FC236}">
                    <a16:creationId xmlns:a16="http://schemas.microsoft.com/office/drawing/2014/main" id="{F094EFFA-E2F2-4A3B-9B16-CBE02764CB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6"/>
                <a:ext cx="695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70" name="Freeform 1525">
              <a:extLst>
                <a:ext uri="{FF2B5EF4-FFF2-40B4-BE49-F238E27FC236}">
                  <a16:creationId xmlns:a16="http://schemas.microsoft.com/office/drawing/2014/main" id="{68D372CF-492D-4F72-A3D9-4A6F2F4ED37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29 w 328"/>
                <a:gd name="T3" fmla="*/ 17 h 226"/>
                <a:gd name="T4" fmla="*/ 29 w 328"/>
                <a:gd name="T5" fmla="*/ 30 h 226"/>
                <a:gd name="T6" fmla="*/ 0 w 328"/>
                <a:gd name="T7" fmla="*/ 1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71" name="Group 1526">
              <a:extLst>
                <a:ext uri="{FF2B5EF4-FFF2-40B4-BE49-F238E27FC236}">
                  <a16:creationId xmlns:a16="http://schemas.microsoft.com/office/drawing/2014/main" id="{1571017A-F08C-49FF-8C85-9E5C4309E41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83" name="AutoShape 1527">
                <a:extLst>
                  <a:ext uri="{FF2B5EF4-FFF2-40B4-BE49-F238E27FC236}">
                    <a16:creationId xmlns:a16="http://schemas.microsoft.com/office/drawing/2014/main" id="{C0106B11-A96C-48F3-8F31-011C0C727A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71"/>
                <a:ext cx="732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84" name="AutoShape 1528">
                <a:extLst>
                  <a:ext uri="{FF2B5EF4-FFF2-40B4-BE49-F238E27FC236}">
                    <a16:creationId xmlns:a16="http://schemas.microsoft.com/office/drawing/2014/main" id="{CF54B7C4-9810-4E02-8958-6940FEEE60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7"/>
                <a:ext cx="720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72" name="Rectangle 1529">
              <a:extLst>
                <a:ext uri="{FF2B5EF4-FFF2-40B4-BE49-F238E27FC236}">
                  <a16:creationId xmlns:a16="http://schemas.microsoft.com/office/drawing/2014/main" id="{1B691CD6-7C37-4102-80A3-108C7DFA9D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6" y="429"/>
              <a:ext cx="70" cy="2285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3" name="Freeform 1530">
              <a:extLst>
                <a:ext uri="{FF2B5EF4-FFF2-40B4-BE49-F238E27FC236}">
                  <a16:creationId xmlns:a16="http://schemas.microsoft.com/office/drawing/2014/main" id="{22C05427-7619-4BCB-8FA2-7F1951B1C25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26 w 296"/>
                <a:gd name="T3" fmla="*/ 18 h 256"/>
                <a:gd name="T4" fmla="*/ 26 w 296"/>
                <a:gd name="T5" fmla="*/ 34 h 256"/>
                <a:gd name="T6" fmla="*/ 0 w 296"/>
                <a:gd name="T7" fmla="*/ 1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4" name="Freeform 1531">
              <a:extLst>
                <a:ext uri="{FF2B5EF4-FFF2-40B4-BE49-F238E27FC236}">
                  <a16:creationId xmlns:a16="http://schemas.microsoft.com/office/drawing/2014/main" id="{AADA73D6-21E5-4321-A4B8-9D23B9F04B5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27 w 304"/>
                <a:gd name="T3" fmla="*/ 23 h 288"/>
                <a:gd name="T4" fmla="*/ 25 w 304"/>
                <a:gd name="T5" fmla="*/ 40 h 288"/>
                <a:gd name="T6" fmla="*/ 2 w 304"/>
                <a:gd name="T7" fmla="*/ 17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5" name="Oval 1532">
              <a:extLst>
                <a:ext uri="{FF2B5EF4-FFF2-40B4-BE49-F238E27FC236}">
                  <a16:creationId xmlns:a16="http://schemas.microsoft.com/office/drawing/2014/main" id="{F11D0C96-B038-4699-A126-5B8196460A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6" name="Freeform 1533">
              <a:extLst>
                <a:ext uri="{FF2B5EF4-FFF2-40B4-BE49-F238E27FC236}">
                  <a16:creationId xmlns:a16="http://schemas.microsoft.com/office/drawing/2014/main" id="{9C43520C-85ED-4A32-9D57-3549DD4635E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5 h 240"/>
                <a:gd name="T2" fmla="*/ 2 w 306"/>
                <a:gd name="T3" fmla="*/ 33 h 240"/>
                <a:gd name="T4" fmla="*/ 27 w 306"/>
                <a:gd name="T5" fmla="*/ 15 h 240"/>
                <a:gd name="T6" fmla="*/ 26 w 306"/>
                <a:gd name="T7" fmla="*/ 0 h 240"/>
                <a:gd name="T8" fmla="*/ 0 w 306"/>
                <a:gd name="T9" fmla="*/ 15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7" name="AutoShape 1534">
              <a:extLst>
                <a:ext uri="{FF2B5EF4-FFF2-40B4-BE49-F238E27FC236}">
                  <a16:creationId xmlns:a16="http://schemas.microsoft.com/office/drawing/2014/main" id="{11B61675-2141-48EB-B986-864D0BE03E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5"/>
              <a:ext cx="1196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" name="AutoShape 1535">
              <a:extLst>
                <a:ext uri="{FF2B5EF4-FFF2-40B4-BE49-F238E27FC236}">
                  <a16:creationId xmlns:a16="http://schemas.microsoft.com/office/drawing/2014/main" id="{1AADEF39-C9EB-4C2B-A10F-174DAC2D4A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2714"/>
              <a:ext cx="1066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9" name="Oval 1536">
              <a:extLst>
                <a:ext uri="{FF2B5EF4-FFF2-40B4-BE49-F238E27FC236}">
                  <a16:creationId xmlns:a16="http://schemas.microsoft.com/office/drawing/2014/main" id="{39CAFDF7-8BD9-4D24-8793-539701BA6A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80" name="Oval 1537">
              <a:extLst>
                <a:ext uri="{FF2B5EF4-FFF2-40B4-BE49-F238E27FC236}">
                  <a16:creationId xmlns:a16="http://schemas.microsoft.com/office/drawing/2014/main" id="{95075D23-353B-423D-A0A4-D2D9B6D4F3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81" name="Oval 1538">
              <a:extLst>
                <a:ext uri="{FF2B5EF4-FFF2-40B4-BE49-F238E27FC236}">
                  <a16:creationId xmlns:a16="http://schemas.microsoft.com/office/drawing/2014/main" id="{91824302-399C-4EF5-B829-8340EF84E2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82" name="Rectangle 1539">
              <a:extLst>
                <a:ext uri="{FF2B5EF4-FFF2-40B4-BE49-F238E27FC236}">
                  <a16:creationId xmlns:a16="http://schemas.microsoft.com/office/drawing/2014/main" id="{EE88C537-FC50-4622-81A8-ABED467E6B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pic>
        <p:nvPicPr>
          <p:cNvPr id="91" name="Picture 1613" descr="desktop_computer_stylized_medium">
            <a:extLst>
              <a:ext uri="{FF2B5EF4-FFF2-40B4-BE49-F238E27FC236}">
                <a16:creationId xmlns:a16="http://schemas.microsoft.com/office/drawing/2014/main" id="{8ABFC4F6-70F2-4951-8819-1679B897BD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3428893" y="3803614"/>
            <a:ext cx="855053" cy="655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" name="Picture 1613" descr="desktop_computer_stylized_medium">
            <a:extLst>
              <a:ext uri="{FF2B5EF4-FFF2-40B4-BE49-F238E27FC236}">
                <a16:creationId xmlns:a16="http://schemas.microsoft.com/office/drawing/2014/main" id="{C7001C1E-9D71-4628-9F6F-DBDFE2C182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3361553" y="5688604"/>
            <a:ext cx="855053" cy="655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3" name="Freeform 18">
            <a:extLst>
              <a:ext uri="{FF2B5EF4-FFF2-40B4-BE49-F238E27FC236}">
                <a16:creationId xmlns:a16="http://schemas.microsoft.com/office/drawing/2014/main" id="{936DE468-B66C-4401-8B94-CF4AC9DC6F93}"/>
              </a:ext>
            </a:extLst>
          </p:cNvPr>
          <p:cNvSpPr>
            <a:spLocks/>
          </p:cNvSpPr>
          <p:nvPr/>
        </p:nvSpPr>
        <p:spPr bwMode="auto">
          <a:xfrm>
            <a:off x="4362933" y="5032056"/>
            <a:ext cx="906081" cy="938125"/>
          </a:xfrm>
          <a:custGeom>
            <a:avLst/>
            <a:gdLst>
              <a:gd name="T0" fmla="*/ 0 w 342"/>
              <a:gd name="T1" fmla="*/ 186 h 186"/>
              <a:gd name="T2" fmla="*/ 342 w 342"/>
              <a:gd name="T3" fmla="*/ 0 h 186"/>
              <a:gd name="T4" fmla="*/ 0 60000 65536"/>
              <a:gd name="T5" fmla="*/ 0 60000 65536"/>
              <a:gd name="T6" fmla="*/ 0 w 342"/>
              <a:gd name="T7" fmla="*/ 0 h 186"/>
              <a:gd name="T8" fmla="*/ 342 w 342"/>
              <a:gd name="T9" fmla="*/ 186 h 18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42" h="186">
                <a:moveTo>
                  <a:pt x="0" y="186"/>
                </a:moveTo>
                <a:lnTo>
                  <a:pt x="342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94" name="Freeform 18">
            <a:extLst>
              <a:ext uri="{FF2B5EF4-FFF2-40B4-BE49-F238E27FC236}">
                <a16:creationId xmlns:a16="http://schemas.microsoft.com/office/drawing/2014/main" id="{7FA32D9C-73A1-4992-8D45-942B687FC5CD}"/>
              </a:ext>
            </a:extLst>
          </p:cNvPr>
          <p:cNvSpPr>
            <a:spLocks/>
          </p:cNvSpPr>
          <p:nvPr/>
        </p:nvSpPr>
        <p:spPr bwMode="auto">
          <a:xfrm flipV="1">
            <a:off x="4362933" y="4131556"/>
            <a:ext cx="906081" cy="900499"/>
          </a:xfrm>
          <a:custGeom>
            <a:avLst/>
            <a:gdLst>
              <a:gd name="T0" fmla="*/ 0 w 342"/>
              <a:gd name="T1" fmla="*/ 186 h 186"/>
              <a:gd name="T2" fmla="*/ 342 w 342"/>
              <a:gd name="T3" fmla="*/ 0 h 186"/>
              <a:gd name="T4" fmla="*/ 0 60000 65536"/>
              <a:gd name="T5" fmla="*/ 0 60000 65536"/>
              <a:gd name="T6" fmla="*/ 0 w 342"/>
              <a:gd name="T7" fmla="*/ 0 h 186"/>
              <a:gd name="T8" fmla="*/ 342 w 342"/>
              <a:gd name="T9" fmla="*/ 186 h 18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42" h="186">
                <a:moveTo>
                  <a:pt x="0" y="186"/>
                </a:moveTo>
                <a:lnTo>
                  <a:pt x="342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95" name="Freeform 18">
            <a:extLst>
              <a:ext uri="{FF2B5EF4-FFF2-40B4-BE49-F238E27FC236}">
                <a16:creationId xmlns:a16="http://schemas.microsoft.com/office/drawing/2014/main" id="{6524F08D-C225-4D51-8C3D-029C6DF83F96}"/>
              </a:ext>
            </a:extLst>
          </p:cNvPr>
          <p:cNvSpPr>
            <a:spLocks/>
          </p:cNvSpPr>
          <p:nvPr/>
        </p:nvSpPr>
        <p:spPr bwMode="auto">
          <a:xfrm flipV="1">
            <a:off x="4362933" y="4983500"/>
            <a:ext cx="909081" cy="45719"/>
          </a:xfrm>
          <a:custGeom>
            <a:avLst/>
            <a:gdLst>
              <a:gd name="T0" fmla="*/ 0 w 342"/>
              <a:gd name="T1" fmla="*/ 186 h 186"/>
              <a:gd name="T2" fmla="*/ 342 w 342"/>
              <a:gd name="T3" fmla="*/ 0 h 186"/>
              <a:gd name="T4" fmla="*/ 0 60000 65536"/>
              <a:gd name="T5" fmla="*/ 0 60000 65536"/>
              <a:gd name="T6" fmla="*/ 0 w 342"/>
              <a:gd name="T7" fmla="*/ 0 h 186"/>
              <a:gd name="T8" fmla="*/ 342 w 342"/>
              <a:gd name="T9" fmla="*/ 186 h 18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42" h="186">
                <a:moveTo>
                  <a:pt x="0" y="186"/>
                </a:moveTo>
                <a:lnTo>
                  <a:pt x="342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cxnSp>
        <p:nvCxnSpPr>
          <p:cNvPr id="97" name="직선 연결선 96">
            <a:extLst>
              <a:ext uri="{FF2B5EF4-FFF2-40B4-BE49-F238E27FC236}">
                <a16:creationId xmlns:a16="http://schemas.microsoft.com/office/drawing/2014/main" id="{82D60E3A-AC0E-4035-8967-FDF6D6FE97D9}"/>
              </a:ext>
            </a:extLst>
          </p:cNvPr>
          <p:cNvCxnSpPr>
            <a:cxnSpLocks/>
          </p:cNvCxnSpPr>
          <p:nvPr/>
        </p:nvCxnSpPr>
        <p:spPr>
          <a:xfrm>
            <a:off x="6096000" y="5013345"/>
            <a:ext cx="113665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2018FF8F-B50A-4DCD-A971-BD693E4F2B80}"/>
              </a:ext>
            </a:extLst>
          </p:cNvPr>
          <p:cNvSpPr txBox="1"/>
          <p:nvPr/>
        </p:nvSpPr>
        <p:spPr>
          <a:xfrm>
            <a:off x="4607638" y="5257610"/>
            <a:ext cx="2089910" cy="301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600" b="1" dirty="0">
                <a:solidFill>
                  <a:srgbClr val="C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</a:rPr>
              <a:t>Router</a:t>
            </a:r>
          </a:p>
        </p:txBody>
      </p:sp>
    </p:spTree>
    <p:extLst>
      <p:ext uri="{BB962C8B-B14F-4D97-AF65-F5344CB8AC3E}">
        <p14:creationId xmlns:p14="http://schemas.microsoft.com/office/powerpoint/2010/main" val="30947588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5EDF3-F372-3458-10A8-696C601CD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F8550829-3395-13AE-28BE-BE3621C31F3F}"/>
              </a:ext>
            </a:extLst>
          </p:cNvPr>
          <p:cNvGrpSpPr/>
          <p:nvPr/>
        </p:nvGrpSpPr>
        <p:grpSpPr>
          <a:xfrm>
            <a:off x="164064" y="1119724"/>
            <a:ext cx="7264437" cy="523220"/>
            <a:chOff x="164064" y="1119724"/>
            <a:chExt cx="7264437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ACAE52F-E8E5-593A-1A1C-EFE6217484A3}"/>
                </a:ext>
              </a:extLst>
            </p:cNvPr>
            <p:cNvSpPr txBox="1"/>
            <p:nvPr/>
          </p:nvSpPr>
          <p:spPr>
            <a:xfrm>
              <a:off x="769499" y="1119724"/>
              <a:ext cx="665900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Core Concepts: How We Capture Traffic</a:t>
              </a:r>
              <a:endParaRPr lang="ko-KR" altLang="en-US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A82B2856-E01A-8BE3-8796-26B1B1A186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F67EBD3-6B5D-0B04-3152-653837BD277B}"/>
              </a:ext>
            </a:extLst>
          </p:cNvPr>
          <p:cNvSpPr txBox="1"/>
          <p:nvPr/>
        </p:nvSpPr>
        <p:spPr>
          <a:xfrm>
            <a:off x="668703" y="1715700"/>
            <a:ext cx="7160920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solidFill>
                  <a:srgbClr val="FF0000"/>
                </a:solidFill>
                <a:latin typeface="SF싸락눈" panose="02000503000000000000" pitchFamily="2" charset="-127"/>
                <a:ea typeface="SF싸락눈" panose="02000503000000000000" pitchFamily="2" charset="-127"/>
              </a:rPr>
              <a:t>Port Forwarding / Mirroring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5410E63-8777-151E-6324-F3BD977E9011}"/>
              </a:ext>
            </a:extLst>
          </p:cNvPr>
          <p:cNvSpPr txBox="1"/>
          <p:nvPr/>
        </p:nvSpPr>
        <p:spPr>
          <a:xfrm>
            <a:off x="819555" y="2207751"/>
            <a:ext cx="10514752" cy="448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/>
              <a:t>A router feature that </a:t>
            </a:r>
            <a:r>
              <a:rPr lang="en-US" altLang="ko-KR" sz="2000" b="1" dirty="0"/>
              <a:t>duplicates all traffic</a:t>
            </a:r>
            <a:r>
              <a:rPr lang="en-US" altLang="ko-KR" sz="2000" dirty="0"/>
              <a:t> and sends a copy to our monitoring device.</a:t>
            </a:r>
            <a:endParaRPr lang="en-US" altLang="ko-KR" sz="2000" dirty="0">
              <a:solidFill>
                <a:srgbClr val="C00000"/>
              </a:solidFill>
              <a:latin typeface="Pretendard Light" panose="02000403000000020004" pitchFamily="2" charset="-127"/>
              <a:ea typeface="Pretendard Light" panose="02000403000000020004" pitchFamily="2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1669A50-6C26-44DA-B8C5-59364028D2DB}"/>
              </a:ext>
            </a:extLst>
          </p:cNvPr>
          <p:cNvSpPr txBox="1"/>
          <p:nvPr/>
        </p:nvSpPr>
        <p:spPr>
          <a:xfrm>
            <a:off x="668703" y="2782173"/>
            <a:ext cx="7160920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solidFill>
                  <a:srgbClr val="FF0000"/>
                </a:solidFill>
                <a:latin typeface="SF싸락눈" panose="02000503000000000000" pitchFamily="2" charset="-127"/>
                <a:ea typeface="SF싸락눈" panose="02000503000000000000" pitchFamily="2" charset="-127"/>
              </a:rPr>
              <a:t>Packet Sniffing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D4FE009-73CD-470E-9414-A1F498E01B29}"/>
              </a:ext>
            </a:extLst>
          </p:cNvPr>
          <p:cNvSpPr txBox="1"/>
          <p:nvPr/>
        </p:nvSpPr>
        <p:spPr>
          <a:xfrm>
            <a:off x="819554" y="3274224"/>
            <a:ext cx="10578547" cy="848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/>
              <a:t>Software on our monitoring device (e.g. Wireshark) that </a:t>
            </a:r>
            <a:r>
              <a:rPr lang="en-US" altLang="ko-KR" sz="2000" b="1" dirty="0"/>
              <a:t>captures and records</a:t>
            </a:r>
            <a:r>
              <a:rPr lang="en-US" altLang="ko-KR" sz="2000" dirty="0"/>
              <a:t> the copied packets for analysis.</a:t>
            </a:r>
            <a:endParaRPr lang="en-US" altLang="ko-KR" sz="2000" dirty="0">
              <a:solidFill>
                <a:srgbClr val="C00000"/>
              </a:solidFill>
              <a:latin typeface="Pretendard Light" panose="02000403000000020004" pitchFamily="2" charset="-127"/>
              <a:ea typeface="Pretendard Light" panose="02000403000000020004" pitchFamily="2" charset="-127"/>
            </a:endParaRPr>
          </a:p>
        </p:txBody>
      </p:sp>
      <p:pic>
        <p:nvPicPr>
          <p:cNvPr id="50" name="Picture 1613" descr="desktop_computer_stylized_medium">
            <a:extLst>
              <a:ext uri="{FF2B5EF4-FFF2-40B4-BE49-F238E27FC236}">
                <a16:creationId xmlns:a16="http://schemas.microsoft.com/office/drawing/2014/main" id="{4A68F931-74D0-47DF-9473-FFBD9B50A8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647514" y="4293893"/>
            <a:ext cx="855053" cy="655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" name="Picture 1613" descr="desktop_computer_stylized_medium">
            <a:extLst>
              <a:ext uri="{FF2B5EF4-FFF2-40B4-BE49-F238E27FC236}">
                <a16:creationId xmlns:a16="http://schemas.microsoft.com/office/drawing/2014/main" id="{BB0049BF-80A6-4D82-8090-6E8A0F895D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667756" y="5062242"/>
            <a:ext cx="855053" cy="655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2" name="그래픽 51">
            <a:extLst>
              <a:ext uri="{FF2B5EF4-FFF2-40B4-BE49-F238E27FC236}">
                <a16:creationId xmlns:a16="http://schemas.microsoft.com/office/drawing/2014/main" id="{F00415D0-ADC7-414F-8525-330FEE2CCD1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314891" y="4518815"/>
            <a:ext cx="290200" cy="206042"/>
          </a:xfrm>
          <a:prstGeom prst="rect">
            <a:avLst/>
          </a:prstGeom>
        </p:spPr>
      </p:pic>
      <p:pic>
        <p:nvPicPr>
          <p:cNvPr id="53" name="그래픽 52">
            <a:extLst>
              <a:ext uri="{FF2B5EF4-FFF2-40B4-BE49-F238E27FC236}">
                <a16:creationId xmlns:a16="http://schemas.microsoft.com/office/drawing/2014/main" id="{90B2F158-CA5D-4341-A122-F93C64D40D6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335134" y="5287164"/>
            <a:ext cx="290200" cy="206042"/>
          </a:xfrm>
          <a:prstGeom prst="rect">
            <a:avLst/>
          </a:prstGeom>
        </p:spPr>
      </p:pic>
      <p:pic>
        <p:nvPicPr>
          <p:cNvPr id="54" name="그래픽 53">
            <a:extLst>
              <a:ext uri="{FF2B5EF4-FFF2-40B4-BE49-F238E27FC236}">
                <a16:creationId xmlns:a16="http://schemas.microsoft.com/office/drawing/2014/main" id="{364FF028-9DBF-49FD-8A7E-380385EB20A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335134" y="6055514"/>
            <a:ext cx="290200" cy="206042"/>
          </a:xfrm>
          <a:prstGeom prst="rect">
            <a:avLst/>
          </a:prstGeom>
        </p:spPr>
      </p:pic>
      <p:pic>
        <p:nvPicPr>
          <p:cNvPr id="55" name="Picture 1613" descr="desktop_computer_stylized_medium">
            <a:extLst>
              <a:ext uri="{FF2B5EF4-FFF2-40B4-BE49-F238E27FC236}">
                <a16:creationId xmlns:a16="http://schemas.microsoft.com/office/drawing/2014/main" id="{A5465EB2-69CC-41E9-BEBE-0765885523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625334" y="5830591"/>
            <a:ext cx="855053" cy="655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7" name="Picture 5">
            <a:extLst>
              <a:ext uri="{FF2B5EF4-FFF2-40B4-BE49-F238E27FC236}">
                <a16:creationId xmlns:a16="http://schemas.microsoft.com/office/drawing/2014/main" id="{B9178673-771C-439E-8762-DEC569F1626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67149" y="4970393"/>
            <a:ext cx="609600" cy="400050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08C7D03E-3576-420A-914E-0E1D4145806C}"/>
              </a:ext>
            </a:extLst>
          </p:cNvPr>
          <p:cNvSpPr txBox="1"/>
          <p:nvPr/>
        </p:nvSpPr>
        <p:spPr>
          <a:xfrm>
            <a:off x="4330777" y="5408916"/>
            <a:ext cx="2089910" cy="301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600" b="1" dirty="0">
                <a:solidFill>
                  <a:srgbClr val="C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</a:rPr>
              <a:t>Router</a:t>
            </a:r>
          </a:p>
        </p:txBody>
      </p:sp>
      <p:pic>
        <p:nvPicPr>
          <p:cNvPr id="59" name="그래픽 58">
            <a:extLst>
              <a:ext uri="{FF2B5EF4-FFF2-40B4-BE49-F238E27FC236}">
                <a16:creationId xmlns:a16="http://schemas.microsoft.com/office/drawing/2014/main" id="{12388441-86A3-42DD-8DF2-BB575C3A579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410195" y="4819147"/>
            <a:ext cx="540486" cy="551296"/>
          </a:xfrm>
          <a:prstGeom prst="rect">
            <a:avLst/>
          </a:prstGeom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96C966F8-3CD2-47D7-8241-84244F74DFF6}"/>
              </a:ext>
            </a:extLst>
          </p:cNvPr>
          <p:cNvSpPr txBox="1"/>
          <p:nvPr/>
        </p:nvSpPr>
        <p:spPr>
          <a:xfrm>
            <a:off x="2635483" y="5409251"/>
            <a:ext cx="2089910" cy="301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600" b="1" dirty="0">
                <a:solidFill>
                  <a:srgbClr val="C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</a:rPr>
              <a:t>Internet</a:t>
            </a:r>
          </a:p>
        </p:txBody>
      </p:sp>
      <p:sp>
        <p:nvSpPr>
          <p:cNvPr id="61" name="Freeform 18">
            <a:extLst>
              <a:ext uri="{FF2B5EF4-FFF2-40B4-BE49-F238E27FC236}">
                <a16:creationId xmlns:a16="http://schemas.microsoft.com/office/drawing/2014/main" id="{323C6A55-CE23-4678-89EA-51165C4F71D7}"/>
              </a:ext>
            </a:extLst>
          </p:cNvPr>
          <p:cNvSpPr>
            <a:spLocks/>
          </p:cNvSpPr>
          <p:nvPr/>
        </p:nvSpPr>
        <p:spPr bwMode="auto">
          <a:xfrm flipV="1">
            <a:off x="5966949" y="5175988"/>
            <a:ext cx="1297601" cy="949367"/>
          </a:xfrm>
          <a:custGeom>
            <a:avLst/>
            <a:gdLst>
              <a:gd name="T0" fmla="*/ 0 w 342"/>
              <a:gd name="T1" fmla="*/ 186 h 186"/>
              <a:gd name="T2" fmla="*/ 342 w 342"/>
              <a:gd name="T3" fmla="*/ 0 h 186"/>
              <a:gd name="T4" fmla="*/ 0 60000 65536"/>
              <a:gd name="T5" fmla="*/ 0 60000 65536"/>
              <a:gd name="T6" fmla="*/ 0 w 342"/>
              <a:gd name="T7" fmla="*/ 0 h 186"/>
              <a:gd name="T8" fmla="*/ 342 w 342"/>
              <a:gd name="T9" fmla="*/ 186 h 18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42" h="186">
                <a:moveTo>
                  <a:pt x="0" y="186"/>
                </a:moveTo>
                <a:lnTo>
                  <a:pt x="342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62" name="Freeform 18">
            <a:extLst>
              <a:ext uri="{FF2B5EF4-FFF2-40B4-BE49-F238E27FC236}">
                <a16:creationId xmlns:a16="http://schemas.microsoft.com/office/drawing/2014/main" id="{86CE3A30-5AAF-4C31-AD72-DB46D2B38A2B}"/>
              </a:ext>
            </a:extLst>
          </p:cNvPr>
          <p:cNvSpPr>
            <a:spLocks/>
          </p:cNvSpPr>
          <p:nvPr/>
        </p:nvSpPr>
        <p:spPr bwMode="auto">
          <a:xfrm>
            <a:off x="5952263" y="4628840"/>
            <a:ext cx="1261338" cy="547151"/>
          </a:xfrm>
          <a:custGeom>
            <a:avLst/>
            <a:gdLst>
              <a:gd name="T0" fmla="*/ 0 w 342"/>
              <a:gd name="T1" fmla="*/ 186 h 186"/>
              <a:gd name="T2" fmla="*/ 342 w 342"/>
              <a:gd name="T3" fmla="*/ 0 h 186"/>
              <a:gd name="T4" fmla="*/ 0 60000 65536"/>
              <a:gd name="T5" fmla="*/ 0 60000 65536"/>
              <a:gd name="T6" fmla="*/ 0 w 342"/>
              <a:gd name="T7" fmla="*/ 0 h 186"/>
              <a:gd name="T8" fmla="*/ 342 w 342"/>
              <a:gd name="T9" fmla="*/ 186 h 18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42" h="186">
                <a:moveTo>
                  <a:pt x="0" y="186"/>
                </a:moveTo>
                <a:lnTo>
                  <a:pt x="342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63" name="Freeform 18">
            <a:extLst>
              <a:ext uri="{FF2B5EF4-FFF2-40B4-BE49-F238E27FC236}">
                <a16:creationId xmlns:a16="http://schemas.microsoft.com/office/drawing/2014/main" id="{1AAC5A55-6064-4B53-B8D4-F49AAEE91C70}"/>
              </a:ext>
            </a:extLst>
          </p:cNvPr>
          <p:cNvSpPr>
            <a:spLocks/>
          </p:cNvSpPr>
          <p:nvPr/>
        </p:nvSpPr>
        <p:spPr bwMode="auto">
          <a:xfrm flipV="1">
            <a:off x="5952263" y="5175990"/>
            <a:ext cx="1312287" cy="194451"/>
          </a:xfrm>
          <a:custGeom>
            <a:avLst/>
            <a:gdLst>
              <a:gd name="T0" fmla="*/ 0 w 342"/>
              <a:gd name="T1" fmla="*/ 186 h 186"/>
              <a:gd name="T2" fmla="*/ 342 w 342"/>
              <a:gd name="T3" fmla="*/ 0 h 186"/>
              <a:gd name="T4" fmla="*/ 0 60000 65536"/>
              <a:gd name="T5" fmla="*/ 0 60000 65536"/>
              <a:gd name="T6" fmla="*/ 0 w 342"/>
              <a:gd name="T7" fmla="*/ 0 h 186"/>
              <a:gd name="T8" fmla="*/ 342 w 342"/>
              <a:gd name="T9" fmla="*/ 186 h 18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42" h="186">
                <a:moveTo>
                  <a:pt x="0" y="186"/>
                </a:moveTo>
                <a:lnTo>
                  <a:pt x="342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053BCDF3-8FCC-4570-B42F-357EA4E00B70}"/>
              </a:ext>
            </a:extLst>
          </p:cNvPr>
          <p:cNvCxnSpPr>
            <a:cxnSpLocks/>
          </p:cNvCxnSpPr>
          <p:nvPr/>
        </p:nvCxnSpPr>
        <p:spPr>
          <a:xfrm>
            <a:off x="4149270" y="5175991"/>
            <a:ext cx="7874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ED260F7A-0B08-47B2-B493-ED3EC75D5379}"/>
              </a:ext>
            </a:extLst>
          </p:cNvPr>
          <p:cNvSpPr txBox="1"/>
          <p:nvPr/>
        </p:nvSpPr>
        <p:spPr>
          <a:xfrm>
            <a:off x="4330777" y="5665048"/>
            <a:ext cx="2089910" cy="301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600" b="1" dirty="0">
                <a:solidFill>
                  <a:srgbClr val="C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</a:rPr>
              <a:t>Packet Capture</a:t>
            </a:r>
          </a:p>
        </p:txBody>
      </p:sp>
    </p:spTree>
    <p:extLst>
      <p:ext uri="{BB962C8B-B14F-4D97-AF65-F5344CB8AC3E}">
        <p14:creationId xmlns:p14="http://schemas.microsoft.com/office/powerpoint/2010/main" val="158020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5EDF3-F372-3458-10A8-696C601CD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F8550829-3395-13AE-28BE-BE3621C31F3F}"/>
              </a:ext>
            </a:extLst>
          </p:cNvPr>
          <p:cNvGrpSpPr/>
          <p:nvPr/>
        </p:nvGrpSpPr>
        <p:grpSpPr>
          <a:xfrm>
            <a:off x="164064" y="1119724"/>
            <a:ext cx="8685083" cy="523220"/>
            <a:chOff x="164064" y="1119724"/>
            <a:chExt cx="8685083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ACAE52F-E8E5-593A-1A1C-EFE6217484A3}"/>
                </a:ext>
              </a:extLst>
            </p:cNvPr>
            <p:cNvSpPr txBox="1"/>
            <p:nvPr/>
          </p:nvSpPr>
          <p:spPr>
            <a:xfrm>
              <a:off x="769499" y="1119724"/>
              <a:ext cx="807964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The Problem: Limitations of Commercial Routers</a:t>
              </a:r>
              <a:endParaRPr lang="ko-KR" altLang="en-US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A82B2856-E01A-8BE3-8796-26B1B1A186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F67EBD3-6B5D-0B04-3152-653837BD277B}"/>
              </a:ext>
            </a:extLst>
          </p:cNvPr>
          <p:cNvSpPr txBox="1"/>
          <p:nvPr/>
        </p:nvSpPr>
        <p:spPr>
          <a:xfrm>
            <a:off x="668703" y="1715700"/>
            <a:ext cx="7160920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solidFill>
                  <a:srgbClr val="FF0000"/>
                </a:solidFill>
                <a:latin typeface="SF싸락눈" panose="02000503000000000000" pitchFamily="2" charset="-127"/>
                <a:ea typeface="SF싸락눈" panose="02000503000000000000" pitchFamily="2" charset="-127"/>
              </a:rPr>
              <a:t>Closed Systems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5410E63-8777-151E-6324-F3BD977E9011}"/>
              </a:ext>
            </a:extLst>
          </p:cNvPr>
          <p:cNvSpPr txBox="1"/>
          <p:nvPr/>
        </p:nvSpPr>
        <p:spPr>
          <a:xfrm>
            <a:off x="819555" y="2207751"/>
            <a:ext cx="10514752" cy="848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Most commercial routers run 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vendor-specific OS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, making it difficult to install custom software. 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1669A50-6C26-44DA-B8C5-59364028D2DB}"/>
              </a:ext>
            </a:extLst>
          </p:cNvPr>
          <p:cNvSpPr txBox="1"/>
          <p:nvPr/>
        </p:nvSpPr>
        <p:spPr>
          <a:xfrm>
            <a:off x="668703" y="3234293"/>
            <a:ext cx="7160920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endParaRPr lang="en-US" altLang="ko-KR" sz="2200" dirty="0">
              <a:latin typeface="SF싸락눈" panose="02000503000000000000" pitchFamily="2" charset="-127"/>
              <a:ea typeface="SF싸락눈" panose="02000503000000000000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923E18-8534-4CC6-9A71-6DB8C43BD5FE}"/>
              </a:ext>
            </a:extLst>
          </p:cNvPr>
          <p:cNvSpPr txBox="1"/>
          <p:nvPr/>
        </p:nvSpPr>
        <p:spPr>
          <a:xfrm>
            <a:off x="668703" y="3070556"/>
            <a:ext cx="7160920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solidFill>
                  <a:srgbClr val="FF0000"/>
                </a:solidFill>
                <a:latin typeface="SF싸락눈" panose="02000503000000000000" pitchFamily="2" charset="-127"/>
                <a:ea typeface="SF싸락눈" panose="02000503000000000000" pitchFamily="2" charset="-127"/>
              </a:rPr>
              <a:t>Solution: </a:t>
            </a: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A Mini-PC as a Network </a:t>
            </a:r>
            <a:r>
              <a:rPr lang="en-US" altLang="ko-KR" sz="2200" b="1" dirty="0">
                <a:latin typeface="SF싸락눈" panose="02000503000000000000" pitchFamily="2" charset="-127"/>
                <a:ea typeface="SF싸락눈" panose="02000503000000000000" pitchFamily="2" charset="-127"/>
              </a:rPr>
              <a:t>“Checkpoint”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BCB2DBC-F62F-418B-806E-CB13BD4A8007}"/>
              </a:ext>
            </a:extLst>
          </p:cNvPr>
          <p:cNvSpPr txBox="1"/>
          <p:nvPr/>
        </p:nvSpPr>
        <p:spPr>
          <a:xfrm>
            <a:off x="819555" y="3562607"/>
            <a:ext cx="10514752" cy="1248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Use a Linux-based Mini-PC to act as 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a transparent router</a:t>
            </a: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It sits between your internet source and the existing Wi-Fi router, inspecting all incoming and outgoing traffic</a:t>
            </a:r>
          </a:p>
        </p:txBody>
      </p:sp>
      <p:pic>
        <p:nvPicPr>
          <p:cNvPr id="13" name="Picture 1613" descr="desktop_computer_stylized_medium">
            <a:extLst>
              <a:ext uri="{FF2B5EF4-FFF2-40B4-BE49-F238E27FC236}">
                <a16:creationId xmlns:a16="http://schemas.microsoft.com/office/drawing/2014/main" id="{4782F5A6-7AA1-49B3-948C-7F2A725986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8897194" y="4425412"/>
            <a:ext cx="855053" cy="655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1613" descr="desktop_computer_stylized_medium">
            <a:extLst>
              <a:ext uri="{FF2B5EF4-FFF2-40B4-BE49-F238E27FC236}">
                <a16:creationId xmlns:a16="http://schemas.microsoft.com/office/drawing/2014/main" id="{332E2C2C-668C-4734-A228-DA789DE24F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8917436" y="5193761"/>
            <a:ext cx="855053" cy="655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그래픽 14">
            <a:extLst>
              <a:ext uri="{FF2B5EF4-FFF2-40B4-BE49-F238E27FC236}">
                <a16:creationId xmlns:a16="http://schemas.microsoft.com/office/drawing/2014/main" id="{310E94EA-0EAB-483C-88CE-439EE94105A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564571" y="4650334"/>
            <a:ext cx="290200" cy="206042"/>
          </a:xfrm>
          <a:prstGeom prst="rect">
            <a:avLst/>
          </a:prstGeom>
        </p:spPr>
      </p:pic>
      <p:pic>
        <p:nvPicPr>
          <p:cNvPr id="16" name="그래픽 15">
            <a:extLst>
              <a:ext uri="{FF2B5EF4-FFF2-40B4-BE49-F238E27FC236}">
                <a16:creationId xmlns:a16="http://schemas.microsoft.com/office/drawing/2014/main" id="{43D813F2-2FF7-41A9-9FF8-3333FB58A08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584814" y="5418683"/>
            <a:ext cx="290200" cy="206042"/>
          </a:xfrm>
          <a:prstGeom prst="rect">
            <a:avLst/>
          </a:prstGeom>
        </p:spPr>
      </p:pic>
      <p:pic>
        <p:nvPicPr>
          <p:cNvPr id="17" name="그래픽 16">
            <a:extLst>
              <a:ext uri="{FF2B5EF4-FFF2-40B4-BE49-F238E27FC236}">
                <a16:creationId xmlns:a16="http://schemas.microsoft.com/office/drawing/2014/main" id="{9BF5E932-9960-40B0-AFFA-997CED5064D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584814" y="6187033"/>
            <a:ext cx="290200" cy="206042"/>
          </a:xfrm>
          <a:prstGeom prst="rect">
            <a:avLst/>
          </a:prstGeom>
        </p:spPr>
      </p:pic>
      <p:pic>
        <p:nvPicPr>
          <p:cNvPr id="18" name="Picture 1613" descr="desktop_computer_stylized_medium">
            <a:extLst>
              <a:ext uri="{FF2B5EF4-FFF2-40B4-BE49-F238E27FC236}">
                <a16:creationId xmlns:a16="http://schemas.microsoft.com/office/drawing/2014/main" id="{ADE8CD1F-32ED-433A-8DE8-926D758B2D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8875014" y="5962110"/>
            <a:ext cx="855053" cy="655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Picture 1613" descr="desktop_computer_stylized_medium">
            <a:extLst>
              <a:ext uri="{FF2B5EF4-FFF2-40B4-BE49-F238E27FC236}">
                <a16:creationId xmlns:a16="http://schemas.microsoft.com/office/drawing/2014/main" id="{26CBCA98-C7E0-4598-B6BC-C99ADA8865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6529184" y="5580535"/>
            <a:ext cx="855053" cy="655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Picture 5">
            <a:extLst>
              <a:ext uri="{FF2B5EF4-FFF2-40B4-BE49-F238E27FC236}">
                <a16:creationId xmlns:a16="http://schemas.microsoft.com/office/drawing/2014/main" id="{568C1446-7CE8-47CB-9AFB-DC4AC89A51B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70492" y="4591063"/>
            <a:ext cx="609600" cy="40005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39F891F0-D27F-41A9-8E41-CF0CC7C9EB6D}"/>
              </a:ext>
            </a:extLst>
          </p:cNvPr>
          <p:cNvSpPr txBox="1"/>
          <p:nvPr/>
        </p:nvSpPr>
        <p:spPr>
          <a:xfrm>
            <a:off x="6134120" y="5029586"/>
            <a:ext cx="2089910" cy="301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600" b="1" dirty="0">
                <a:solidFill>
                  <a:srgbClr val="C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</a:rPr>
              <a:t>Router</a:t>
            </a:r>
          </a:p>
        </p:txBody>
      </p:sp>
      <p:pic>
        <p:nvPicPr>
          <p:cNvPr id="22" name="그래픽 21">
            <a:extLst>
              <a:ext uri="{FF2B5EF4-FFF2-40B4-BE49-F238E27FC236}">
                <a16:creationId xmlns:a16="http://schemas.microsoft.com/office/drawing/2014/main" id="{5EF9BF81-D4F8-4DC8-9CA5-82A1F78C198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213538" y="4439817"/>
            <a:ext cx="540486" cy="551296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722B4E4D-E7D7-4C1F-A3FD-7ACC99256E86}"/>
              </a:ext>
            </a:extLst>
          </p:cNvPr>
          <p:cNvSpPr txBox="1"/>
          <p:nvPr/>
        </p:nvSpPr>
        <p:spPr>
          <a:xfrm>
            <a:off x="4438826" y="5029921"/>
            <a:ext cx="2089910" cy="301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600" b="1" dirty="0">
                <a:solidFill>
                  <a:srgbClr val="C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</a:rPr>
              <a:t>Internet</a:t>
            </a:r>
          </a:p>
        </p:txBody>
      </p:sp>
      <p:sp>
        <p:nvSpPr>
          <p:cNvPr id="24" name="Freeform 18">
            <a:extLst>
              <a:ext uri="{FF2B5EF4-FFF2-40B4-BE49-F238E27FC236}">
                <a16:creationId xmlns:a16="http://schemas.microsoft.com/office/drawing/2014/main" id="{91AFFAE8-A302-4494-B1F7-2EB54834C72F}"/>
              </a:ext>
            </a:extLst>
          </p:cNvPr>
          <p:cNvSpPr>
            <a:spLocks/>
          </p:cNvSpPr>
          <p:nvPr/>
        </p:nvSpPr>
        <p:spPr bwMode="auto">
          <a:xfrm flipV="1">
            <a:off x="7605148" y="4796661"/>
            <a:ext cx="909082" cy="1460214"/>
          </a:xfrm>
          <a:custGeom>
            <a:avLst/>
            <a:gdLst>
              <a:gd name="T0" fmla="*/ 0 w 342"/>
              <a:gd name="T1" fmla="*/ 186 h 186"/>
              <a:gd name="T2" fmla="*/ 342 w 342"/>
              <a:gd name="T3" fmla="*/ 0 h 186"/>
              <a:gd name="T4" fmla="*/ 0 60000 65536"/>
              <a:gd name="T5" fmla="*/ 0 60000 65536"/>
              <a:gd name="T6" fmla="*/ 0 w 342"/>
              <a:gd name="T7" fmla="*/ 0 h 186"/>
              <a:gd name="T8" fmla="*/ 342 w 342"/>
              <a:gd name="T9" fmla="*/ 186 h 18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42" h="186">
                <a:moveTo>
                  <a:pt x="0" y="186"/>
                </a:moveTo>
                <a:lnTo>
                  <a:pt x="342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5" name="Freeform 18">
            <a:extLst>
              <a:ext uri="{FF2B5EF4-FFF2-40B4-BE49-F238E27FC236}">
                <a16:creationId xmlns:a16="http://schemas.microsoft.com/office/drawing/2014/main" id="{2D8538AD-B776-4605-BD71-72452E4D30C1}"/>
              </a:ext>
            </a:extLst>
          </p:cNvPr>
          <p:cNvSpPr>
            <a:spLocks/>
          </p:cNvSpPr>
          <p:nvPr/>
        </p:nvSpPr>
        <p:spPr bwMode="auto">
          <a:xfrm>
            <a:off x="7613067" y="4760359"/>
            <a:ext cx="850213" cy="45719"/>
          </a:xfrm>
          <a:custGeom>
            <a:avLst/>
            <a:gdLst>
              <a:gd name="T0" fmla="*/ 0 w 342"/>
              <a:gd name="T1" fmla="*/ 186 h 186"/>
              <a:gd name="T2" fmla="*/ 342 w 342"/>
              <a:gd name="T3" fmla="*/ 0 h 186"/>
              <a:gd name="T4" fmla="*/ 0 60000 65536"/>
              <a:gd name="T5" fmla="*/ 0 60000 65536"/>
              <a:gd name="T6" fmla="*/ 0 w 342"/>
              <a:gd name="T7" fmla="*/ 0 h 186"/>
              <a:gd name="T8" fmla="*/ 342 w 342"/>
              <a:gd name="T9" fmla="*/ 186 h 18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42" h="186">
                <a:moveTo>
                  <a:pt x="0" y="186"/>
                </a:moveTo>
                <a:lnTo>
                  <a:pt x="342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6" name="Freeform 18">
            <a:extLst>
              <a:ext uri="{FF2B5EF4-FFF2-40B4-BE49-F238E27FC236}">
                <a16:creationId xmlns:a16="http://schemas.microsoft.com/office/drawing/2014/main" id="{EAE2CADD-D635-4D65-A902-29EE685382B8}"/>
              </a:ext>
            </a:extLst>
          </p:cNvPr>
          <p:cNvSpPr>
            <a:spLocks/>
          </p:cNvSpPr>
          <p:nvPr/>
        </p:nvSpPr>
        <p:spPr bwMode="auto">
          <a:xfrm flipV="1">
            <a:off x="7605149" y="4797324"/>
            <a:ext cx="909081" cy="704638"/>
          </a:xfrm>
          <a:custGeom>
            <a:avLst/>
            <a:gdLst>
              <a:gd name="T0" fmla="*/ 0 w 342"/>
              <a:gd name="T1" fmla="*/ 186 h 186"/>
              <a:gd name="T2" fmla="*/ 342 w 342"/>
              <a:gd name="T3" fmla="*/ 0 h 186"/>
              <a:gd name="T4" fmla="*/ 0 60000 65536"/>
              <a:gd name="T5" fmla="*/ 0 60000 65536"/>
              <a:gd name="T6" fmla="*/ 0 w 342"/>
              <a:gd name="T7" fmla="*/ 0 h 186"/>
              <a:gd name="T8" fmla="*/ 342 w 342"/>
              <a:gd name="T9" fmla="*/ 186 h 18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42" h="186">
                <a:moveTo>
                  <a:pt x="0" y="186"/>
                </a:moveTo>
                <a:lnTo>
                  <a:pt x="342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7" name="Freeform 18">
            <a:extLst>
              <a:ext uri="{FF2B5EF4-FFF2-40B4-BE49-F238E27FC236}">
                <a16:creationId xmlns:a16="http://schemas.microsoft.com/office/drawing/2014/main" id="{410C86CD-332C-4D73-89C8-607E75047A05}"/>
              </a:ext>
            </a:extLst>
          </p:cNvPr>
          <p:cNvSpPr>
            <a:spLocks/>
          </p:cNvSpPr>
          <p:nvPr/>
        </p:nvSpPr>
        <p:spPr bwMode="auto">
          <a:xfrm flipH="1" flipV="1">
            <a:off x="7126662" y="5302432"/>
            <a:ext cx="45719" cy="295104"/>
          </a:xfrm>
          <a:custGeom>
            <a:avLst/>
            <a:gdLst>
              <a:gd name="T0" fmla="*/ 0 w 342"/>
              <a:gd name="T1" fmla="*/ 186 h 186"/>
              <a:gd name="T2" fmla="*/ 342 w 342"/>
              <a:gd name="T3" fmla="*/ 0 h 186"/>
              <a:gd name="T4" fmla="*/ 0 60000 65536"/>
              <a:gd name="T5" fmla="*/ 0 60000 65536"/>
              <a:gd name="T6" fmla="*/ 0 w 342"/>
              <a:gd name="T7" fmla="*/ 0 h 186"/>
              <a:gd name="T8" fmla="*/ 342 w 342"/>
              <a:gd name="T9" fmla="*/ 186 h 18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42" h="186">
                <a:moveTo>
                  <a:pt x="0" y="186"/>
                </a:moveTo>
                <a:lnTo>
                  <a:pt x="342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200AE739-FBC8-4213-A2E5-F2A917B7F6B6}"/>
              </a:ext>
            </a:extLst>
          </p:cNvPr>
          <p:cNvCxnSpPr>
            <a:cxnSpLocks/>
          </p:cNvCxnSpPr>
          <p:nvPr/>
        </p:nvCxnSpPr>
        <p:spPr>
          <a:xfrm>
            <a:off x="5952613" y="4796661"/>
            <a:ext cx="7874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703B0CB4-969E-4690-B60D-FDB2B6421312}"/>
              </a:ext>
            </a:extLst>
          </p:cNvPr>
          <p:cNvSpPr txBox="1"/>
          <p:nvPr/>
        </p:nvSpPr>
        <p:spPr>
          <a:xfrm>
            <a:off x="5662972" y="6167423"/>
            <a:ext cx="28307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C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</a:rPr>
              <a:t>A Transparent Router</a:t>
            </a:r>
            <a:br>
              <a:rPr lang="en-US" sz="1600" b="1" dirty="0">
                <a:solidFill>
                  <a:srgbClr val="C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</a:rPr>
            </a:br>
            <a:r>
              <a:rPr lang="en-US" sz="16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Mini-PC</a:t>
            </a:r>
          </a:p>
        </p:txBody>
      </p:sp>
    </p:spTree>
    <p:extLst>
      <p:ext uri="{BB962C8B-B14F-4D97-AF65-F5344CB8AC3E}">
        <p14:creationId xmlns:p14="http://schemas.microsoft.com/office/powerpoint/2010/main" val="23696809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5EDF3-F372-3458-10A8-696C601CD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F8550829-3395-13AE-28BE-BE3621C31F3F}"/>
              </a:ext>
            </a:extLst>
          </p:cNvPr>
          <p:cNvGrpSpPr/>
          <p:nvPr/>
        </p:nvGrpSpPr>
        <p:grpSpPr>
          <a:xfrm>
            <a:off x="164064" y="1119724"/>
            <a:ext cx="5808975" cy="523220"/>
            <a:chOff x="164064" y="1119724"/>
            <a:chExt cx="5808975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ACAE52F-E8E5-593A-1A1C-EFE6217484A3}"/>
                </a:ext>
              </a:extLst>
            </p:cNvPr>
            <p:cNvSpPr txBox="1"/>
            <p:nvPr/>
          </p:nvSpPr>
          <p:spPr>
            <a:xfrm>
              <a:off x="769499" y="1119724"/>
              <a:ext cx="520354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Foundations of Packet Capture</a:t>
              </a:r>
              <a:endParaRPr lang="ko-KR" altLang="en-US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A82B2856-E01A-8BE3-8796-26B1B1A186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F67EBD3-6B5D-0B04-3152-653837BD277B}"/>
              </a:ext>
            </a:extLst>
          </p:cNvPr>
          <p:cNvSpPr txBox="1"/>
          <p:nvPr/>
        </p:nvSpPr>
        <p:spPr>
          <a:xfrm>
            <a:off x="668703" y="1715700"/>
            <a:ext cx="7160920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solidFill>
                  <a:srgbClr val="FF0000"/>
                </a:solidFill>
                <a:latin typeface="SF싸락눈" panose="02000503000000000000" pitchFamily="2" charset="-127"/>
                <a:ea typeface="SF싸락눈" panose="02000503000000000000" pitchFamily="2" charset="-127"/>
              </a:rPr>
              <a:t>OSI Layers &amp; Capture Points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5410E63-8777-151E-6324-F3BD977E9011}"/>
              </a:ext>
            </a:extLst>
          </p:cNvPr>
          <p:cNvSpPr txBox="1"/>
          <p:nvPr/>
        </p:nvSpPr>
        <p:spPr>
          <a:xfrm>
            <a:off x="2693999" y="5216075"/>
            <a:ext cx="9193199" cy="1248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This is the lowest level we can access.</a:t>
            </a: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We capture the 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raw, complete data packet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 directly from the physical network hardware.</a:t>
            </a:r>
          </a:p>
        </p:txBody>
      </p:sp>
      <p:sp>
        <p:nvSpPr>
          <p:cNvPr id="14" name="Freeform 917">
            <a:extLst>
              <a:ext uri="{FF2B5EF4-FFF2-40B4-BE49-F238E27FC236}">
                <a16:creationId xmlns:a16="http://schemas.microsoft.com/office/drawing/2014/main" id="{A08B72BE-D30E-4020-B87A-CE9E04339B30}"/>
              </a:ext>
            </a:extLst>
          </p:cNvPr>
          <p:cNvSpPr>
            <a:spLocks/>
          </p:cNvSpPr>
          <p:nvPr/>
        </p:nvSpPr>
        <p:spPr bwMode="auto">
          <a:xfrm flipH="1">
            <a:off x="7100127" y="2859935"/>
            <a:ext cx="318926" cy="942919"/>
          </a:xfrm>
          <a:custGeom>
            <a:avLst/>
            <a:gdLst>
              <a:gd name="T0" fmla="*/ 0 w 192"/>
              <a:gd name="T1" fmla="*/ 594 h 594"/>
              <a:gd name="T2" fmla="*/ 192 w 192"/>
              <a:gd name="T3" fmla="*/ 0 h 594"/>
              <a:gd name="T4" fmla="*/ 192 w 192"/>
              <a:gd name="T5" fmla="*/ 515 h 594"/>
              <a:gd name="T6" fmla="*/ 0 w 192"/>
              <a:gd name="T7" fmla="*/ 594 h 594"/>
              <a:gd name="T8" fmla="*/ 0 60000 65536"/>
              <a:gd name="T9" fmla="*/ 0 60000 65536"/>
              <a:gd name="T10" fmla="*/ 0 60000 65536"/>
              <a:gd name="T11" fmla="*/ 0 60000 65536"/>
              <a:gd name="T12" fmla="*/ 0 w 192"/>
              <a:gd name="T13" fmla="*/ 0 h 594"/>
              <a:gd name="T14" fmla="*/ 192 w 192"/>
              <a:gd name="T15" fmla="*/ 594 h 594"/>
              <a:gd name="connsiteX0" fmla="*/ 0 w 10140"/>
              <a:gd name="connsiteY0" fmla="*/ 9728 h 9728"/>
              <a:gd name="connsiteX1" fmla="*/ 10140 w 10140"/>
              <a:gd name="connsiteY1" fmla="*/ 0 h 9728"/>
              <a:gd name="connsiteX2" fmla="*/ 10140 w 10140"/>
              <a:gd name="connsiteY2" fmla="*/ 8670 h 9728"/>
              <a:gd name="connsiteX3" fmla="*/ 0 w 10140"/>
              <a:gd name="connsiteY3" fmla="*/ 9728 h 9728"/>
              <a:gd name="connsiteX0" fmla="*/ 319 w 10319"/>
              <a:gd name="connsiteY0" fmla="*/ 10000 h 10000"/>
              <a:gd name="connsiteX1" fmla="*/ 0 w 10319"/>
              <a:gd name="connsiteY1" fmla="*/ 9878 h 10000"/>
              <a:gd name="connsiteX2" fmla="*/ 10319 w 10319"/>
              <a:gd name="connsiteY2" fmla="*/ 0 h 10000"/>
              <a:gd name="connsiteX3" fmla="*/ 10319 w 10319"/>
              <a:gd name="connsiteY3" fmla="*/ 8912 h 10000"/>
              <a:gd name="connsiteX4" fmla="*/ 319 w 10319"/>
              <a:gd name="connsiteY4" fmla="*/ 10000 h 10000"/>
              <a:gd name="connsiteX0" fmla="*/ 2669 w 10319"/>
              <a:gd name="connsiteY0" fmla="*/ 10279 h 10279"/>
              <a:gd name="connsiteX1" fmla="*/ 0 w 10319"/>
              <a:gd name="connsiteY1" fmla="*/ 9878 h 10279"/>
              <a:gd name="connsiteX2" fmla="*/ 10319 w 10319"/>
              <a:gd name="connsiteY2" fmla="*/ 0 h 10279"/>
              <a:gd name="connsiteX3" fmla="*/ 10319 w 10319"/>
              <a:gd name="connsiteY3" fmla="*/ 8912 h 10279"/>
              <a:gd name="connsiteX4" fmla="*/ 2669 w 10319"/>
              <a:gd name="connsiteY4" fmla="*/ 10279 h 10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319" h="10279">
                <a:moveTo>
                  <a:pt x="2669" y="10279"/>
                </a:moveTo>
                <a:lnTo>
                  <a:pt x="0" y="9878"/>
                </a:lnTo>
                <a:lnTo>
                  <a:pt x="10319" y="0"/>
                </a:lnTo>
                <a:lnTo>
                  <a:pt x="10319" y="8912"/>
                </a:lnTo>
                <a:lnTo>
                  <a:pt x="2669" y="10279"/>
                </a:lnTo>
                <a:close/>
              </a:path>
            </a:pathLst>
          </a:custGeom>
          <a:gradFill rotWithShape="1">
            <a:gsLst>
              <a:gs pos="0">
                <a:schemeClr val="bg1"/>
              </a:gs>
              <a:gs pos="99000">
                <a:schemeClr val="bg1">
                  <a:lumMod val="75000"/>
                </a:schemeClr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 Light" panose="02000403000000020004" pitchFamily="2" charset="-127"/>
              <a:ea typeface="+mn-ea"/>
              <a:cs typeface="+mn-cs"/>
            </a:endParaRPr>
          </a:p>
        </p:txBody>
      </p:sp>
      <p:graphicFrame>
        <p:nvGraphicFramePr>
          <p:cNvPr id="4" name="표 7">
            <a:extLst>
              <a:ext uri="{FF2B5EF4-FFF2-40B4-BE49-F238E27FC236}">
                <a16:creationId xmlns:a16="http://schemas.microsoft.com/office/drawing/2014/main" id="{270751F5-0B58-4D79-BF99-5FA33A969D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6252129"/>
              </p:ext>
            </p:extLst>
          </p:nvPr>
        </p:nvGraphicFramePr>
        <p:xfrm>
          <a:off x="825936" y="2323154"/>
          <a:ext cx="1666049" cy="41906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6049">
                  <a:extLst>
                    <a:ext uri="{9D8B030D-6E8A-4147-A177-3AD203B41FA5}">
                      <a16:colId xmlns:a16="http://schemas.microsoft.com/office/drawing/2014/main" val="3608686586"/>
                    </a:ext>
                  </a:extLst>
                </a:gridCol>
              </a:tblGrid>
              <a:tr h="59866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Application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569784"/>
                  </a:ext>
                </a:extLst>
              </a:tr>
              <a:tr h="59866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Presentation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8235643"/>
                  </a:ext>
                </a:extLst>
              </a:tr>
              <a:tr h="59866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Session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2473478"/>
                  </a:ext>
                </a:extLst>
              </a:tr>
              <a:tr h="59866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Transport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3993374"/>
                  </a:ext>
                </a:extLst>
              </a:tr>
              <a:tr h="59866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Network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6866261"/>
                  </a:ext>
                </a:extLst>
              </a:tr>
              <a:tr h="59866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Data Link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9326103"/>
                  </a:ext>
                </a:extLst>
              </a:tr>
              <a:tr h="59866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Physical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8995812"/>
                  </a:ext>
                </a:extLst>
              </a:tr>
            </a:tbl>
          </a:graphicData>
        </a:graphic>
      </p:graphicFrame>
      <p:sp>
        <p:nvSpPr>
          <p:cNvPr id="33" name="TextBox 32">
            <a:extLst>
              <a:ext uri="{FF2B5EF4-FFF2-40B4-BE49-F238E27FC236}">
                <a16:creationId xmlns:a16="http://schemas.microsoft.com/office/drawing/2014/main" id="{BEF59626-68C0-4B53-BAF4-D7B75D7A9B14}"/>
              </a:ext>
            </a:extLst>
          </p:cNvPr>
          <p:cNvSpPr txBox="1"/>
          <p:nvPr/>
        </p:nvSpPr>
        <p:spPr>
          <a:xfrm>
            <a:off x="2575540" y="4720792"/>
            <a:ext cx="7160920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solidFill>
                  <a:srgbClr val="FF0000"/>
                </a:solidFill>
                <a:latin typeface="SF싸락눈" panose="02000503000000000000" pitchFamily="2" charset="-127"/>
                <a:ea typeface="SF싸락눈" panose="02000503000000000000" pitchFamily="2" charset="-127"/>
              </a:rPr>
              <a:t>Data Link Layer ( &lt;- Raw Socket Access)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E0CDCA5-2FE0-4F1A-BE82-75DDA5BD604B}"/>
              </a:ext>
            </a:extLst>
          </p:cNvPr>
          <p:cNvSpPr txBox="1"/>
          <p:nvPr/>
        </p:nvSpPr>
        <p:spPr>
          <a:xfrm>
            <a:off x="2693999" y="3797169"/>
            <a:ext cx="9193199" cy="848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It contains the packet’s 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IP address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 and 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port number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.</a:t>
            </a: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b="1" dirty="0" err="1">
                <a:latin typeface="Pretendard Light" panose="02000403000000020004" pitchFamily="2" charset="-127"/>
                <a:ea typeface="Pretendard Light" panose="02000403000000020004" pitchFamily="2" charset="-127"/>
              </a:rPr>
              <a:t>Scapy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 are designed to read and manipulate this critical information.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CA849F6-B0D1-4488-B486-608FBB3E6588}"/>
              </a:ext>
            </a:extLst>
          </p:cNvPr>
          <p:cNvSpPr txBox="1"/>
          <p:nvPr/>
        </p:nvSpPr>
        <p:spPr>
          <a:xfrm>
            <a:off x="2575539" y="3301886"/>
            <a:ext cx="7937937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solidFill>
                  <a:srgbClr val="FF0000"/>
                </a:solidFill>
                <a:latin typeface="SF싸락눈" panose="02000503000000000000" pitchFamily="2" charset="-127"/>
                <a:ea typeface="SF싸락눈" panose="02000503000000000000" pitchFamily="2" charset="-127"/>
              </a:rPr>
              <a:t>Network &amp; Transport Layers ( &lt;- </a:t>
            </a:r>
            <a:r>
              <a:rPr lang="en-US" altLang="ko-KR" sz="2200" dirty="0" err="1">
                <a:solidFill>
                  <a:srgbClr val="FF0000"/>
                </a:solidFill>
                <a:latin typeface="SF싸락눈" panose="02000503000000000000" pitchFamily="2" charset="-127"/>
                <a:ea typeface="SF싸락눈" panose="02000503000000000000" pitchFamily="2" charset="-127"/>
              </a:rPr>
              <a:t>Scapy’s</a:t>
            </a:r>
            <a:r>
              <a:rPr lang="en-US" altLang="ko-KR" sz="2200" dirty="0">
                <a:solidFill>
                  <a:srgbClr val="FF0000"/>
                </a:solidFill>
                <a:latin typeface="SF싸락눈" panose="02000503000000000000" pitchFamily="2" charset="-127"/>
                <a:ea typeface="SF싸락눈" panose="02000503000000000000" pitchFamily="2" charset="-127"/>
              </a:rPr>
              <a:t> Primary Domain)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289346C-9A5A-4F97-B04A-2C3F4A6CD4BD}"/>
              </a:ext>
            </a:extLst>
          </p:cNvPr>
          <p:cNvSpPr txBox="1"/>
          <p:nvPr/>
        </p:nvSpPr>
        <p:spPr>
          <a:xfrm>
            <a:off x="2693999" y="2772411"/>
            <a:ext cx="9193199" cy="448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This is the 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actual data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 being sent. (content of a website or a message)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B034A20-3532-4806-96AF-C18CDF064728}"/>
              </a:ext>
            </a:extLst>
          </p:cNvPr>
          <p:cNvSpPr txBox="1"/>
          <p:nvPr/>
        </p:nvSpPr>
        <p:spPr>
          <a:xfrm>
            <a:off x="2575539" y="2277128"/>
            <a:ext cx="7937937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solidFill>
                  <a:srgbClr val="FF0000"/>
                </a:solidFill>
                <a:latin typeface="SF싸락눈" panose="02000503000000000000" pitchFamily="2" charset="-127"/>
                <a:ea typeface="SF싸락눈" panose="02000503000000000000" pitchFamily="2" charset="-127"/>
              </a:rPr>
              <a:t>Application Layer</a:t>
            </a:r>
          </a:p>
        </p:txBody>
      </p:sp>
    </p:spTree>
    <p:extLst>
      <p:ext uri="{BB962C8B-B14F-4D97-AF65-F5344CB8AC3E}">
        <p14:creationId xmlns:p14="http://schemas.microsoft.com/office/powerpoint/2010/main" val="10488016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5EDF3-F372-3458-10A8-696C601CD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F8550829-3395-13AE-28BE-BE3621C31F3F}"/>
              </a:ext>
            </a:extLst>
          </p:cNvPr>
          <p:cNvGrpSpPr/>
          <p:nvPr/>
        </p:nvGrpSpPr>
        <p:grpSpPr>
          <a:xfrm>
            <a:off x="164064" y="1119724"/>
            <a:ext cx="8005409" cy="523220"/>
            <a:chOff x="164064" y="1119724"/>
            <a:chExt cx="8005409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ACAE52F-E8E5-593A-1A1C-EFE6217484A3}"/>
                </a:ext>
              </a:extLst>
            </p:cNvPr>
            <p:cNvSpPr txBox="1"/>
            <p:nvPr/>
          </p:nvSpPr>
          <p:spPr>
            <a:xfrm>
              <a:off x="769499" y="1119724"/>
              <a:ext cx="739997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Our Project’s Capture Stack &amp; Configuration</a:t>
              </a:r>
              <a:endParaRPr lang="ko-KR" altLang="en-US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A82B2856-E01A-8BE3-8796-26B1B1A186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F67EBD3-6B5D-0B04-3152-653837BD277B}"/>
              </a:ext>
            </a:extLst>
          </p:cNvPr>
          <p:cNvSpPr txBox="1"/>
          <p:nvPr/>
        </p:nvSpPr>
        <p:spPr>
          <a:xfrm>
            <a:off x="668703" y="1715700"/>
            <a:ext cx="7160920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solidFill>
                  <a:srgbClr val="FF0000"/>
                </a:solidFill>
                <a:latin typeface="SF싸락눈" panose="02000503000000000000" pitchFamily="2" charset="-127"/>
                <a:ea typeface="SF싸락눈" panose="02000503000000000000" pitchFamily="2" charset="-127"/>
              </a:rPr>
              <a:t>Library Stack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5410E63-8777-151E-6324-F3BD977E9011}"/>
              </a:ext>
            </a:extLst>
          </p:cNvPr>
          <p:cNvSpPr txBox="1"/>
          <p:nvPr/>
        </p:nvSpPr>
        <p:spPr>
          <a:xfrm>
            <a:off x="819555" y="2207751"/>
            <a:ext cx="10514752" cy="1248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System Layer: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</a:rPr>
              <a:t>libpcap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 (Provides low-level access to the network interface)</a:t>
            </a: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Python Binding: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</a:rPr>
              <a:t>Scapy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 2.5.0 (Powerful packet manipulation library)</a:t>
            </a: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Application layer: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</a:rPr>
              <a:t>PacketCapture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 Class (Our custom implementation)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1669A50-6C26-44DA-B8C5-59364028D2DB}"/>
              </a:ext>
            </a:extLst>
          </p:cNvPr>
          <p:cNvSpPr txBox="1"/>
          <p:nvPr/>
        </p:nvSpPr>
        <p:spPr>
          <a:xfrm>
            <a:off x="668703" y="3234293"/>
            <a:ext cx="7160920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endParaRPr lang="en-US" altLang="ko-KR" sz="2200" dirty="0">
              <a:latin typeface="SF싸락눈" panose="02000503000000000000" pitchFamily="2" charset="-127"/>
              <a:ea typeface="SF싸락눈" panose="02000503000000000000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923E18-8534-4CC6-9A71-6DB8C43BD5FE}"/>
              </a:ext>
            </a:extLst>
          </p:cNvPr>
          <p:cNvSpPr txBox="1"/>
          <p:nvPr/>
        </p:nvSpPr>
        <p:spPr>
          <a:xfrm>
            <a:off x="668703" y="3519877"/>
            <a:ext cx="7160920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solidFill>
                  <a:srgbClr val="FF0000"/>
                </a:solidFill>
                <a:latin typeface="SF싸락눈" panose="02000503000000000000" pitchFamily="2" charset="-127"/>
                <a:ea typeface="SF싸락눈" panose="02000503000000000000" pitchFamily="2" charset="-127"/>
              </a:rPr>
              <a:t>Default Configuration</a:t>
            </a:r>
            <a:endParaRPr lang="en-US" altLang="ko-KR" sz="2200" b="1" dirty="0">
              <a:latin typeface="SF싸락눈" panose="02000503000000000000" pitchFamily="2" charset="-127"/>
              <a:ea typeface="SF싸락눈" panose="02000503000000000000" pitchFamily="2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BCB2DBC-F62F-418B-806E-CB13BD4A8007}"/>
              </a:ext>
            </a:extLst>
          </p:cNvPr>
          <p:cNvSpPr txBox="1"/>
          <p:nvPr/>
        </p:nvSpPr>
        <p:spPr>
          <a:xfrm>
            <a:off x="819555" y="4011928"/>
            <a:ext cx="10514752" cy="24488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Interface: enp2s0 (Example)</a:t>
            </a: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Capture Mode: standard (Normal Mode)</a:t>
            </a: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BPF Filter: “net 192.162.100.0/24 or not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</a:rPr>
              <a:t>arp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 and not icmp6” (Example)</a:t>
            </a:r>
          </a:p>
          <a:p>
            <a:pPr marL="638175" lvl="1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Captures traffic to or from the 192.168.100.x network, ignoring noisy ARP and ICMPv6 packets.</a:t>
            </a: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Buffer Size: 65,535 bytes (To capture max-sized packets)</a:t>
            </a:r>
          </a:p>
        </p:txBody>
      </p:sp>
    </p:spTree>
    <p:extLst>
      <p:ext uri="{BB962C8B-B14F-4D97-AF65-F5344CB8AC3E}">
        <p14:creationId xmlns:p14="http://schemas.microsoft.com/office/powerpoint/2010/main" val="41969373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482E98-5113-24D5-C0D0-14904ACEB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0">
            <a:extLst>
              <a:ext uri="{FF2B5EF4-FFF2-40B4-BE49-F238E27FC236}">
                <a16:creationId xmlns:a16="http://schemas.microsoft.com/office/drawing/2014/main" id="{3D33017E-8CE1-D6F5-987A-6D60DB1737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625" y="1789408"/>
            <a:ext cx="10642922" cy="4730211"/>
          </a:xfrm>
          <a:prstGeom prst="rect">
            <a:avLst/>
          </a:prstGeom>
          <a:solidFill>
            <a:schemeClr val="bg1"/>
          </a:solidFill>
          <a:ln w="19050">
            <a:solidFill>
              <a:srgbClr val="CC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DFE0CDEE-13BF-59B6-952B-01D7A6E1B8DA}"/>
              </a:ext>
            </a:extLst>
          </p:cNvPr>
          <p:cNvGrpSpPr/>
          <p:nvPr/>
        </p:nvGrpSpPr>
        <p:grpSpPr>
          <a:xfrm>
            <a:off x="164064" y="1119724"/>
            <a:ext cx="2330138" cy="523220"/>
            <a:chOff x="164064" y="1119724"/>
            <a:chExt cx="2330138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2F3DA96-0E6E-041F-2FDD-6BA9AF7E7D42}"/>
                </a:ext>
              </a:extLst>
            </p:cNvPr>
            <p:cNvSpPr txBox="1"/>
            <p:nvPr/>
          </p:nvSpPr>
          <p:spPr>
            <a:xfrm>
              <a:off x="769499" y="1119724"/>
              <a:ext cx="172470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Summary</a:t>
              </a:r>
              <a:endParaRPr lang="ko-KR" altLang="en-US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AF4DB096-46DF-135A-91EC-128FAA6C270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57962389-167B-4270-9A29-B3C45EA5F81B}"/>
              </a:ext>
            </a:extLst>
          </p:cNvPr>
          <p:cNvSpPr txBox="1"/>
          <p:nvPr/>
        </p:nvSpPr>
        <p:spPr>
          <a:xfrm>
            <a:off x="808185" y="1768469"/>
            <a:ext cx="8724890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Why Monitor Traffic?</a:t>
            </a:r>
            <a:endParaRPr lang="en-US" altLang="ko-KR" sz="2200" dirty="0">
              <a:solidFill>
                <a:srgbClr val="FF0000"/>
              </a:solidFill>
              <a:latin typeface="SF싸락눈" panose="02000503000000000000" pitchFamily="2" charset="-127"/>
              <a:ea typeface="SF싸락눈" panose="02000503000000000000" pitchFamily="2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4DCBFD8-37B9-4699-BE25-AAE25EBF7119}"/>
              </a:ext>
            </a:extLst>
          </p:cNvPr>
          <p:cNvSpPr txBox="1"/>
          <p:nvPr/>
        </p:nvSpPr>
        <p:spPr>
          <a:xfrm>
            <a:off x="959037" y="2262166"/>
            <a:ext cx="10344394" cy="848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/>
              <a:t>We monitor the flow of data packets on a network to enhance security, improve performance, and troubleshoot issues.</a:t>
            </a:r>
            <a:endParaRPr lang="en-US" altLang="ko-KR" sz="2000" dirty="0">
              <a:solidFill>
                <a:srgbClr val="C00000"/>
              </a:solidFill>
              <a:latin typeface="Pretendard Light" panose="02000403000000020004" pitchFamily="2" charset="-127"/>
              <a:ea typeface="Pretendard Light" panose="02000403000000020004" pitchFamily="2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9F0BAA9-6343-447B-8F7C-6AFDDD763347}"/>
              </a:ext>
            </a:extLst>
          </p:cNvPr>
          <p:cNvSpPr txBox="1"/>
          <p:nvPr/>
        </p:nvSpPr>
        <p:spPr>
          <a:xfrm>
            <a:off x="808185" y="3369914"/>
            <a:ext cx="8724890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Our Approach</a:t>
            </a:r>
            <a:endParaRPr lang="en-US" altLang="ko-KR" sz="2200" dirty="0">
              <a:solidFill>
                <a:srgbClr val="FF0000"/>
              </a:solidFill>
              <a:latin typeface="SF싸락눈" panose="02000503000000000000" pitchFamily="2" charset="-127"/>
              <a:ea typeface="SF싸락눈" panose="02000503000000000000" pitchFamily="2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128509-18BB-4589-8577-098D0B7AB8AF}"/>
              </a:ext>
            </a:extLst>
          </p:cNvPr>
          <p:cNvSpPr txBox="1"/>
          <p:nvPr/>
        </p:nvSpPr>
        <p:spPr>
          <a:xfrm>
            <a:off x="959037" y="3863611"/>
            <a:ext cx="10277234" cy="848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/>
              <a:t>Since commercial routers are closed systems, we use a Mini-PC as a transparent router to intercept and analyze all traffic</a:t>
            </a:r>
            <a:endParaRPr lang="en-US" altLang="ko-KR" sz="2000" dirty="0">
              <a:solidFill>
                <a:srgbClr val="C00000"/>
              </a:solidFill>
              <a:latin typeface="Pretendard Light" panose="02000403000000020004" pitchFamily="2" charset="-127"/>
              <a:ea typeface="Pretendard Light" panose="02000403000000020004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7B88E71-8FEB-4F6F-8686-B3CF508D5CC8}"/>
              </a:ext>
            </a:extLst>
          </p:cNvPr>
          <p:cNvSpPr txBox="1"/>
          <p:nvPr/>
        </p:nvSpPr>
        <p:spPr>
          <a:xfrm>
            <a:off x="808185" y="4957537"/>
            <a:ext cx="8724890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Method</a:t>
            </a:r>
            <a:endParaRPr lang="en-US" altLang="ko-KR" sz="2200" dirty="0">
              <a:solidFill>
                <a:srgbClr val="FF0000"/>
              </a:solidFill>
              <a:latin typeface="SF싸락눈" panose="02000503000000000000" pitchFamily="2" charset="-127"/>
              <a:ea typeface="SF싸락눈" panose="02000503000000000000" pitchFamily="2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FCCF3FF-0F6E-4E3E-8639-6798DA04B35E}"/>
              </a:ext>
            </a:extLst>
          </p:cNvPr>
          <p:cNvSpPr txBox="1"/>
          <p:nvPr/>
        </p:nvSpPr>
        <p:spPr>
          <a:xfrm>
            <a:off x="959036" y="5451234"/>
            <a:ext cx="10210075" cy="848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/>
              <a:t>This setup allows us to duplicate (Mirroring) and capture (Sniffing) packets for detailed analysis.</a:t>
            </a:r>
            <a:endParaRPr lang="en-US" altLang="ko-KR" sz="2000" dirty="0">
              <a:solidFill>
                <a:srgbClr val="C00000"/>
              </a:solidFill>
              <a:latin typeface="Pretendard Light" panose="02000403000000020004" pitchFamily="2" charset="-127"/>
              <a:ea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122371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6272EFE-19CA-7357-CA3D-A47E6988B1F1}"/>
              </a:ext>
            </a:extLst>
          </p:cNvPr>
          <p:cNvSpPr txBox="1"/>
          <p:nvPr/>
        </p:nvSpPr>
        <p:spPr>
          <a:xfrm>
            <a:off x="4952249" y="3146944"/>
            <a:ext cx="270080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3200" b="1" dirty="0">
                <a:latin typeface="Pretendard Medium" panose="02000603000000020004" pitchFamily="2" charset="-127"/>
                <a:ea typeface="Pretendard Medium" panose="02000603000000020004" pitchFamily="2" charset="-127"/>
              </a:rPr>
              <a:t>Preliminaries</a:t>
            </a:r>
          </a:p>
          <a:p>
            <a:pPr algn="ctr"/>
            <a:endParaRPr lang="en-US" altLang="ko-KR" sz="3200" dirty="0">
              <a:latin typeface="Pretendard Medium" panose="02000603000000020004" pitchFamily="2" charset="-127"/>
              <a:ea typeface="Pretendard Medium" panose="02000603000000020004" pitchFamily="2" charset="-127"/>
            </a:endParaRPr>
          </a:p>
          <a:p>
            <a:pPr algn="ctr"/>
            <a:r>
              <a:rPr lang="en-US" altLang="ko-KR" sz="3200" dirty="0">
                <a:latin typeface="Pretendard Medium" panose="02000603000000020004" pitchFamily="2" charset="-127"/>
                <a:ea typeface="Pretendard Medium" panose="02000603000000020004" pitchFamily="2" charset="-127"/>
              </a:rPr>
              <a:t>2. </a:t>
            </a:r>
            <a:r>
              <a:rPr lang="en-US" altLang="ko-KR" sz="3200" dirty="0" err="1">
                <a:latin typeface="Pretendard Medium" panose="02000603000000020004" pitchFamily="2" charset="-127"/>
                <a:ea typeface="Pretendard Medium" panose="02000603000000020004" pitchFamily="2" charset="-127"/>
              </a:rPr>
              <a:t>Scapy</a:t>
            </a:r>
            <a:endParaRPr lang="ko-KR" altLang="en-US" sz="3200" dirty="0">
              <a:latin typeface="Pretendard Medium" panose="02000603000000020004" pitchFamily="2" charset="-127"/>
              <a:ea typeface="Pretendard Medium" panose="020006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578647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5EDF3-F372-3458-10A8-696C601CD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F8550829-3395-13AE-28BE-BE3621C31F3F}"/>
              </a:ext>
            </a:extLst>
          </p:cNvPr>
          <p:cNvGrpSpPr/>
          <p:nvPr/>
        </p:nvGrpSpPr>
        <p:grpSpPr>
          <a:xfrm>
            <a:off x="164064" y="1119724"/>
            <a:ext cx="5265044" cy="523220"/>
            <a:chOff x="164064" y="1119724"/>
            <a:chExt cx="5265044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ACAE52F-E8E5-593A-1A1C-EFE6217484A3}"/>
                </a:ext>
              </a:extLst>
            </p:cNvPr>
            <p:cNvSpPr txBox="1"/>
            <p:nvPr/>
          </p:nvSpPr>
          <p:spPr>
            <a:xfrm>
              <a:off x="769499" y="1119724"/>
              <a:ext cx="465960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Why </a:t>
              </a:r>
              <a:r>
                <a:rPr lang="en-US" altLang="ko-KR" sz="2800" b="1" dirty="0" err="1">
                  <a:latin typeface="말싸미815" panose="02020600000000000000" pitchFamily="18" charset="-127"/>
                  <a:ea typeface="말싸미815" panose="02020600000000000000" pitchFamily="18" charset="-127"/>
                </a:rPr>
                <a:t>Scapy</a:t>
              </a:r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 for the Project?</a:t>
              </a:r>
              <a:endParaRPr lang="ko-KR" altLang="en-US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A82B2856-E01A-8BE3-8796-26B1B1A186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F67EBD3-6B5D-0B04-3152-653837BD277B}"/>
              </a:ext>
            </a:extLst>
          </p:cNvPr>
          <p:cNvSpPr txBox="1"/>
          <p:nvPr/>
        </p:nvSpPr>
        <p:spPr>
          <a:xfrm>
            <a:off x="668703" y="1715700"/>
            <a:ext cx="7160920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What is </a:t>
            </a:r>
            <a:r>
              <a:rPr lang="en-US" altLang="ko-KR" sz="2200" dirty="0" err="1">
                <a:latin typeface="SF싸락눈" panose="02000503000000000000" pitchFamily="2" charset="-127"/>
                <a:ea typeface="SF싸락눈" panose="02000503000000000000" pitchFamily="2" charset="-127"/>
              </a:rPr>
              <a:t>Scapy</a:t>
            </a: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5410E63-8777-151E-6324-F3BD977E9011}"/>
              </a:ext>
            </a:extLst>
          </p:cNvPr>
          <p:cNvSpPr txBox="1"/>
          <p:nvPr/>
        </p:nvSpPr>
        <p:spPr>
          <a:xfrm>
            <a:off x="819554" y="2207751"/>
            <a:ext cx="10753985" cy="848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b="1" i="1" dirty="0" err="1">
                <a:latin typeface="Pretendard Light" panose="02000403000000020004" pitchFamily="2" charset="-127"/>
                <a:ea typeface="Pretendard Light" panose="02000403000000020004" pitchFamily="2" charset="-127"/>
              </a:rPr>
              <a:t>Scapy</a:t>
            </a:r>
            <a:r>
              <a:rPr lang="en-US" altLang="ko-KR" sz="2000" i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is a powerful Python library for packet manipulation. It can forge, send, sniff, and dissect packets.</a:t>
            </a:r>
            <a:endParaRPr lang="en-US" altLang="ko-KR" sz="2000" i="1" dirty="0">
              <a:latin typeface="Pretendard Light" panose="02000403000000020004" pitchFamily="2" charset="-127"/>
              <a:ea typeface="Pretendard Light" panose="02000403000000020004" pitchFamily="2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1669A50-6C26-44DA-B8C5-59364028D2DB}"/>
              </a:ext>
            </a:extLst>
          </p:cNvPr>
          <p:cNvSpPr txBox="1"/>
          <p:nvPr/>
        </p:nvSpPr>
        <p:spPr>
          <a:xfrm>
            <a:off x="668703" y="3107198"/>
            <a:ext cx="7160920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Why Not Other Tools (like Wireshark or </a:t>
            </a:r>
            <a:r>
              <a:rPr lang="en-US" altLang="ko-KR" sz="2200" dirty="0" err="1">
                <a:latin typeface="SF싸락눈" panose="02000503000000000000" pitchFamily="2" charset="-127"/>
                <a:ea typeface="SF싸락눈" panose="02000503000000000000" pitchFamily="2" charset="-127"/>
              </a:rPr>
              <a:t>tcpdump</a:t>
            </a: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)?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D4FE009-73CD-470E-9414-A1F498E01B29}"/>
              </a:ext>
            </a:extLst>
          </p:cNvPr>
          <p:cNvSpPr txBox="1"/>
          <p:nvPr/>
        </p:nvSpPr>
        <p:spPr>
          <a:xfrm>
            <a:off x="819555" y="3599249"/>
            <a:ext cx="10206408" cy="2048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buClr>
                <a:srgbClr val="0076A3"/>
              </a:buClr>
            </a:pP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1. Seamless Python Integration</a:t>
            </a:r>
          </a:p>
          <a:p>
            <a:pPr marL="457200" indent="-457200">
              <a:lnSpc>
                <a:spcPct val="130000"/>
              </a:lnSpc>
              <a:buClr>
                <a:srgbClr val="0076A3"/>
              </a:buClr>
              <a:buAutoNum type="arabicPeriod"/>
            </a:pPr>
            <a:endParaRPr lang="en-US" altLang="ko-KR" sz="2000" b="1" dirty="0">
              <a:latin typeface="Pretendard Light" panose="02000403000000020004" pitchFamily="2" charset="-127"/>
              <a:ea typeface="Pretendard Light" panose="02000403000000020004" pitchFamily="2" charset="-127"/>
            </a:endParaRPr>
          </a:p>
          <a:p>
            <a:pPr>
              <a:lnSpc>
                <a:spcPct val="130000"/>
              </a:lnSpc>
              <a:buClr>
                <a:srgbClr val="0076A3"/>
              </a:buClr>
            </a:pP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2. Real-time, Programmatic Control</a:t>
            </a:r>
          </a:p>
          <a:p>
            <a:pPr>
              <a:lnSpc>
                <a:spcPct val="130000"/>
              </a:lnSpc>
              <a:buClr>
                <a:srgbClr val="0076A3"/>
              </a:buClr>
            </a:pPr>
            <a:endParaRPr lang="en-US" altLang="ko-KR" sz="2000" b="1" dirty="0">
              <a:latin typeface="Pretendard Light" panose="02000403000000020004" pitchFamily="2" charset="-127"/>
              <a:ea typeface="Pretendard Light" panose="02000403000000020004" pitchFamily="2" charset="-127"/>
            </a:endParaRPr>
          </a:p>
          <a:p>
            <a:pPr>
              <a:lnSpc>
                <a:spcPct val="130000"/>
              </a:lnSpc>
              <a:buClr>
                <a:srgbClr val="0076A3"/>
              </a:buClr>
            </a:pP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3. High-Level Syntax for Low-Level Data</a:t>
            </a:r>
          </a:p>
        </p:txBody>
      </p:sp>
      <p:pic>
        <p:nvPicPr>
          <p:cNvPr id="1026" name="Picture 2" descr="Scapy - Wikipedia">
            <a:extLst>
              <a:ext uri="{FF2B5EF4-FFF2-40B4-BE49-F238E27FC236}">
                <a16:creationId xmlns:a16="http://schemas.microsoft.com/office/drawing/2014/main" id="{7484AC7D-AB26-406A-8E24-878E3FCCE9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8986" y="971521"/>
            <a:ext cx="1114028" cy="1217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16114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5EDF3-F372-3458-10A8-696C601CD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F8550829-3395-13AE-28BE-BE3621C31F3F}"/>
              </a:ext>
            </a:extLst>
          </p:cNvPr>
          <p:cNvGrpSpPr/>
          <p:nvPr/>
        </p:nvGrpSpPr>
        <p:grpSpPr>
          <a:xfrm>
            <a:off x="164064" y="1119724"/>
            <a:ext cx="7195765" cy="523220"/>
            <a:chOff x="164064" y="1119724"/>
            <a:chExt cx="7195765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ACAE52F-E8E5-593A-1A1C-EFE6217484A3}"/>
                </a:ext>
              </a:extLst>
            </p:cNvPr>
            <p:cNvSpPr txBox="1"/>
            <p:nvPr/>
          </p:nvSpPr>
          <p:spPr>
            <a:xfrm>
              <a:off x="769499" y="1119724"/>
              <a:ext cx="659033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The Code: How We Capture with </a:t>
              </a:r>
              <a:r>
                <a:rPr lang="en-US" altLang="ko-KR" sz="2800" dirty="0"/>
                <a:t>sniff()</a:t>
              </a:r>
              <a:endParaRPr lang="ko-KR" altLang="en-US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A82B2856-E01A-8BE3-8796-26B1B1A186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F67EBD3-6B5D-0B04-3152-653837BD277B}"/>
              </a:ext>
            </a:extLst>
          </p:cNvPr>
          <p:cNvSpPr txBox="1"/>
          <p:nvPr/>
        </p:nvSpPr>
        <p:spPr>
          <a:xfrm>
            <a:off x="668703" y="1715700"/>
            <a:ext cx="7160920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The </a:t>
            </a:r>
            <a:r>
              <a:rPr lang="en-US" altLang="ko-KR" sz="2200" b="1" dirty="0">
                <a:latin typeface="SF싸락눈" panose="02000503000000000000" pitchFamily="2" charset="-127"/>
                <a:ea typeface="SF싸락눈" panose="02000503000000000000" pitchFamily="2" charset="-127"/>
              </a:rPr>
              <a:t>sniff() </a:t>
            </a: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Function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5410E63-8777-151E-6324-F3BD977E9011}"/>
              </a:ext>
            </a:extLst>
          </p:cNvPr>
          <p:cNvSpPr txBox="1"/>
          <p:nvPr/>
        </p:nvSpPr>
        <p:spPr>
          <a:xfrm>
            <a:off x="819554" y="2207751"/>
            <a:ext cx="10753985" cy="848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Packet capture is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</a:rPr>
              <a:t>intiated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 with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</a:rPr>
              <a:t>Scapy’s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 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sniff()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function. We’ve wrapped this in our own </a:t>
            </a:r>
            <a:r>
              <a:rPr lang="en-US" altLang="ko-KR" sz="2000" b="1" dirty="0" err="1">
                <a:latin typeface="Pretendard Light" panose="02000403000000020004" pitchFamily="2" charset="-127"/>
                <a:ea typeface="Pretendard Light" panose="02000403000000020004" pitchFamily="2" charset="-127"/>
              </a:rPr>
              <a:t>PacketCapture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 class for control.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1669A50-6C26-44DA-B8C5-59364028D2DB}"/>
              </a:ext>
            </a:extLst>
          </p:cNvPr>
          <p:cNvSpPr txBox="1"/>
          <p:nvPr/>
        </p:nvSpPr>
        <p:spPr>
          <a:xfrm>
            <a:off x="668703" y="3107198"/>
            <a:ext cx="7160920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Here is a sample code that starts the capture: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4C6AC3A8-83C6-40D5-B4CA-106A59C4B2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7405" y="3754518"/>
            <a:ext cx="5814829" cy="2630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75013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5EDF3-F372-3458-10A8-696C601CD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F8550829-3395-13AE-28BE-BE3621C31F3F}"/>
              </a:ext>
            </a:extLst>
          </p:cNvPr>
          <p:cNvGrpSpPr/>
          <p:nvPr/>
        </p:nvGrpSpPr>
        <p:grpSpPr>
          <a:xfrm>
            <a:off x="164064" y="1119724"/>
            <a:ext cx="6619389" cy="523220"/>
            <a:chOff x="164064" y="1119724"/>
            <a:chExt cx="6619389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ACAE52F-E8E5-593A-1A1C-EFE6217484A3}"/>
                </a:ext>
              </a:extLst>
            </p:cNvPr>
            <p:cNvSpPr txBox="1"/>
            <p:nvPr/>
          </p:nvSpPr>
          <p:spPr>
            <a:xfrm>
              <a:off x="769499" y="1119724"/>
              <a:ext cx="601395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The Code: How We Process Packets</a:t>
              </a:r>
              <a:endParaRPr lang="ko-KR" altLang="en-US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A82B2856-E01A-8BE3-8796-26B1B1A186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F67EBD3-6B5D-0B04-3152-653837BD277B}"/>
              </a:ext>
            </a:extLst>
          </p:cNvPr>
          <p:cNvSpPr txBox="1"/>
          <p:nvPr/>
        </p:nvSpPr>
        <p:spPr>
          <a:xfrm>
            <a:off x="668703" y="1715700"/>
            <a:ext cx="7160920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The </a:t>
            </a:r>
            <a:r>
              <a:rPr lang="en-US" altLang="ko-KR" sz="2200" b="1" dirty="0" err="1">
                <a:latin typeface="SF싸락눈" panose="02000503000000000000" pitchFamily="2" charset="-127"/>
                <a:ea typeface="SF싸락눈" panose="02000503000000000000" pitchFamily="2" charset="-127"/>
              </a:rPr>
              <a:t>process_packet</a:t>
            </a:r>
            <a:r>
              <a:rPr lang="en-US" altLang="ko-KR" sz="2200" b="1" dirty="0">
                <a:latin typeface="SF싸락눈" panose="02000503000000000000" pitchFamily="2" charset="-127"/>
                <a:ea typeface="SF싸락눈" panose="02000503000000000000" pitchFamily="2" charset="-127"/>
              </a:rPr>
              <a:t> </a:t>
            </a: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Callback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5410E63-8777-151E-6324-F3BD977E9011}"/>
              </a:ext>
            </a:extLst>
          </p:cNvPr>
          <p:cNvSpPr txBox="1"/>
          <p:nvPr/>
        </p:nvSpPr>
        <p:spPr>
          <a:xfrm>
            <a:off x="819554" y="2207751"/>
            <a:ext cx="10753985" cy="448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This is the function that </a:t>
            </a:r>
            <a:r>
              <a:rPr lang="en-US" altLang="ko-KR" sz="2000" b="1" dirty="0" err="1">
                <a:latin typeface="Pretendard Light" panose="02000403000000020004" pitchFamily="2" charset="-127"/>
                <a:ea typeface="Pretendard Light" panose="02000403000000020004" pitchFamily="2" charset="-127"/>
              </a:rPr>
              <a:t>Scapy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 calls for every packet. It’s where our main logic lives.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6DD2907-756F-4A2B-B9D8-FCAE7174DE54}"/>
              </a:ext>
            </a:extLst>
          </p:cNvPr>
          <p:cNvSpPr txBox="1"/>
          <p:nvPr/>
        </p:nvSpPr>
        <p:spPr>
          <a:xfrm>
            <a:off x="668703" y="2791887"/>
            <a:ext cx="7160920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It follows these 4 steps: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4E01284-DCC5-43A2-9D7B-01A98410D15B}"/>
              </a:ext>
            </a:extLst>
          </p:cNvPr>
          <p:cNvSpPr txBox="1"/>
          <p:nvPr/>
        </p:nvSpPr>
        <p:spPr>
          <a:xfrm>
            <a:off x="819555" y="3394292"/>
            <a:ext cx="10206408" cy="2848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buClr>
                <a:srgbClr val="0076A3"/>
              </a:buClr>
            </a:pP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1. Filter (Check for IP)</a:t>
            </a:r>
          </a:p>
          <a:p>
            <a:pPr marL="457200" indent="-457200">
              <a:lnSpc>
                <a:spcPct val="130000"/>
              </a:lnSpc>
              <a:buClr>
                <a:srgbClr val="0076A3"/>
              </a:buClr>
              <a:buAutoNum type="arabicPeriod"/>
            </a:pPr>
            <a:endParaRPr lang="en-US" altLang="ko-KR" sz="2000" b="1" dirty="0">
              <a:latin typeface="Pretendard Light" panose="02000403000000020004" pitchFamily="2" charset="-127"/>
              <a:ea typeface="Pretendard Light" panose="02000403000000020004" pitchFamily="2" charset="-127"/>
            </a:endParaRPr>
          </a:p>
          <a:p>
            <a:pPr>
              <a:lnSpc>
                <a:spcPct val="130000"/>
              </a:lnSpc>
              <a:buClr>
                <a:srgbClr val="0076A3"/>
              </a:buClr>
            </a:pP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2. Parse (Extract Data with </a:t>
            </a:r>
            <a:r>
              <a:rPr lang="en-US" altLang="ko-KR" sz="2000" b="1" dirty="0" err="1">
                <a:latin typeface="Pretendard Light" panose="02000403000000020004" pitchFamily="2" charset="-127"/>
                <a:ea typeface="Pretendard Light" panose="02000403000000020004" pitchFamily="2" charset="-127"/>
              </a:rPr>
              <a:t>Scapy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)</a:t>
            </a:r>
          </a:p>
          <a:p>
            <a:pPr>
              <a:lnSpc>
                <a:spcPct val="130000"/>
              </a:lnSpc>
              <a:buClr>
                <a:srgbClr val="0076A3"/>
              </a:buClr>
            </a:pPr>
            <a:endParaRPr lang="en-US" altLang="ko-KR" sz="2000" b="1" dirty="0">
              <a:latin typeface="Pretendard Light" panose="02000403000000020004" pitchFamily="2" charset="-127"/>
              <a:ea typeface="Pretendard Light" panose="02000403000000020004" pitchFamily="2" charset="-127"/>
            </a:endParaRPr>
          </a:p>
          <a:p>
            <a:pPr>
              <a:lnSpc>
                <a:spcPct val="130000"/>
              </a:lnSpc>
              <a:buClr>
                <a:srgbClr val="0076A3"/>
              </a:buClr>
            </a:pP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3. Format (Prepare for DB)</a:t>
            </a:r>
          </a:p>
          <a:p>
            <a:pPr>
              <a:lnSpc>
                <a:spcPct val="130000"/>
              </a:lnSpc>
              <a:buClr>
                <a:srgbClr val="0076A3"/>
              </a:buClr>
            </a:pPr>
            <a:endParaRPr lang="en-US" altLang="ko-KR" sz="2000" b="1" dirty="0">
              <a:latin typeface="Pretendard Light" panose="02000403000000020004" pitchFamily="2" charset="-127"/>
              <a:ea typeface="Pretendard Light" panose="02000403000000020004" pitchFamily="2" charset="-127"/>
            </a:endParaRPr>
          </a:p>
          <a:p>
            <a:pPr>
              <a:lnSpc>
                <a:spcPct val="130000"/>
              </a:lnSpc>
              <a:buClr>
                <a:srgbClr val="0076A3"/>
              </a:buClr>
            </a:pP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4. Save (Send to MongoDB)</a:t>
            </a:r>
          </a:p>
        </p:txBody>
      </p:sp>
    </p:spTree>
    <p:extLst>
      <p:ext uri="{BB962C8B-B14F-4D97-AF65-F5344CB8AC3E}">
        <p14:creationId xmlns:p14="http://schemas.microsoft.com/office/powerpoint/2010/main" val="12796303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5EDF3-F372-3458-10A8-696C601CD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F8550829-3395-13AE-28BE-BE3621C31F3F}"/>
              </a:ext>
            </a:extLst>
          </p:cNvPr>
          <p:cNvGrpSpPr/>
          <p:nvPr/>
        </p:nvGrpSpPr>
        <p:grpSpPr>
          <a:xfrm>
            <a:off x="164064" y="1119724"/>
            <a:ext cx="6619389" cy="523220"/>
            <a:chOff x="164064" y="1119724"/>
            <a:chExt cx="6619389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ACAE52F-E8E5-593A-1A1C-EFE6217484A3}"/>
                </a:ext>
              </a:extLst>
            </p:cNvPr>
            <p:cNvSpPr txBox="1"/>
            <p:nvPr/>
          </p:nvSpPr>
          <p:spPr>
            <a:xfrm>
              <a:off x="769499" y="1119724"/>
              <a:ext cx="601395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The Code: How We Process Packets</a:t>
              </a:r>
              <a:endParaRPr lang="ko-KR" altLang="en-US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A82B2856-E01A-8BE3-8796-26B1B1A186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F67EBD3-6B5D-0B04-3152-653837BD277B}"/>
              </a:ext>
            </a:extLst>
          </p:cNvPr>
          <p:cNvSpPr txBox="1"/>
          <p:nvPr/>
        </p:nvSpPr>
        <p:spPr>
          <a:xfrm>
            <a:off x="668703" y="1715700"/>
            <a:ext cx="7160920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b="1" dirty="0">
                <a:latin typeface="SF싸락눈" panose="02000503000000000000" pitchFamily="2" charset="-127"/>
                <a:ea typeface="SF싸락눈" panose="02000503000000000000" pitchFamily="2" charset="-127"/>
              </a:rPr>
              <a:t>1st Step: Filter (Check for IP)</a:t>
            </a: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 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55023EA-1879-4B4D-9B3F-1E3FB459F6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9901" y="2431915"/>
            <a:ext cx="7690547" cy="197059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F5EBA4C-838D-4C7D-AF7E-DAB5E810F83D}"/>
              </a:ext>
            </a:extLst>
          </p:cNvPr>
          <p:cNvSpPr txBox="1"/>
          <p:nvPr/>
        </p:nvSpPr>
        <p:spPr>
          <a:xfrm>
            <a:off x="668702" y="4628576"/>
            <a:ext cx="9657711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b="1" dirty="0">
                <a:latin typeface="SF싸락눈" panose="02000503000000000000" pitchFamily="2" charset="-127"/>
                <a:ea typeface="SF싸락눈" panose="02000503000000000000" pitchFamily="2" charset="-127"/>
              </a:rPr>
              <a:t>This filtering reduces unnecessary processing.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C21A6A-7039-46E0-B08D-045487A3E470}"/>
              </a:ext>
            </a:extLst>
          </p:cNvPr>
          <p:cNvSpPr txBox="1"/>
          <p:nvPr/>
        </p:nvSpPr>
        <p:spPr>
          <a:xfrm>
            <a:off x="819555" y="5120627"/>
            <a:ext cx="10206408" cy="448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buClr>
                <a:srgbClr val="0076A3"/>
              </a:buClr>
              <a:buFontTx/>
              <a:buChar char="-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The database only stores relevant network information.</a:t>
            </a:r>
          </a:p>
        </p:txBody>
      </p:sp>
    </p:spTree>
    <p:extLst>
      <p:ext uri="{BB962C8B-B14F-4D97-AF65-F5344CB8AC3E}">
        <p14:creationId xmlns:p14="http://schemas.microsoft.com/office/powerpoint/2010/main" val="8779765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5EDF3-F372-3458-10A8-696C601CD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F8550829-3395-13AE-28BE-BE3621C31F3F}"/>
              </a:ext>
            </a:extLst>
          </p:cNvPr>
          <p:cNvGrpSpPr/>
          <p:nvPr/>
        </p:nvGrpSpPr>
        <p:grpSpPr>
          <a:xfrm>
            <a:off x="164064" y="1119724"/>
            <a:ext cx="6619389" cy="523220"/>
            <a:chOff x="164064" y="1119724"/>
            <a:chExt cx="6619389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ACAE52F-E8E5-593A-1A1C-EFE6217484A3}"/>
                </a:ext>
              </a:extLst>
            </p:cNvPr>
            <p:cNvSpPr txBox="1"/>
            <p:nvPr/>
          </p:nvSpPr>
          <p:spPr>
            <a:xfrm>
              <a:off x="769499" y="1119724"/>
              <a:ext cx="601395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The Code: How We Process Packets</a:t>
              </a:r>
              <a:endParaRPr lang="ko-KR" altLang="en-US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A82B2856-E01A-8BE3-8796-26B1B1A186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pic>
        <p:nvPicPr>
          <p:cNvPr id="10" name="그림 9">
            <a:extLst>
              <a:ext uri="{FF2B5EF4-FFF2-40B4-BE49-F238E27FC236}">
                <a16:creationId xmlns:a16="http://schemas.microsoft.com/office/drawing/2014/main" id="{45E99161-246E-4BF3-90AB-736E86BAD3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901" y="2431915"/>
            <a:ext cx="7763958" cy="337232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7DD922D-7A40-486B-B345-B32AAA9B83C9}"/>
              </a:ext>
            </a:extLst>
          </p:cNvPr>
          <p:cNvSpPr txBox="1"/>
          <p:nvPr/>
        </p:nvSpPr>
        <p:spPr>
          <a:xfrm>
            <a:off x="668703" y="1715700"/>
            <a:ext cx="7160920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5"/>
              </a:buBlip>
              <a:tabLst>
                <a:tab pos="269875" algn="l"/>
              </a:tabLst>
            </a:pPr>
            <a:r>
              <a:rPr lang="en-US" altLang="ko-KR" sz="2200" b="1" dirty="0">
                <a:latin typeface="SF싸락눈" panose="02000503000000000000" pitchFamily="2" charset="-127"/>
                <a:ea typeface="SF싸락눈" panose="02000503000000000000" pitchFamily="2" charset="-127"/>
              </a:rPr>
              <a:t>2nd Step: Parse (Extract Data with </a:t>
            </a:r>
            <a:r>
              <a:rPr lang="en-US" altLang="ko-KR" sz="2200" b="1" dirty="0" err="1">
                <a:latin typeface="SF싸락눈" panose="02000503000000000000" pitchFamily="2" charset="-127"/>
                <a:ea typeface="SF싸락눈" panose="02000503000000000000" pitchFamily="2" charset="-127"/>
              </a:rPr>
              <a:t>Scapy</a:t>
            </a:r>
            <a:r>
              <a:rPr lang="en-US" altLang="ko-KR" sz="2200" b="1" dirty="0">
                <a:latin typeface="SF싸락눈" panose="02000503000000000000" pitchFamily="2" charset="-127"/>
                <a:ea typeface="SF싸락눈" panose="02000503000000000000" pitchFamily="2" charset="-127"/>
              </a:rPr>
              <a:t>)</a:t>
            </a:r>
            <a:endParaRPr lang="en-US" altLang="ko-KR" sz="2200" dirty="0">
              <a:latin typeface="SF싸락눈" panose="02000503000000000000" pitchFamily="2" charset="-127"/>
              <a:ea typeface="SF싸락눈" panose="02000503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580261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5EDF3-F372-3458-10A8-696C601CD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F8550829-3395-13AE-28BE-BE3621C31F3F}"/>
              </a:ext>
            </a:extLst>
          </p:cNvPr>
          <p:cNvGrpSpPr/>
          <p:nvPr/>
        </p:nvGrpSpPr>
        <p:grpSpPr>
          <a:xfrm>
            <a:off x="164064" y="1119724"/>
            <a:ext cx="6619389" cy="523220"/>
            <a:chOff x="164064" y="1119724"/>
            <a:chExt cx="6619389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ACAE52F-E8E5-593A-1A1C-EFE6217484A3}"/>
                </a:ext>
              </a:extLst>
            </p:cNvPr>
            <p:cNvSpPr txBox="1"/>
            <p:nvPr/>
          </p:nvSpPr>
          <p:spPr>
            <a:xfrm>
              <a:off x="769499" y="1119724"/>
              <a:ext cx="601395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The Code: How We Process Packets</a:t>
              </a:r>
              <a:endParaRPr lang="ko-KR" altLang="en-US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A82B2856-E01A-8BE3-8796-26B1B1A186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67DD922D-7A40-486B-B345-B32AAA9B83C9}"/>
              </a:ext>
            </a:extLst>
          </p:cNvPr>
          <p:cNvSpPr txBox="1"/>
          <p:nvPr/>
        </p:nvSpPr>
        <p:spPr>
          <a:xfrm>
            <a:off x="668703" y="1715700"/>
            <a:ext cx="7160920" cy="5749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b="1">
                <a:latin typeface="SF싸락눈" panose="02000503000000000000" pitchFamily="2" charset="-127"/>
                <a:ea typeface="SF싸락눈" panose="02000503000000000000" pitchFamily="2" charset="-127"/>
              </a:rPr>
              <a:t>3rd Step: </a:t>
            </a:r>
            <a:r>
              <a:rPr lang="en-US" altLang="ko-KR" sz="2400" b="1">
                <a:latin typeface="Pretendard Light" panose="02000403000000020004" pitchFamily="2" charset="-127"/>
                <a:ea typeface="Pretendard Light" panose="02000403000000020004" pitchFamily="2" charset="-127"/>
              </a:rPr>
              <a:t>Format (Prepare for DB)</a:t>
            </a:r>
            <a:endParaRPr lang="en-US" altLang="ko-KR" sz="2200" dirty="0">
              <a:latin typeface="SF싸락눈" panose="02000503000000000000" pitchFamily="2" charset="-127"/>
              <a:ea typeface="SF싸락눈" panose="02000503000000000000" pitchFamily="2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2720970-D1D2-4477-AEFA-E1B9D41718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9901" y="2431915"/>
            <a:ext cx="7935432" cy="274358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F5884E0-2ACA-4912-96B0-038E4A1F0915}"/>
              </a:ext>
            </a:extLst>
          </p:cNvPr>
          <p:cNvSpPr txBox="1"/>
          <p:nvPr/>
        </p:nvSpPr>
        <p:spPr>
          <a:xfrm>
            <a:off x="668703" y="5261310"/>
            <a:ext cx="7160920" cy="5749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b="1" dirty="0">
                <a:latin typeface="SF싸락눈" panose="02000503000000000000" pitchFamily="2" charset="-127"/>
                <a:ea typeface="SF싸락눈" panose="02000503000000000000" pitchFamily="2" charset="-127"/>
              </a:rPr>
              <a:t>4th Step: </a:t>
            </a:r>
            <a:r>
              <a:rPr lang="en-US" altLang="ko-KR" sz="24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Save (Send to MongoDB)</a:t>
            </a:r>
            <a:endParaRPr lang="en-US" altLang="ko-KR" sz="2200" dirty="0">
              <a:latin typeface="SF싸락눈" panose="02000503000000000000" pitchFamily="2" charset="-127"/>
              <a:ea typeface="SF싸락눈" panose="02000503000000000000" pitchFamily="2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80BEF7C9-7BFC-4FE3-8EAC-2A78A72166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9901" y="5922088"/>
            <a:ext cx="7840169" cy="771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7628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6272EFE-19CA-7357-CA3D-A47E6988B1F1}"/>
              </a:ext>
            </a:extLst>
          </p:cNvPr>
          <p:cNvSpPr txBox="1"/>
          <p:nvPr/>
        </p:nvSpPr>
        <p:spPr>
          <a:xfrm>
            <a:off x="4952249" y="3146944"/>
            <a:ext cx="270080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3200" b="1" dirty="0">
                <a:latin typeface="Pretendard Medium" panose="02000603000000020004" pitchFamily="2" charset="-127"/>
                <a:ea typeface="Pretendard Medium" panose="02000603000000020004" pitchFamily="2" charset="-127"/>
              </a:rPr>
              <a:t>Preliminaries</a:t>
            </a:r>
          </a:p>
          <a:p>
            <a:pPr algn="ctr"/>
            <a:endParaRPr lang="en-US" altLang="ko-KR" sz="3200" dirty="0">
              <a:latin typeface="Pretendard Medium" panose="02000603000000020004" pitchFamily="2" charset="-127"/>
              <a:ea typeface="Pretendard Medium" panose="02000603000000020004" pitchFamily="2" charset="-127"/>
            </a:endParaRPr>
          </a:p>
          <a:p>
            <a:pPr algn="ctr"/>
            <a:r>
              <a:rPr lang="en-US" altLang="ko-KR" sz="3200" dirty="0">
                <a:latin typeface="Pretendard Medium" panose="02000603000000020004" pitchFamily="2" charset="-127"/>
                <a:ea typeface="Pretendard Medium" panose="02000603000000020004" pitchFamily="2" charset="-127"/>
              </a:rPr>
              <a:t>2. MongoDB</a:t>
            </a:r>
            <a:endParaRPr lang="ko-KR" altLang="en-US" sz="3200" dirty="0">
              <a:latin typeface="Pretendard Medium" panose="02000603000000020004" pitchFamily="2" charset="-127"/>
              <a:ea typeface="Pretendard Medium" panose="020006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300797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5EDF3-F372-3458-10A8-696C601CD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F8550829-3395-13AE-28BE-BE3621C31F3F}"/>
              </a:ext>
            </a:extLst>
          </p:cNvPr>
          <p:cNvGrpSpPr/>
          <p:nvPr/>
        </p:nvGrpSpPr>
        <p:grpSpPr>
          <a:xfrm>
            <a:off x="164064" y="1119724"/>
            <a:ext cx="3964047" cy="523220"/>
            <a:chOff x="164064" y="1119724"/>
            <a:chExt cx="3964047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ACAE52F-E8E5-593A-1A1C-EFE6217484A3}"/>
                </a:ext>
              </a:extLst>
            </p:cNvPr>
            <p:cNvSpPr txBox="1"/>
            <p:nvPr/>
          </p:nvSpPr>
          <p:spPr>
            <a:xfrm>
              <a:off x="769499" y="1119724"/>
              <a:ext cx="335861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What is MongoDB?</a:t>
              </a:r>
              <a:endParaRPr lang="ko-KR" altLang="en-US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A82B2856-E01A-8BE3-8796-26B1B1A186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C92DFE48-3013-4CB3-D46A-8EB1ACF752B9}"/>
              </a:ext>
            </a:extLst>
          </p:cNvPr>
          <p:cNvGrpSpPr/>
          <p:nvPr/>
        </p:nvGrpSpPr>
        <p:grpSpPr>
          <a:xfrm>
            <a:off x="-7110" y="6642020"/>
            <a:ext cx="12096046" cy="246221"/>
            <a:chOff x="-7110" y="6642020"/>
            <a:chExt cx="12096046" cy="246221"/>
          </a:xfrm>
        </p:grpSpPr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7EF808B6-BC0F-74B8-B404-FB98BA78CBB9}"/>
                </a:ext>
              </a:extLst>
            </p:cNvPr>
            <p:cNvGrpSpPr/>
            <p:nvPr/>
          </p:nvGrpSpPr>
          <p:grpSpPr>
            <a:xfrm>
              <a:off x="-2" y="6681788"/>
              <a:ext cx="516733" cy="176212"/>
              <a:chOff x="-1" y="6743700"/>
              <a:chExt cx="416720" cy="114299"/>
            </a:xfrm>
          </p:grpSpPr>
          <p:sp>
            <p:nvSpPr>
              <p:cNvPr id="17" name="직사각형 16">
                <a:extLst>
                  <a:ext uri="{FF2B5EF4-FFF2-40B4-BE49-F238E27FC236}">
                    <a16:creationId xmlns:a16="http://schemas.microsoft.com/office/drawing/2014/main" id="{994D576D-A9E5-59C2-0D0A-381557C1CE34}"/>
                  </a:ext>
                </a:extLst>
              </p:cNvPr>
              <p:cNvSpPr/>
              <p:nvPr/>
            </p:nvSpPr>
            <p:spPr>
              <a:xfrm>
                <a:off x="-1" y="6743700"/>
                <a:ext cx="52389" cy="114299"/>
              </a:xfrm>
              <a:prstGeom prst="rect">
                <a:avLst/>
              </a:prstGeom>
              <a:solidFill>
                <a:srgbClr val="1B7AA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" name="직사각형 17">
                <a:extLst>
                  <a:ext uri="{FF2B5EF4-FFF2-40B4-BE49-F238E27FC236}">
                    <a16:creationId xmlns:a16="http://schemas.microsoft.com/office/drawing/2014/main" id="{2A49961E-E504-1FEA-D47E-8B9FDB6571DC}"/>
                  </a:ext>
                </a:extLst>
              </p:cNvPr>
              <p:cNvSpPr/>
              <p:nvPr/>
            </p:nvSpPr>
            <p:spPr>
              <a:xfrm>
                <a:off x="52388" y="6743700"/>
                <a:ext cx="364331" cy="114299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9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7672F41-4857-1D40-5730-813FBEE6CA3D}"/>
                </a:ext>
              </a:extLst>
            </p:cNvPr>
            <p:cNvSpPr txBox="1"/>
            <p:nvPr/>
          </p:nvSpPr>
          <p:spPr>
            <a:xfrm>
              <a:off x="-7110" y="6642020"/>
              <a:ext cx="58956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source</a:t>
              </a:r>
              <a:endParaRPr lang="ko-KR" altLang="en-US" sz="1000" dirty="0">
                <a:latin typeface="Pretendard SemiBold" panose="02000703000000020004" pitchFamily="2" charset="-127"/>
                <a:ea typeface="Pretendard SemiBold" panose="02000703000000020004" pitchFamily="2" charset="-127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9F76D4B-4F24-CA28-531C-0003B114727C}"/>
                </a:ext>
              </a:extLst>
            </p:cNvPr>
            <p:cNvSpPr txBox="1"/>
            <p:nvPr/>
          </p:nvSpPr>
          <p:spPr>
            <a:xfrm>
              <a:off x="468659" y="6651272"/>
              <a:ext cx="1162027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dirty="0">
                  <a:latin typeface="Pretendard" panose="02000503000000020004" pitchFamily="2" charset="-127"/>
                  <a:ea typeface="Pretendard" panose="02000503000000020004" pitchFamily="2" charset="-127"/>
                </a:rPr>
                <a:t>Re-created illustration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95410E63-8777-151E-6324-F3BD977E9011}"/>
              </a:ext>
            </a:extLst>
          </p:cNvPr>
          <p:cNvSpPr txBox="1"/>
          <p:nvPr/>
        </p:nvSpPr>
        <p:spPr>
          <a:xfrm>
            <a:off x="819554" y="2207751"/>
            <a:ext cx="10488171" cy="2848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/>
              <a:t>MongoDB is a modern type of database known as a </a:t>
            </a:r>
            <a:r>
              <a:rPr lang="en-US" altLang="ko-KR" sz="2000" b="1" dirty="0"/>
              <a:t>NoSQL database</a:t>
            </a:r>
            <a:r>
              <a:rPr lang="en-US" altLang="ko-KR" sz="2000" dirty="0"/>
              <a:t>.</a:t>
            </a: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endParaRPr lang="en-US" altLang="ko-KR" sz="2000" dirty="0"/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Unlike traditional databases that use tables with rows and columns (like an Excel spreadsheet), MongoDB stores in a more flexible format.</a:t>
            </a: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</a:endParaRP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In uses 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JSON-like documents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, which allows it to store complex data structures easily and naturally.</a:t>
            </a:r>
          </a:p>
        </p:txBody>
      </p:sp>
      <p:pic>
        <p:nvPicPr>
          <p:cNvPr id="1026" name="Picture 2" descr="MongoDB - 나무위키">
            <a:extLst>
              <a:ext uri="{FF2B5EF4-FFF2-40B4-BE49-F238E27FC236}">
                <a16:creationId xmlns:a16="http://schemas.microsoft.com/office/drawing/2014/main" id="{E83B6F81-B5C2-4CDF-88DE-96B5907C47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8656" y="976425"/>
            <a:ext cx="4257675" cy="1076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49520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5EDF3-F372-3458-10A8-696C601CD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F8550829-3395-13AE-28BE-BE3621C31F3F}"/>
              </a:ext>
            </a:extLst>
          </p:cNvPr>
          <p:cNvGrpSpPr/>
          <p:nvPr/>
        </p:nvGrpSpPr>
        <p:grpSpPr>
          <a:xfrm>
            <a:off x="164064" y="1119724"/>
            <a:ext cx="7551311" cy="523220"/>
            <a:chOff x="164064" y="1119724"/>
            <a:chExt cx="7551311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ACAE52F-E8E5-593A-1A1C-EFE6217484A3}"/>
                </a:ext>
              </a:extLst>
            </p:cNvPr>
            <p:cNvSpPr txBox="1"/>
            <p:nvPr/>
          </p:nvSpPr>
          <p:spPr>
            <a:xfrm>
              <a:off x="769499" y="1119724"/>
              <a:ext cx="694587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Core Concepts: Documents &amp; Collections</a:t>
              </a:r>
              <a:endParaRPr lang="ko-KR" altLang="en-US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A82B2856-E01A-8BE3-8796-26B1B1A186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C92DFE48-3013-4CB3-D46A-8EB1ACF752B9}"/>
              </a:ext>
            </a:extLst>
          </p:cNvPr>
          <p:cNvGrpSpPr/>
          <p:nvPr/>
        </p:nvGrpSpPr>
        <p:grpSpPr>
          <a:xfrm>
            <a:off x="-7110" y="6642020"/>
            <a:ext cx="12096046" cy="246221"/>
            <a:chOff x="-7110" y="6642020"/>
            <a:chExt cx="12096046" cy="246221"/>
          </a:xfrm>
        </p:grpSpPr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7EF808B6-BC0F-74B8-B404-FB98BA78CBB9}"/>
                </a:ext>
              </a:extLst>
            </p:cNvPr>
            <p:cNvGrpSpPr/>
            <p:nvPr/>
          </p:nvGrpSpPr>
          <p:grpSpPr>
            <a:xfrm>
              <a:off x="-2" y="6681788"/>
              <a:ext cx="516733" cy="176212"/>
              <a:chOff x="-1" y="6743700"/>
              <a:chExt cx="416720" cy="114299"/>
            </a:xfrm>
          </p:grpSpPr>
          <p:sp>
            <p:nvSpPr>
              <p:cNvPr id="17" name="직사각형 16">
                <a:extLst>
                  <a:ext uri="{FF2B5EF4-FFF2-40B4-BE49-F238E27FC236}">
                    <a16:creationId xmlns:a16="http://schemas.microsoft.com/office/drawing/2014/main" id="{994D576D-A9E5-59C2-0D0A-381557C1CE34}"/>
                  </a:ext>
                </a:extLst>
              </p:cNvPr>
              <p:cNvSpPr/>
              <p:nvPr/>
            </p:nvSpPr>
            <p:spPr>
              <a:xfrm>
                <a:off x="-1" y="6743700"/>
                <a:ext cx="52389" cy="114299"/>
              </a:xfrm>
              <a:prstGeom prst="rect">
                <a:avLst/>
              </a:prstGeom>
              <a:solidFill>
                <a:srgbClr val="1B7AA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" name="직사각형 17">
                <a:extLst>
                  <a:ext uri="{FF2B5EF4-FFF2-40B4-BE49-F238E27FC236}">
                    <a16:creationId xmlns:a16="http://schemas.microsoft.com/office/drawing/2014/main" id="{2A49961E-E504-1FEA-D47E-8B9FDB6571DC}"/>
                  </a:ext>
                </a:extLst>
              </p:cNvPr>
              <p:cNvSpPr/>
              <p:nvPr/>
            </p:nvSpPr>
            <p:spPr>
              <a:xfrm>
                <a:off x="52388" y="6743700"/>
                <a:ext cx="364331" cy="114299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9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7672F41-4857-1D40-5730-813FBEE6CA3D}"/>
                </a:ext>
              </a:extLst>
            </p:cNvPr>
            <p:cNvSpPr txBox="1"/>
            <p:nvPr/>
          </p:nvSpPr>
          <p:spPr>
            <a:xfrm>
              <a:off x="-7110" y="6642020"/>
              <a:ext cx="58956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source</a:t>
              </a:r>
              <a:endParaRPr lang="ko-KR" altLang="en-US" sz="1000" dirty="0">
                <a:latin typeface="Pretendard SemiBold" panose="02000703000000020004" pitchFamily="2" charset="-127"/>
                <a:ea typeface="Pretendard SemiBold" panose="02000703000000020004" pitchFamily="2" charset="-127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9F76D4B-4F24-CA28-531C-0003B114727C}"/>
                </a:ext>
              </a:extLst>
            </p:cNvPr>
            <p:cNvSpPr txBox="1"/>
            <p:nvPr/>
          </p:nvSpPr>
          <p:spPr>
            <a:xfrm>
              <a:off x="468659" y="6651272"/>
              <a:ext cx="1162027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dirty="0">
                  <a:latin typeface="Pretendard" panose="02000503000000020004" pitchFamily="2" charset="-127"/>
                  <a:ea typeface="Pretendard" panose="02000503000000020004" pitchFamily="2" charset="-127"/>
                </a:rPr>
                <a:t>Re-created illustration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F67EBD3-6B5D-0B04-3152-653837BD277B}"/>
              </a:ext>
            </a:extLst>
          </p:cNvPr>
          <p:cNvSpPr txBox="1"/>
          <p:nvPr/>
        </p:nvSpPr>
        <p:spPr>
          <a:xfrm>
            <a:off x="668703" y="1715700"/>
            <a:ext cx="7160920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Documents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5410E63-8777-151E-6324-F3BD977E9011}"/>
              </a:ext>
            </a:extLst>
          </p:cNvPr>
          <p:cNvSpPr txBox="1"/>
          <p:nvPr/>
        </p:nvSpPr>
        <p:spPr>
          <a:xfrm>
            <a:off x="819554" y="2207751"/>
            <a:ext cx="10753985" cy="1248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/>
              <a:t>The basic unit of data in MongoDB.</a:t>
            </a: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A document is a set of 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field-and-value pairs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, very similar to a 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JSON object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.</a:t>
            </a: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i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Example: { “</a:t>
            </a:r>
            <a:r>
              <a:rPr lang="en-US" altLang="ko-KR" sz="2000" i="1" dirty="0" err="1">
                <a:latin typeface="Pretendard Light" panose="02000403000000020004" pitchFamily="2" charset="-127"/>
                <a:ea typeface="Pretendard Light" panose="02000403000000020004" pitchFamily="2" charset="-127"/>
              </a:rPr>
              <a:t>source_ip</a:t>
            </a:r>
            <a:r>
              <a:rPr lang="en-US" altLang="ko-KR" sz="2000" i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”: “192.168.1.10”, “protocol”: “TCP”, “size”: 64 }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1669A50-6C26-44DA-B8C5-59364028D2DB}"/>
              </a:ext>
            </a:extLst>
          </p:cNvPr>
          <p:cNvSpPr txBox="1"/>
          <p:nvPr/>
        </p:nvSpPr>
        <p:spPr>
          <a:xfrm>
            <a:off x="668703" y="4084662"/>
            <a:ext cx="7160920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Collections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D4FE009-73CD-470E-9414-A1F498E01B29}"/>
              </a:ext>
            </a:extLst>
          </p:cNvPr>
          <p:cNvSpPr txBox="1"/>
          <p:nvPr/>
        </p:nvSpPr>
        <p:spPr>
          <a:xfrm>
            <a:off x="819555" y="4576713"/>
            <a:ext cx="10206408" cy="1248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b="1" dirty="0"/>
              <a:t>A group of documents.</a:t>
            </a: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This is similar to a table in a traditional database.</a:t>
            </a: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However, a single collection can hold documents with different structures.</a:t>
            </a:r>
          </a:p>
        </p:txBody>
      </p:sp>
    </p:spTree>
    <p:extLst>
      <p:ext uri="{BB962C8B-B14F-4D97-AF65-F5344CB8AC3E}">
        <p14:creationId xmlns:p14="http://schemas.microsoft.com/office/powerpoint/2010/main" val="5717232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5EDF3-F372-3458-10A8-696C601CD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F8550829-3395-13AE-28BE-BE3621C31F3F}"/>
              </a:ext>
            </a:extLst>
          </p:cNvPr>
          <p:cNvGrpSpPr/>
          <p:nvPr/>
        </p:nvGrpSpPr>
        <p:grpSpPr>
          <a:xfrm>
            <a:off x="164064" y="1119724"/>
            <a:ext cx="6911136" cy="523220"/>
            <a:chOff x="164064" y="1119724"/>
            <a:chExt cx="6911136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ACAE52F-E8E5-593A-1A1C-EFE6217484A3}"/>
                </a:ext>
              </a:extLst>
            </p:cNvPr>
            <p:cNvSpPr txBox="1"/>
            <p:nvPr/>
          </p:nvSpPr>
          <p:spPr>
            <a:xfrm>
              <a:off x="769499" y="1119724"/>
              <a:ext cx="630570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Key Advantage: </a:t>
              </a:r>
              <a:r>
                <a:rPr lang="en-US" altLang="ko-KR" sz="2800" dirty="0" err="1">
                  <a:latin typeface="말싸미815" panose="02020600000000000000" pitchFamily="18" charset="-127"/>
                  <a:ea typeface="말싸미815" panose="02020600000000000000" pitchFamily="18" charset="-127"/>
                </a:rPr>
                <a:t>Schemaless</a:t>
              </a:r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 Flexibility</a:t>
              </a:r>
              <a:endParaRPr lang="ko-KR" altLang="en-US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A82B2856-E01A-8BE3-8796-26B1B1A186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C92DFE48-3013-4CB3-D46A-8EB1ACF752B9}"/>
              </a:ext>
            </a:extLst>
          </p:cNvPr>
          <p:cNvGrpSpPr/>
          <p:nvPr/>
        </p:nvGrpSpPr>
        <p:grpSpPr>
          <a:xfrm>
            <a:off x="-7110" y="6642020"/>
            <a:ext cx="12096046" cy="246221"/>
            <a:chOff x="-7110" y="6642020"/>
            <a:chExt cx="12096046" cy="246221"/>
          </a:xfrm>
        </p:grpSpPr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7EF808B6-BC0F-74B8-B404-FB98BA78CBB9}"/>
                </a:ext>
              </a:extLst>
            </p:cNvPr>
            <p:cNvGrpSpPr/>
            <p:nvPr/>
          </p:nvGrpSpPr>
          <p:grpSpPr>
            <a:xfrm>
              <a:off x="-2" y="6681788"/>
              <a:ext cx="516733" cy="176212"/>
              <a:chOff x="-1" y="6743700"/>
              <a:chExt cx="416720" cy="114299"/>
            </a:xfrm>
          </p:grpSpPr>
          <p:sp>
            <p:nvSpPr>
              <p:cNvPr id="17" name="직사각형 16">
                <a:extLst>
                  <a:ext uri="{FF2B5EF4-FFF2-40B4-BE49-F238E27FC236}">
                    <a16:creationId xmlns:a16="http://schemas.microsoft.com/office/drawing/2014/main" id="{994D576D-A9E5-59C2-0D0A-381557C1CE34}"/>
                  </a:ext>
                </a:extLst>
              </p:cNvPr>
              <p:cNvSpPr/>
              <p:nvPr/>
            </p:nvSpPr>
            <p:spPr>
              <a:xfrm>
                <a:off x="-1" y="6743700"/>
                <a:ext cx="52389" cy="114299"/>
              </a:xfrm>
              <a:prstGeom prst="rect">
                <a:avLst/>
              </a:prstGeom>
              <a:solidFill>
                <a:srgbClr val="1B7AA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" name="직사각형 17">
                <a:extLst>
                  <a:ext uri="{FF2B5EF4-FFF2-40B4-BE49-F238E27FC236}">
                    <a16:creationId xmlns:a16="http://schemas.microsoft.com/office/drawing/2014/main" id="{2A49961E-E504-1FEA-D47E-8B9FDB6571DC}"/>
                  </a:ext>
                </a:extLst>
              </p:cNvPr>
              <p:cNvSpPr/>
              <p:nvPr/>
            </p:nvSpPr>
            <p:spPr>
              <a:xfrm>
                <a:off x="52388" y="6743700"/>
                <a:ext cx="364331" cy="114299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9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7672F41-4857-1D40-5730-813FBEE6CA3D}"/>
                </a:ext>
              </a:extLst>
            </p:cNvPr>
            <p:cNvSpPr txBox="1"/>
            <p:nvPr/>
          </p:nvSpPr>
          <p:spPr>
            <a:xfrm>
              <a:off x="-7110" y="6642020"/>
              <a:ext cx="58956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source</a:t>
              </a:r>
              <a:endParaRPr lang="ko-KR" altLang="en-US" sz="1000" dirty="0">
                <a:latin typeface="Pretendard SemiBold" panose="02000703000000020004" pitchFamily="2" charset="-127"/>
                <a:ea typeface="Pretendard SemiBold" panose="02000703000000020004" pitchFamily="2" charset="-127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9F76D4B-4F24-CA28-531C-0003B114727C}"/>
                </a:ext>
              </a:extLst>
            </p:cNvPr>
            <p:cNvSpPr txBox="1"/>
            <p:nvPr/>
          </p:nvSpPr>
          <p:spPr>
            <a:xfrm>
              <a:off x="468659" y="6651272"/>
              <a:ext cx="1162027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dirty="0">
                  <a:latin typeface="Pretendard" panose="02000503000000020004" pitchFamily="2" charset="-127"/>
                  <a:ea typeface="Pretendard" panose="02000503000000020004" pitchFamily="2" charset="-127"/>
                </a:rPr>
                <a:t>Re-created illustration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95410E63-8777-151E-6324-F3BD977E9011}"/>
              </a:ext>
            </a:extLst>
          </p:cNvPr>
          <p:cNvSpPr txBox="1"/>
          <p:nvPr/>
        </p:nvSpPr>
        <p:spPr>
          <a:xfrm>
            <a:off x="819554" y="1777131"/>
            <a:ext cx="10753985" cy="1648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The most significant advantage for our project is that MongoDB is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</a:rPr>
              <a:t>schemaless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.</a:t>
            </a: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</a:endParaRP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This means that documents within the same collection do not need to have the same fields or structure.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1669A50-6C26-44DA-B8C5-59364028D2DB}"/>
              </a:ext>
            </a:extLst>
          </p:cNvPr>
          <p:cNvSpPr txBox="1"/>
          <p:nvPr/>
        </p:nvSpPr>
        <p:spPr>
          <a:xfrm>
            <a:off x="668703" y="3749736"/>
            <a:ext cx="7160920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Why is this important for us?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D4FE009-73CD-470E-9414-A1F498E01B29}"/>
              </a:ext>
            </a:extLst>
          </p:cNvPr>
          <p:cNvSpPr txBox="1"/>
          <p:nvPr/>
        </p:nvSpPr>
        <p:spPr>
          <a:xfrm>
            <a:off x="819555" y="4241787"/>
            <a:ext cx="10206408" cy="1648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b="1" dirty="0"/>
              <a:t>Network packets are not all the same. </a:t>
            </a:r>
            <a:r>
              <a:rPr lang="en-US" altLang="ko-KR" sz="2000" dirty="0"/>
              <a:t>A TCP packet has different information than a UDP packet.</a:t>
            </a: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MongoDB allows us to store all these different types of packets in the same packet collection without any issues.</a:t>
            </a:r>
          </a:p>
        </p:txBody>
      </p:sp>
    </p:spTree>
    <p:extLst>
      <p:ext uri="{BB962C8B-B14F-4D97-AF65-F5344CB8AC3E}">
        <p14:creationId xmlns:p14="http://schemas.microsoft.com/office/powerpoint/2010/main" val="33697096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5EDF3-F372-3458-10A8-696C601CD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F8550829-3395-13AE-28BE-BE3621C31F3F}"/>
              </a:ext>
            </a:extLst>
          </p:cNvPr>
          <p:cNvGrpSpPr/>
          <p:nvPr/>
        </p:nvGrpSpPr>
        <p:grpSpPr>
          <a:xfrm>
            <a:off x="164064" y="1119724"/>
            <a:ext cx="6045707" cy="523220"/>
            <a:chOff x="164064" y="1119724"/>
            <a:chExt cx="6045707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ACAE52F-E8E5-593A-1A1C-EFE6217484A3}"/>
                </a:ext>
              </a:extLst>
            </p:cNvPr>
            <p:cNvSpPr txBox="1"/>
            <p:nvPr/>
          </p:nvSpPr>
          <p:spPr>
            <a:xfrm>
              <a:off x="769499" y="1119724"/>
              <a:ext cx="544027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Why MongoDB for This Project?</a:t>
              </a:r>
              <a:endParaRPr lang="ko-KR" altLang="en-US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A82B2856-E01A-8BE3-8796-26B1B1A186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C92DFE48-3013-4CB3-D46A-8EB1ACF752B9}"/>
              </a:ext>
            </a:extLst>
          </p:cNvPr>
          <p:cNvGrpSpPr/>
          <p:nvPr/>
        </p:nvGrpSpPr>
        <p:grpSpPr>
          <a:xfrm>
            <a:off x="-7110" y="6642020"/>
            <a:ext cx="12096046" cy="246221"/>
            <a:chOff x="-7110" y="6642020"/>
            <a:chExt cx="12096046" cy="246221"/>
          </a:xfrm>
        </p:grpSpPr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7EF808B6-BC0F-74B8-B404-FB98BA78CBB9}"/>
                </a:ext>
              </a:extLst>
            </p:cNvPr>
            <p:cNvGrpSpPr/>
            <p:nvPr/>
          </p:nvGrpSpPr>
          <p:grpSpPr>
            <a:xfrm>
              <a:off x="-2" y="6681788"/>
              <a:ext cx="516733" cy="176212"/>
              <a:chOff x="-1" y="6743700"/>
              <a:chExt cx="416720" cy="114299"/>
            </a:xfrm>
          </p:grpSpPr>
          <p:sp>
            <p:nvSpPr>
              <p:cNvPr id="17" name="직사각형 16">
                <a:extLst>
                  <a:ext uri="{FF2B5EF4-FFF2-40B4-BE49-F238E27FC236}">
                    <a16:creationId xmlns:a16="http://schemas.microsoft.com/office/drawing/2014/main" id="{994D576D-A9E5-59C2-0D0A-381557C1CE34}"/>
                  </a:ext>
                </a:extLst>
              </p:cNvPr>
              <p:cNvSpPr/>
              <p:nvPr/>
            </p:nvSpPr>
            <p:spPr>
              <a:xfrm>
                <a:off x="-1" y="6743700"/>
                <a:ext cx="52389" cy="114299"/>
              </a:xfrm>
              <a:prstGeom prst="rect">
                <a:avLst/>
              </a:prstGeom>
              <a:solidFill>
                <a:srgbClr val="1B7AA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" name="직사각형 17">
                <a:extLst>
                  <a:ext uri="{FF2B5EF4-FFF2-40B4-BE49-F238E27FC236}">
                    <a16:creationId xmlns:a16="http://schemas.microsoft.com/office/drawing/2014/main" id="{2A49961E-E504-1FEA-D47E-8B9FDB6571DC}"/>
                  </a:ext>
                </a:extLst>
              </p:cNvPr>
              <p:cNvSpPr/>
              <p:nvPr/>
            </p:nvSpPr>
            <p:spPr>
              <a:xfrm>
                <a:off x="52388" y="6743700"/>
                <a:ext cx="364331" cy="114299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9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7672F41-4857-1D40-5730-813FBEE6CA3D}"/>
                </a:ext>
              </a:extLst>
            </p:cNvPr>
            <p:cNvSpPr txBox="1"/>
            <p:nvPr/>
          </p:nvSpPr>
          <p:spPr>
            <a:xfrm>
              <a:off x="-7110" y="6642020"/>
              <a:ext cx="58956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source</a:t>
              </a:r>
              <a:endParaRPr lang="ko-KR" altLang="en-US" sz="1000" dirty="0">
                <a:latin typeface="Pretendard SemiBold" panose="02000703000000020004" pitchFamily="2" charset="-127"/>
                <a:ea typeface="Pretendard SemiBold" panose="02000703000000020004" pitchFamily="2" charset="-127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9F76D4B-4F24-CA28-531C-0003B114727C}"/>
                </a:ext>
              </a:extLst>
            </p:cNvPr>
            <p:cNvSpPr txBox="1"/>
            <p:nvPr/>
          </p:nvSpPr>
          <p:spPr>
            <a:xfrm>
              <a:off x="468659" y="6651272"/>
              <a:ext cx="1162027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dirty="0">
                  <a:latin typeface="Pretendard" panose="02000503000000020004" pitchFamily="2" charset="-127"/>
                  <a:ea typeface="Pretendard" panose="02000503000000020004" pitchFamily="2" charset="-127"/>
                </a:rPr>
                <a:t>Re-created illustration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95410E63-8777-151E-6324-F3BD977E9011}"/>
              </a:ext>
            </a:extLst>
          </p:cNvPr>
          <p:cNvSpPr txBox="1"/>
          <p:nvPr/>
        </p:nvSpPr>
        <p:spPr>
          <a:xfrm>
            <a:off x="819554" y="1777131"/>
            <a:ext cx="10753985" cy="448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We chose MongoDB for the traffic monitoring system for two main reasons: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B416313-F033-4D7E-A52E-35FF634F3741}"/>
              </a:ext>
            </a:extLst>
          </p:cNvPr>
          <p:cNvSpPr txBox="1"/>
          <p:nvPr/>
        </p:nvSpPr>
        <p:spPr>
          <a:xfrm>
            <a:off x="668703" y="4318578"/>
            <a:ext cx="7160920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b="1" dirty="0">
                <a:latin typeface="SF싸락눈" panose="02000503000000000000" pitchFamily="2" charset="-127"/>
                <a:ea typeface="SF싸락눈" panose="02000503000000000000" pitchFamily="2" charset="-127"/>
              </a:rPr>
              <a:t>Scalability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83926DC-6A29-4555-9619-3118729D1CE3}"/>
              </a:ext>
            </a:extLst>
          </p:cNvPr>
          <p:cNvSpPr txBox="1"/>
          <p:nvPr/>
        </p:nvSpPr>
        <p:spPr>
          <a:xfrm>
            <a:off x="819555" y="4810629"/>
            <a:ext cx="10206408" cy="1248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/>
              <a:t>As we capture more and more network traffic, our database will grow very large.</a:t>
            </a:r>
            <a:br>
              <a:rPr lang="en-US" altLang="ko-KR" sz="2000" dirty="0"/>
            </a:br>
            <a:r>
              <a:rPr lang="en-US" altLang="ko-KR" sz="2000" dirty="0"/>
              <a:t>MongoDB an easily scale across multiple servers to handle massive amounts of data without slowing down.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D9BFE1C-AE6B-4C9A-96C0-709060A06338}"/>
              </a:ext>
            </a:extLst>
          </p:cNvPr>
          <p:cNvSpPr txBox="1"/>
          <p:nvPr/>
        </p:nvSpPr>
        <p:spPr>
          <a:xfrm>
            <a:off x="668703" y="2335602"/>
            <a:ext cx="7160920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b="1" dirty="0">
                <a:latin typeface="SF싸락눈" panose="02000503000000000000" pitchFamily="2" charset="-127"/>
                <a:ea typeface="SF싸락눈" panose="02000503000000000000" pitchFamily="2" charset="-127"/>
              </a:rPr>
              <a:t>High Performance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19D2DF9-A551-44FE-8E7B-599E000473D3}"/>
              </a:ext>
            </a:extLst>
          </p:cNvPr>
          <p:cNvSpPr txBox="1"/>
          <p:nvPr/>
        </p:nvSpPr>
        <p:spPr>
          <a:xfrm>
            <a:off x="819555" y="2827653"/>
            <a:ext cx="10206408" cy="1248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/>
              <a:t>The system needs to capture and save thousands of packets per second. MongoDB is designed to handle this high volume of write operations very quickly and efficiently.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217904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6272EFE-19CA-7357-CA3D-A47E6988B1F1}"/>
              </a:ext>
            </a:extLst>
          </p:cNvPr>
          <p:cNvSpPr txBox="1"/>
          <p:nvPr/>
        </p:nvSpPr>
        <p:spPr>
          <a:xfrm>
            <a:off x="5069116" y="3136612"/>
            <a:ext cx="205376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3200" dirty="0">
                <a:latin typeface="Pretendard Medium" panose="02000603000000020004" pitchFamily="2" charset="-127"/>
                <a:ea typeface="Pretendard Medium" panose="02000603000000020004" pitchFamily="2" charset="-127"/>
              </a:rPr>
              <a:t>Lab Setup</a:t>
            </a:r>
            <a:endParaRPr lang="ko-KR" altLang="en-US" sz="3200" dirty="0">
              <a:latin typeface="Pretendard Medium" panose="02000603000000020004" pitchFamily="2" charset="-127"/>
              <a:ea typeface="Pretendard Medium" panose="020006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701397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5EDF3-F372-3458-10A8-696C601CD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F8550829-3395-13AE-28BE-BE3621C31F3F}"/>
              </a:ext>
            </a:extLst>
          </p:cNvPr>
          <p:cNvGrpSpPr/>
          <p:nvPr/>
        </p:nvGrpSpPr>
        <p:grpSpPr>
          <a:xfrm>
            <a:off x="164064" y="1119724"/>
            <a:ext cx="2848100" cy="523220"/>
            <a:chOff x="164064" y="1119724"/>
            <a:chExt cx="2848100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ACAE52F-E8E5-593A-1A1C-EFE6217484A3}"/>
                </a:ext>
              </a:extLst>
            </p:cNvPr>
            <p:cNvSpPr txBox="1"/>
            <p:nvPr/>
          </p:nvSpPr>
          <p:spPr>
            <a:xfrm>
              <a:off x="769499" y="1119724"/>
              <a:ext cx="224266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Prerequisites</a:t>
              </a:r>
              <a:endParaRPr lang="ko-KR" altLang="en-US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A82B2856-E01A-8BE3-8796-26B1B1A186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F67EBD3-6B5D-0B04-3152-653837BD277B}"/>
              </a:ext>
            </a:extLst>
          </p:cNvPr>
          <p:cNvSpPr txBox="1"/>
          <p:nvPr/>
        </p:nvSpPr>
        <p:spPr>
          <a:xfrm>
            <a:off x="668702" y="1715700"/>
            <a:ext cx="11420233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This lab is designed to run in a Linux-based environment (e.g., Ubuntu, etc.)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1229AA3-35E8-4267-BD22-0CCEAFCFE353}"/>
              </a:ext>
            </a:extLst>
          </p:cNvPr>
          <p:cNvSpPr txBox="1"/>
          <p:nvPr/>
        </p:nvSpPr>
        <p:spPr>
          <a:xfrm>
            <a:off x="819555" y="2728017"/>
            <a:ext cx="10514752" cy="2848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Python: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The core programming language for our capture scripts.</a:t>
            </a: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</a:endParaRP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pip: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The package installer for managing Python libraries (e.g.,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</a:rPr>
              <a:t>Scapy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,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</a:rPr>
              <a:t>Pymongo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).</a:t>
            </a: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</a:endParaRP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MongoDB: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A NoSQL database used to store and query captured packet </a:t>
            </a:r>
            <a:r>
              <a:rPr lang="en-US" altLang="ko-KR" sz="2000">
                <a:latin typeface="Pretendard Light" panose="02000403000000020004" pitchFamily="2" charset="-127"/>
                <a:ea typeface="Pretendard Light" panose="02000403000000020004" pitchFamily="2" charset="-127"/>
              </a:rPr>
              <a:t>data.</a:t>
            </a: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</a:endParaRP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Nginx: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A lightweight web server for hosting the analysis dashboard.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ECBC2E3-2E5F-4F1D-884B-7D071982B731}"/>
              </a:ext>
            </a:extLst>
          </p:cNvPr>
          <p:cNvSpPr txBox="1"/>
          <p:nvPr/>
        </p:nvSpPr>
        <p:spPr>
          <a:xfrm>
            <a:off x="668702" y="2203448"/>
            <a:ext cx="10327746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solidFill>
                  <a:srgbClr val="FF0000"/>
                </a:solidFill>
                <a:latin typeface="SF싸락눈" panose="02000503000000000000" pitchFamily="2" charset="-127"/>
                <a:ea typeface="SF싸락눈" panose="02000503000000000000" pitchFamily="2" charset="-127"/>
              </a:rPr>
              <a:t>Install: python3-pip, </a:t>
            </a:r>
            <a:r>
              <a:rPr lang="en-US" altLang="ko-KR" sz="2200" dirty="0" err="1">
                <a:solidFill>
                  <a:srgbClr val="FF0000"/>
                </a:solidFill>
                <a:latin typeface="SF싸락눈" panose="02000503000000000000" pitchFamily="2" charset="-127"/>
                <a:ea typeface="SF싸락눈" panose="02000503000000000000" pitchFamily="2" charset="-127"/>
              </a:rPr>
              <a:t>nginx</a:t>
            </a:r>
            <a:r>
              <a:rPr lang="en-US" altLang="ko-KR" sz="2200" dirty="0">
                <a:solidFill>
                  <a:srgbClr val="FF0000"/>
                </a:solidFill>
                <a:latin typeface="SF싸락눈" panose="02000503000000000000" pitchFamily="2" charset="-127"/>
                <a:ea typeface="SF싸락눈" panose="02000503000000000000" pitchFamily="2" charset="-127"/>
              </a:rPr>
              <a:t>, </a:t>
            </a:r>
            <a:r>
              <a:rPr lang="en-US" altLang="ko-KR" sz="2200" dirty="0" err="1">
                <a:solidFill>
                  <a:srgbClr val="FF0000"/>
                </a:solidFill>
                <a:latin typeface="SF싸락눈" panose="02000503000000000000" pitchFamily="2" charset="-127"/>
                <a:ea typeface="SF싸락눈" panose="02000503000000000000" pitchFamily="2" charset="-127"/>
              </a:rPr>
              <a:t>hostapd</a:t>
            </a:r>
            <a:r>
              <a:rPr lang="en-US" altLang="ko-KR" sz="2200" dirty="0">
                <a:solidFill>
                  <a:srgbClr val="FF0000"/>
                </a:solidFill>
                <a:latin typeface="SF싸락눈" panose="02000503000000000000" pitchFamily="2" charset="-127"/>
                <a:ea typeface="SF싸락눈" panose="02000503000000000000" pitchFamily="2" charset="-127"/>
              </a:rPr>
              <a:t>, </a:t>
            </a:r>
            <a:r>
              <a:rPr lang="en-US" altLang="ko-KR" sz="2200" dirty="0" err="1">
                <a:solidFill>
                  <a:srgbClr val="FF0000"/>
                </a:solidFill>
                <a:latin typeface="SF싸락눈" panose="02000503000000000000" pitchFamily="2" charset="-127"/>
                <a:ea typeface="SF싸락눈" panose="02000503000000000000" pitchFamily="2" charset="-127"/>
              </a:rPr>
              <a:t>dnsmasq</a:t>
            </a:r>
            <a:r>
              <a:rPr lang="en-US" altLang="ko-KR" sz="2200" dirty="0">
                <a:solidFill>
                  <a:srgbClr val="FF0000"/>
                </a:solidFill>
                <a:latin typeface="SF싸락눈" panose="02000503000000000000" pitchFamily="2" charset="-127"/>
                <a:ea typeface="SF싸락눈" panose="02000503000000000000" pitchFamily="2" charset="-127"/>
              </a:rPr>
              <a:t>, iptables-persistent</a:t>
            </a:r>
            <a:endParaRPr lang="en-US" altLang="ko-KR" sz="2200" b="1" dirty="0">
              <a:latin typeface="SF싸락눈" panose="02000503000000000000" pitchFamily="2" charset="-127"/>
              <a:ea typeface="SF싸락눈" panose="02000503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850731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5EDF3-F372-3458-10A8-696C601CD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F8550829-3395-13AE-28BE-BE3621C31F3F}"/>
              </a:ext>
            </a:extLst>
          </p:cNvPr>
          <p:cNvGrpSpPr/>
          <p:nvPr/>
        </p:nvGrpSpPr>
        <p:grpSpPr>
          <a:xfrm>
            <a:off x="164064" y="1119724"/>
            <a:ext cx="3682559" cy="523220"/>
            <a:chOff x="164064" y="1119724"/>
            <a:chExt cx="3682559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ACAE52F-E8E5-593A-1A1C-EFE6217484A3}"/>
                </a:ext>
              </a:extLst>
            </p:cNvPr>
            <p:cNvSpPr txBox="1"/>
            <p:nvPr/>
          </p:nvSpPr>
          <p:spPr>
            <a:xfrm>
              <a:off x="769499" y="1119724"/>
              <a:ext cx="307712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Step 1: MongoDB</a:t>
              </a:r>
              <a:endParaRPr lang="ko-KR" altLang="en-US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A82B2856-E01A-8BE3-8796-26B1B1A186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E0C1362B-6ABE-4FB0-81ED-FD5820E74872}"/>
              </a:ext>
            </a:extLst>
          </p:cNvPr>
          <p:cNvSpPr txBox="1"/>
          <p:nvPr/>
        </p:nvSpPr>
        <p:spPr>
          <a:xfrm>
            <a:off x="668702" y="1715700"/>
            <a:ext cx="11420233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solidFill>
                  <a:srgbClr val="FF0000"/>
                </a:solidFill>
                <a:latin typeface="SF싸락눈" panose="02000503000000000000" pitchFamily="2" charset="-127"/>
                <a:ea typeface="SF싸락눈" panose="02000503000000000000" pitchFamily="2" charset="-127"/>
              </a:rPr>
              <a:t>1. Import the MongoDB GPG Key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85AB79C-FFE2-44E8-8E30-5AEDD12844BF}"/>
              </a:ext>
            </a:extLst>
          </p:cNvPr>
          <p:cNvSpPr txBox="1"/>
          <p:nvPr/>
        </p:nvSpPr>
        <p:spPr>
          <a:xfrm>
            <a:off x="819555" y="2207751"/>
            <a:ext cx="10514752" cy="848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curl -</a:t>
            </a:r>
            <a:r>
              <a:rPr lang="en-US" altLang="ko-KR" sz="2000" b="1" dirty="0" err="1">
                <a:latin typeface="Pretendard Light" panose="02000403000000020004" pitchFamily="2" charset="-127"/>
                <a:ea typeface="Pretendard Light" panose="02000403000000020004" pitchFamily="2" charset="-127"/>
              </a:rPr>
              <a:t>fsSL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 https://pgp.mongodb.com/server-7.0.asc | </a:t>
            </a:r>
            <a:r>
              <a:rPr lang="en-US" altLang="ko-KR" sz="2000" b="1" dirty="0" err="1">
                <a:latin typeface="Pretendard Light" panose="02000403000000020004" pitchFamily="2" charset="-127"/>
                <a:ea typeface="Pretendard Light" panose="02000403000000020004" pitchFamily="2" charset="-127"/>
              </a:rPr>
              <a:t>sudo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 </a:t>
            </a:r>
            <a:r>
              <a:rPr lang="en-US" altLang="ko-KR" sz="2000" b="1" dirty="0" err="1">
                <a:latin typeface="Pretendard Light" panose="02000403000000020004" pitchFamily="2" charset="-127"/>
                <a:ea typeface="Pretendard Light" panose="02000403000000020004" pitchFamily="2" charset="-127"/>
              </a:rPr>
              <a:t>gpg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 -o /</a:t>
            </a:r>
            <a:r>
              <a:rPr lang="en-US" altLang="ko-KR" sz="2000" b="1" dirty="0" err="1">
                <a:latin typeface="Pretendard Light" panose="02000403000000020004" pitchFamily="2" charset="-127"/>
                <a:ea typeface="Pretendard Light" panose="02000403000000020004" pitchFamily="2" charset="-127"/>
              </a:rPr>
              <a:t>usr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/share/keyrings/mongodb-server-7.0.gpg --</a:t>
            </a:r>
            <a:r>
              <a:rPr lang="en-US" altLang="ko-KR" sz="2000" b="1" dirty="0" err="1">
                <a:latin typeface="Pretendard Light" panose="02000403000000020004" pitchFamily="2" charset="-127"/>
                <a:ea typeface="Pretendard Light" panose="02000403000000020004" pitchFamily="2" charset="-127"/>
              </a:rPr>
              <a:t>dearmor</a:t>
            </a:r>
            <a:endParaRPr lang="en-US" altLang="ko-KR" sz="2000" b="1" dirty="0">
              <a:latin typeface="Pretendard Light" panose="02000403000000020004" pitchFamily="2" charset="-127"/>
              <a:ea typeface="Pretendard Light" panose="02000403000000020004" pitchFamily="2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E22ABC1-7203-4F8A-8794-F5990CA90A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7670" y="3187378"/>
            <a:ext cx="11688806" cy="342948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5229A83F-666C-46CB-92D7-A5AC38882FE8}"/>
              </a:ext>
            </a:extLst>
          </p:cNvPr>
          <p:cNvSpPr txBox="1"/>
          <p:nvPr/>
        </p:nvSpPr>
        <p:spPr>
          <a:xfrm>
            <a:off x="668702" y="3694279"/>
            <a:ext cx="11420233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solidFill>
                  <a:srgbClr val="FF0000"/>
                </a:solidFill>
                <a:latin typeface="SF싸락눈" panose="02000503000000000000" pitchFamily="2" charset="-127"/>
                <a:ea typeface="SF싸락눈" panose="02000503000000000000" pitchFamily="2" charset="-127"/>
              </a:rPr>
              <a:t>2. Add the MongoDB Repository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E31BD5C-56F7-41F4-8D8E-F73E22B5447E}"/>
              </a:ext>
            </a:extLst>
          </p:cNvPr>
          <p:cNvSpPr txBox="1"/>
          <p:nvPr/>
        </p:nvSpPr>
        <p:spPr>
          <a:xfrm>
            <a:off x="819555" y="4186330"/>
            <a:ext cx="10514752" cy="1248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echo "deb [ arch=amd64,arm64 signed-by=/</a:t>
            </a:r>
            <a:r>
              <a:rPr lang="en-US" altLang="ko-KR" sz="2000" b="1" dirty="0" err="1">
                <a:latin typeface="Pretendard Light" panose="02000403000000020004" pitchFamily="2" charset="-127"/>
                <a:ea typeface="Pretendard Light" panose="02000403000000020004" pitchFamily="2" charset="-127"/>
              </a:rPr>
              <a:t>usr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/share/keyrings/mongodb-server-7.0.gpg ] https://repo.mongodb.org/apt/ubuntu $(</a:t>
            </a:r>
            <a:r>
              <a:rPr lang="en-US" altLang="ko-KR" sz="2000" b="1" dirty="0" err="1">
                <a:latin typeface="Pretendard Light" panose="02000403000000020004" pitchFamily="2" charset="-127"/>
                <a:ea typeface="Pretendard Light" panose="02000403000000020004" pitchFamily="2" charset="-127"/>
              </a:rPr>
              <a:t>lsb_release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 -cs)/</a:t>
            </a:r>
            <a:r>
              <a:rPr lang="en-US" altLang="ko-KR" sz="2000" b="1" dirty="0" err="1">
                <a:latin typeface="Pretendard Light" panose="02000403000000020004" pitchFamily="2" charset="-127"/>
                <a:ea typeface="Pretendard Light" panose="02000403000000020004" pitchFamily="2" charset="-127"/>
              </a:rPr>
              <a:t>mongodb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-org/7.0 multiverse" | </a:t>
            </a:r>
            <a:r>
              <a:rPr lang="en-US" altLang="ko-KR" sz="2000" b="1" dirty="0" err="1">
                <a:latin typeface="Pretendard Light" panose="02000403000000020004" pitchFamily="2" charset="-127"/>
                <a:ea typeface="Pretendard Light" panose="02000403000000020004" pitchFamily="2" charset="-127"/>
              </a:rPr>
              <a:t>sudo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 tee /</a:t>
            </a:r>
            <a:r>
              <a:rPr lang="en-US" altLang="ko-KR" sz="2000" b="1" dirty="0" err="1">
                <a:latin typeface="Pretendard Light" panose="02000403000000020004" pitchFamily="2" charset="-127"/>
                <a:ea typeface="Pretendard Light" panose="02000403000000020004" pitchFamily="2" charset="-127"/>
              </a:rPr>
              <a:t>etc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/apt/</a:t>
            </a:r>
            <a:r>
              <a:rPr lang="en-US" altLang="ko-KR" sz="2000" b="1" dirty="0" err="1">
                <a:latin typeface="Pretendard Light" panose="02000403000000020004" pitchFamily="2" charset="-127"/>
                <a:ea typeface="Pretendard Light" panose="02000403000000020004" pitchFamily="2" charset="-127"/>
              </a:rPr>
              <a:t>sources.list.d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/mongodb-org-7.0.list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BDC27579-22C2-442E-A628-46911A38AA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7670" y="5575301"/>
            <a:ext cx="11669754" cy="8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19950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5EDF3-F372-3458-10A8-696C601CD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F8550829-3395-13AE-28BE-BE3621C31F3F}"/>
              </a:ext>
            </a:extLst>
          </p:cNvPr>
          <p:cNvGrpSpPr/>
          <p:nvPr/>
        </p:nvGrpSpPr>
        <p:grpSpPr>
          <a:xfrm>
            <a:off x="164064" y="1119724"/>
            <a:ext cx="2977238" cy="523220"/>
            <a:chOff x="164064" y="1119724"/>
            <a:chExt cx="2977238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ACAE52F-E8E5-593A-1A1C-EFE6217484A3}"/>
                </a:ext>
              </a:extLst>
            </p:cNvPr>
            <p:cNvSpPr txBox="1"/>
            <p:nvPr/>
          </p:nvSpPr>
          <p:spPr>
            <a:xfrm>
              <a:off x="769499" y="1119724"/>
              <a:ext cx="237180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Step 2: Install</a:t>
              </a:r>
              <a:endParaRPr lang="ko-KR" altLang="en-US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A82B2856-E01A-8BE3-8796-26B1B1A186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E0C1362B-6ABE-4FB0-81ED-FD5820E74872}"/>
              </a:ext>
            </a:extLst>
          </p:cNvPr>
          <p:cNvSpPr txBox="1"/>
          <p:nvPr/>
        </p:nvSpPr>
        <p:spPr>
          <a:xfrm>
            <a:off x="668702" y="1715700"/>
            <a:ext cx="11420233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solidFill>
                  <a:srgbClr val="FF0000"/>
                </a:solidFill>
                <a:latin typeface="SF싸락눈" panose="02000503000000000000" pitchFamily="2" charset="-127"/>
                <a:ea typeface="SF싸락눈" panose="02000503000000000000" pitchFamily="2" charset="-127"/>
              </a:rPr>
              <a:t>3. Update Local Package List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85AB79C-FFE2-44E8-8E30-5AEDD12844BF}"/>
              </a:ext>
            </a:extLst>
          </p:cNvPr>
          <p:cNvSpPr txBox="1"/>
          <p:nvPr/>
        </p:nvSpPr>
        <p:spPr>
          <a:xfrm>
            <a:off x="819555" y="2207751"/>
            <a:ext cx="10514752" cy="448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b="1" dirty="0" err="1">
                <a:latin typeface="Pretendard Light" panose="02000403000000020004" pitchFamily="2" charset="-127"/>
                <a:ea typeface="Pretendard Light" panose="02000403000000020004" pitchFamily="2" charset="-127"/>
              </a:rPr>
              <a:t>sudo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 apt-get update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229A83F-666C-46CB-92D7-A5AC38882FE8}"/>
              </a:ext>
            </a:extLst>
          </p:cNvPr>
          <p:cNvSpPr txBox="1"/>
          <p:nvPr/>
        </p:nvSpPr>
        <p:spPr>
          <a:xfrm>
            <a:off x="668702" y="3694279"/>
            <a:ext cx="11420233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solidFill>
                  <a:srgbClr val="FF0000"/>
                </a:solidFill>
                <a:latin typeface="SF싸락눈" panose="02000503000000000000" pitchFamily="2" charset="-127"/>
                <a:ea typeface="SF싸락눈" panose="02000503000000000000" pitchFamily="2" charset="-127"/>
              </a:rPr>
              <a:t>4. Install All Required Packages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E31BD5C-56F7-41F4-8D8E-F73E22B5447E}"/>
              </a:ext>
            </a:extLst>
          </p:cNvPr>
          <p:cNvSpPr txBox="1"/>
          <p:nvPr/>
        </p:nvSpPr>
        <p:spPr>
          <a:xfrm>
            <a:off x="819555" y="4186330"/>
            <a:ext cx="10514752" cy="848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b="1" dirty="0" err="1">
                <a:latin typeface="Pretendard Light" panose="02000403000000020004" pitchFamily="2" charset="-127"/>
                <a:ea typeface="Pretendard Light" panose="02000403000000020004" pitchFamily="2" charset="-127"/>
              </a:rPr>
              <a:t>sudo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 apt-get install -y python3-pip </a:t>
            </a:r>
            <a:r>
              <a:rPr lang="en-US" altLang="ko-KR" sz="2000" b="1" dirty="0" err="1">
                <a:latin typeface="Pretendard Light" panose="02000403000000020004" pitchFamily="2" charset="-127"/>
                <a:ea typeface="Pretendard Light" panose="02000403000000020004" pitchFamily="2" charset="-127"/>
              </a:rPr>
              <a:t>mongodb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-org </a:t>
            </a:r>
            <a:r>
              <a:rPr lang="en-US" altLang="ko-KR" sz="2000" b="1" dirty="0" err="1">
                <a:latin typeface="Pretendard Light" panose="02000403000000020004" pitchFamily="2" charset="-127"/>
                <a:ea typeface="Pretendard Light" panose="02000403000000020004" pitchFamily="2" charset="-127"/>
              </a:rPr>
              <a:t>nginx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 </a:t>
            </a:r>
            <a:r>
              <a:rPr lang="en-US" altLang="ko-KR" sz="2000" b="1" dirty="0" err="1">
                <a:latin typeface="Pretendard Light" panose="02000403000000020004" pitchFamily="2" charset="-127"/>
                <a:ea typeface="Pretendard Light" panose="02000403000000020004" pitchFamily="2" charset="-127"/>
              </a:rPr>
              <a:t>hostapd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 </a:t>
            </a:r>
            <a:r>
              <a:rPr lang="en-US" altLang="ko-KR" sz="2000" b="1" dirty="0" err="1">
                <a:latin typeface="Pretendard Light" panose="02000403000000020004" pitchFamily="2" charset="-127"/>
                <a:ea typeface="Pretendard Light" panose="02000403000000020004" pitchFamily="2" charset="-127"/>
              </a:rPr>
              <a:t>dnsmasq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 iptables-persistent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A794258-5DB6-4097-ADE7-B05E102286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217" y="2697899"/>
            <a:ext cx="4881284" cy="1061149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11E64A65-3A45-483B-B9DF-721AD4723A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3965" y="5267177"/>
            <a:ext cx="11784070" cy="1009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6746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5EDF3-F372-3458-10A8-696C601CD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F8550829-3395-13AE-28BE-BE3621C31F3F}"/>
              </a:ext>
            </a:extLst>
          </p:cNvPr>
          <p:cNvGrpSpPr/>
          <p:nvPr/>
        </p:nvGrpSpPr>
        <p:grpSpPr>
          <a:xfrm>
            <a:off x="164064" y="1119724"/>
            <a:ext cx="3682559" cy="523220"/>
            <a:chOff x="164064" y="1119724"/>
            <a:chExt cx="3682559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ACAE52F-E8E5-593A-1A1C-EFE6217484A3}"/>
                </a:ext>
              </a:extLst>
            </p:cNvPr>
            <p:cNvSpPr txBox="1"/>
            <p:nvPr/>
          </p:nvSpPr>
          <p:spPr>
            <a:xfrm>
              <a:off x="769499" y="1119724"/>
              <a:ext cx="307712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Step 2: MongoDB</a:t>
              </a:r>
              <a:endParaRPr lang="ko-KR" altLang="en-US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A82B2856-E01A-8BE3-8796-26B1B1A186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pic>
        <p:nvPicPr>
          <p:cNvPr id="9" name="그림 8">
            <a:extLst>
              <a:ext uri="{FF2B5EF4-FFF2-40B4-BE49-F238E27FC236}">
                <a16:creationId xmlns:a16="http://schemas.microsoft.com/office/drawing/2014/main" id="{94BA23A5-3954-47D3-9DA6-388A938120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48" y="1995396"/>
            <a:ext cx="9149877" cy="4507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95227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5EDF3-F372-3458-10A8-696C601CD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F8550829-3395-13AE-28BE-BE3621C31F3F}"/>
              </a:ext>
            </a:extLst>
          </p:cNvPr>
          <p:cNvGrpSpPr/>
          <p:nvPr/>
        </p:nvGrpSpPr>
        <p:grpSpPr>
          <a:xfrm>
            <a:off x="164064" y="1119724"/>
            <a:ext cx="5105128" cy="523220"/>
            <a:chOff x="164064" y="1119724"/>
            <a:chExt cx="5105128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ACAE52F-E8E5-593A-1A1C-EFE6217484A3}"/>
                </a:ext>
              </a:extLst>
            </p:cNvPr>
            <p:cNvSpPr txBox="1"/>
            <p:nvPr/>
          </p:nvSpPr>
          <p:spPr>
            <a:xfrm>
              <a:off x="769499" y="1119724"/>
              <a:ext cx="449969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Step 3: Python Virtual Env.</a:t>
              </a:r>
              <a:endParaRPr lang="ko-KR" altLang="en-US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A82B2856-E01A-8BE3-8796-26B1B1A186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E0C1362B-6ABE-4FB0-81ED-FD5820E74872}"/>
              </a:ext>
            </a:extLst>
          </p:cNvPr>
          <p:cNvSpPr txBox="1"/>
          <p:nvPr/>
        </p:nvSpPr>
        <p:spPr>
          <a:xfrm>
            <a:off x="668702" y="1715700"/>
            <a:ext cx="11420233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solidFill>
                  <a:srgbClr val="FF0000"/>
                </a:solidFill>
                <a:latin typeface="SF싸락눈" panose="02000503000000000000" pitchFamily="2" charset="-127"/>
                <a:ea typeface="SF싸락눈" panose="02000503000000000000" pitchFamily="2" charset="-127"/>
              </a:rPr>
              <a:t>1. Install python3-venv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85AB79C-FFE2-44E8-8E30-5AEDD12844BF}"/>
              </a:ext>
            </a:extLst>
          </p:cNvPr>
          <p:cNvSpPr txBox="1"/>
          <p:nvPr/>
        </p:nvSpPr>
        <p:spPr>
          <a:xfrm>
            <a:off x="819555" y="2207751"/>
            <a:ext cx="10514752" cy="448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b="1" dirty="0" err="1">
                <a:latin typeface="Pretendard Light" panose="02000403000000020004" pitchFamily="2" charset="-127"/>
                <a:ea typeface="Pretendard Light" panose="02000403000000020004" pitchFamily="2" charset="-127"/>
              </a:rPr>
              <a:t>sudo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 apt-get install –y python3-venv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229A83F-666C-46CB-92D7-A5AC38882FE8}"/>
              </a:ext>
            </a:extLst>
          </p:cNvPr>
          <p:cNvSpPr txBox="1"/>
          <p:nvPr/>
        </p:nvSpPr>
        <p:spPr>
          <a:xfrm>
            <a:off x="668702" y="3694279"/>
            <a:ext cx="11420233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solidFill>
                  <a:srgbClr val="FF0000"/>
                </a:solidFill>
                <a:latin typeface="SF싸락눈" panose="02000503000000000000" pitchFamily="2" charset="-127"/>
                <a:ea typeface="SF싸락눈" panose="02000503000000000000" pitchFamily="2" charset="-127"/>
              </a:rPr>
              <a:t>2. Create &amp; Activate the Environment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E31BD5C-56F7-41F4-8D8E-F73E22B5447E}"/>
              </a:ext>
            </a:extLst>
          </p:cNvPr>
          <p:cNvSpPr txBox="1"/>
          <p:nvPr/>
        </p:nvSpPr>
        <p:spPr>
          <a:xfrm>
            <a:off x="819555" y="4186330"/>
            <a:ext cx="10514752" cy="848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Python3 –m </a:t>
            </a:r>
            <a:r>
              <a:rPr lang="en-US" altLang="ko-KR" sz="2000" b="1" dirty="0" err="1">
                <a:latin typeface="Pretendard Light" panose="02000403000000020004" pitchFamily="2" charset="-127"/>
                <a:ea typeface="Pretendard Light" panose="02000403000000020004" pitchFamily="2" charset="-127"/>
              </a:rPr>
              <a:t>venv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 </a:t>
            </a:r>
            <a:r>
              <a:rPr lang="en-US" altLang="ko-KR" sz="2000" b="1" dirty="0" err="1">
                <a:latin typeface="Pretendard Light" panose="02000403000000020004" pitchFamily="2" charset="-127"/>
                <a:ea typeface="Pretendard Light" panose="02000403000000020004" pitchFamily="2" charset="-127"/>
              </a:rPr>
              <a:t>venv</a:t>
            </a:r>
            <a:endParaRPr lang="en-US" altLang="ko-KR" sz="2000" b="1" dirty="0">
              <a:latin typeface="Pretendard Light" panose="02000403000000020004" pitchFamily="2" charset="-127"/>
              <a:ea typeface="Pretendard Light" panose="02000403000000020004" pitchFamily="2" charset="-127"/>
            </a:endParaRP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Source </a:t>
            </a:r>
            <a:r>
              <a:rPr lang="en-US" altLang="ko-KR" sz="2000" b="1" dirty="0" err="1">
                <a:latin typeface="Pretendard Light" panose="02000403000000020004" pitchFamily="2" charset="-127"/>
                <a:ea typeface="Pretendard Light" panose="02000403000000020004" pitchFamily="2" charset="-127"/>
              </a:rPr>
              <a:t>venv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/bin/activate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F64CC55-6366-4A9D-BE77-BE0770C604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555" y="2742449"/>
            <a:ext cx="7897327" cy="885949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8A475E7E-1064-4A5E-A9E3-59DCD5DBFA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555" y="5158436"/>
            <a:ext cx="7392432" cy="1028844"/>
          </a:xfrm>
          <a:prstGeom prst="rect">
            <a:avLst/>
          </a:prstGeom>
        </p:spPr>
      </p:pic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8C76574D-2AD0-4C6C-B86B-29A4259C63D0}"/>
              </a:ext>
            </a:extLst>
          </p:cNvPr>
          <p:cNvCxnSpPr>
            <a:cxnSpLocks/>
          </p:cNvCxnSpPr>
          <p:nvPr/>
        </p:nvCxnSpPr>
        <p:spPr>
          <a:xfrm flipH="1" flipV="1">
            <a:off x="1245477" y="6243145"/>
            <a:ext cx="1450426" cy="2443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49DE673-920E-43B1-B40F-B52D35C5C80C}"/>
              </a:ext>
            </a:extLst>
          </p:cNvPr>
          <p:cNvSpPr/>
          <p:nvPr/>
        </p:nvSpPr>
        <p:spPr>
          <a:xfrm>
            <a:off x="819555" y="6030310"/>
            <a:ext cx="536279" cy="15697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418DC38-EFE1-4980-9289-73242456A22D}"/>
              </a:ext>
            </a:extLst>
          </p:cNvPr>
          <p:cNvSpPr txBox="1"/>
          <p:nvPr/>
        </p:nvSpPr>
        <p:spPr>
          <a:xfrm>
            <a:off x="2178783" y="6365327"/>
            <a:ext cx="3717519" cy="301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600" b="1" dirty="0">
                <a:solidFill>
                  <a:srgbClr val="C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</a:rPr>
              <a:t>Virtual Env. is activated.</a:t>
            </a:r>
          </a:p>
        </p:txBody>
      </p:sp>
    </p:spTree>
    <p:extLst>
      <p:ext uri="{BB962C8B-B14F-4D97-AF65-F5344CB8AC3E}">
        <p14:creationId xmlns:p14="http://schemas.microsoft.com/office/powerpoint/2010/main" val="343140271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5EDF3-F372-3458-10A8-696C601CD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F8550829-3395-13AE-28BE-BE3621C31F3F}"/>
              </a:ext>
            </a:extLst>
          </p:cNvPr>
          <p:cNvGrpSpPr/>
          <p:nvPr/>
        </p:nvGrpSpPr>
        <p:grpSpPr>
          <a:xfrm>
            <a:off x="164064" y="1119724"/>
            <a:ext cx="5105128" cy="523220"/>
            <a:chOff x="164064" y="1119724"/>
            <a:chExt cx="5105128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ACAE52F-E8E5-593A-1A1C-EFE6217484A3}"/>
                </a:ext>
              </a:extLst>
            </p:cNvPr>
            <p:cNvSpPr txBox="1"/>
            <p:nvPr/>
          </p:nvSpPr>
          <p:spPr>
            <a:xfrm>
              <a:off x="769499" y="1119724"/>
              <a:ext cx="449969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Step 3: Python Virtual Env.</a:t>
              </a:r>
              <a:endParaRPr lang="ko-KR" altLang="en-US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A82B2856-E01A-8BE3-8796-26B1B1A186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E0C1362B-6ABE-4FB0-81ED-FD5820E74872}"/>
              </a:ext>
            </a:extLst>
          </p:cNvPr>
          <p:cNvSpPr txBox="1"/>
          <p:nvPr/>
        </p:nvSpPr>
        <p:spPr>
          <a:xfrm>
            <a:off x="668702" y="2827174"/>
            <a:ext cx="11420233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solidFill>
                  <a:srgbClr val="FF0000"/>
                </a:solidFill>
                <a:latin typeface="SF싸락눈" panose="02000503000000000000" pitchFamily="2" charset="-127"/>
                <a:ea typeface="SF싸락눈" panose="02000503000000000000" pitchFamily="2" charset="-127"/>
              </a:rPr>
              <a:t>3. Install Python Dependencies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85AB79C-FFE2-44E8-8E30-5AEDD12844BF}"/>
              </a:ext>
            </a:extLst>
          </p:cNvPr>
          <p:cNvSpPr txBox="1"/>
          <p:nvPr/>
        </p:nvSpPr>
        <p:spPr>
          <a:xfrm>
            <a:off x="819555" y="3319225"/>
            <a:ext cx="10514752" cy="448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b="1" dirty="0"/>
              <a:t>pip install -r requirements.txt</a:t>
            </a:r>
            <a:endParaRPr lang="en-US" altLang="ko-KR" sz="2000" b="1" dirty="0">
              <a:latin typeface="Pretendard Light" panose="02000403000000020004" pitchFamily="2" charset="-127"/>
              <a:ea typeface="Pretendard Light" panose="02000403000000020004" pitchFamily="2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73C960F-69DB-4AC5-8B3B-2B30DAC5D45E}"/>
              </a:ext>
            </a:extLst>
          </p:cNvPr>
          <p:cNvSpPr txBox="1"/>
          <p:nvPr/>
        </p:nvSpPr>
        <p:spPr>
          <a:xfrm>
            <a:off x="668703" y="1715700"/>
            <a:ext cx="11265794" cy="1042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With the virtual env. active, install all the required Python libraries (like Flask, </a:t>
            </a:r>
            <a:r>
              <a:rPr lang="en-US" altLang="ko-KR" sz="2200" dirty="0" err="1">
                <a:latin typeface="SF싸락눈" panose="02000503000000000000" pitchFamily="2" charset="-127"/>
                <a:ea typeface="SF싸락눈" panose="02000503000000000000" pitchFamily="2" charset="-127"/>
              </a:rPr>
              <a:t>Scapy</a:t>
            </a: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, etc.) using the </a:t>
            </a:r>
            <a:r>
              <a:rPr lang="en-US" altLang="ko-KR" sz="2200" b="1" dirty="0">
                <a:latin typeface="SF싸락눈" panose="02000503000000000000" pitchFamily="2" charset="-127"/>
                <a:ea typeface="SF싸락눈" panose="02000503000000000000" pitchFamily="2" charset="-127"/>
              </a:rPr>
              <a:t>requirements.txt</a:t>
            </a: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 file 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6C7E6CA-A73C-426B-8E66-2E1100DFD1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857" y="3994253"/>
            <a:ext cx="8497486" cy="2448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3441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5EDF3-F372-3458-10A8-696C601CD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F8550829-3395-13AE-28BE-BE3621C31F3F}"/>
              </a:ext>
            </a:extLst>
          </p:cNvPr>
          <p:cNvGrpSpPr/>
          <p:nvPr/>
        </p:nvGrpSpPr>
        <p:grpSpPr>
          <a:xfrm>
            <a:off x="164064" y="1119724"/>
            <a:ext cx="6186835" cy="523220"/>
            <a:chOff x="164064" y="1119724"/>
            <a:chExt cx="6186835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ACAE52F-E8E5-593A-1A1C-EFE6217484A3}"/>
                </a:ext>
              </a:extLst>
            </p:cNvPr>
            <p:cNvSpPr txBox="1"/>
            <p:nvPr/>
          </p:nvSpPr>
          <p:spPr>
            <a:xfrm>
              <a:off x="769499" y="1119724"/>
              <a:ext cx="558140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Step 4: Start &amp; Enable MongoDB</a:t>
              </a:r>
              <a:endParaRPr lang="ko-KR" altLang="en-US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A82B2856-E01A-8BE3-8796-26B1B1A186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5C187AB7-073D-4808-899E-DB26804E11D2}"/>
              </a:ext>
            </a:extLst>
          </p:cNvPr>
          <p:cNvSpPr txBox="1"/>
          <p:nvPr/>
        </p:nvSpPr>
        <p:spPr>
          <a:xfrm>
            <a:off x="668702" y="1715700"/>
            <a:ext cx="11420233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solidFill>
                  <a:srgbClr val="FF0000"/>
                </a:solidFill>
                <a:latin typeface="SF싸락눈" panose="02000503000000000000" pitchFamily="2" charset="-127"/>
                <a:ea typeface="SF싸락눈" panose="02000503000000000000" pitchFamily="2" charset="-127"/>
              </a:rPr>
              <a:t>1. Start and Enable the Service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A38C78-8AB3-415B-B9E7-7E8992957644}"/>
              </a:ext>
            </a:extLst>
          </p:cNvPr>
          <p:cNvSpPr txBox="1"/>
          <p:nvPr/>
        </p:nvSpPr>
        <p:spPr>
          <a:xfrm>
            <a:off x="819555" y="2207751"/>
            <a:ext cx="10514752" cy="848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b="1" dirty="0" err="1">
                <a:latin typeface="Pretendard Light" panose="02000403000000020004" pitchFamily="2" charset="-127"/>
                <a:ea typeface="Pretendard Light" panose="02000403000000020004" pitchFamily="2" charset="-127"/>
              </a:rPr>
              <a:t>sudo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 </a:t>
            </a:r>
            <a:r>
              <a:rPr lang="en-US" altLang="ko-KR" sz="2000" b="1" dirty="0" err="1">
                <a:latin typeface="Pretendard Light" panose="02000403000000020004" pitchFamily="2" charset="-127"/>
                <a:ea typeface="Pretendard Light" panose="02000403000000020004" pitchFamily="2" charset="-127"/>
              </a:rPr>
              <a:t>systemctl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 start </a:t>
            </a:r>
            <a:r>
              <a:rPr lang="en-US" altLang="ko-KR" sz="2000" b="1" dirty="0" err="1">
                <a:latin typeface="Pretendard Light" panose="02000403000000020004" pitchFamily="2" charset="-127"/>
                <a:ea typeface="Pretendard Light" panose="02000403000000020004" pitchFamily="2" charset="-127"/>
              </a:rPr>
              <a:t>mongod</a:t>
            </a:r>
            <a:endParaRPr lang="en-US" altLang="ko-KR" sz="2000" b="1" dirty="0">
              <a:latin typeface="Pretendard Light" panose="02000403000000020004" pitchFamily="2" charset="-127"/>
              <a:ea typeface="Pretendard Light" panose="02000403000000020004" pitchFamily="2" charset="-127"/>
            </a:endParaRP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b="1" dirty="0" err="1">
                <a:latin typeface="Pretendard Light" panose="02000403000000020004" pitchFamily="2" charset="-127"/>
                <a:ea typeface="Pretendard Light" panose="02000403000000020004" pitchFamily="2" charset="-127"/>
              </a:rPr>
              <a:t>sudo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 </a:t>
            </a:r>
            <a:r>
              <a:rPr lang="en-US" altLang="ko-KR" sz="2000" b="1" dirty="0" err="1">
                <a:latin typeface="Pretendard Light" panose="02000403000000020004" pitchFamily="2" charset="-127"/>
                <a:ea typeface="Pretendard Light" panose="02000403000000020004" pitchFamily="2" charset="-127"/>
              </a:rPr>
              <a:t>systemctl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 enable </a:t>
            </a:r>
            <a:r>
              <a:rPr lang="en-US" altLang="ko-KR" sz="2000" b="1" dirty="0" err="1">
                <a:latin typeface="Pretendard Light" panose="02000403000000020004" pitchFamily="2" charset="-127"/>
                <a:ea typeface="Pretendard Light" panose="02000403000000020004" pitchFamily="2" charset="-127"/>
              </a:rPr>
              <a:t>mongod</a:t>
            </a:r>
            <a:endParaRPr lang="en-US" altLang="ko-KR" sz="2000" b="1" dirty="0">
              <a:latin typeface="Pretendard Light" panose="02000403000000020004" pitchFamily="2" charset="-127"/>
              <a:ea typeface="Pretendard Light" panose="02000403000000020004" pitchFamily="2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B3CDA6C-C144-481F-857F-9F11996395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808" y="3241560"/>
            <a:ext cx="7935432" cy="847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44946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5EDF3-F372-3458-10A8-696C601CD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F8550829-3395-13AE-28BE-BE3621C31F3F}"/>
              </a:ext>
            </a:extLst>
          </p:cNvPr>
          <p:cNvGrpSpPr/>
          <p:nvPr/>
        </p:nvGrpSpPr>
        <p:grpSpPr>
          <a:xfrm>
            <a:off x="164064" y="1119724"/>
            <a:ext cx="4359027" cy="523220"/>
            <a:chOff x="164064" y="1119724"/>
            <a:chExt cx="4359027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ACAE52F-E8E5-593A-1A1C-EFE6217484A3}"/>
                </a:ext>
              </a:extLst>
            </p:cNvPr>
            <p:cNvSpPr txBox="1"/>
            <p:nvPr/>
          </p:nvSpPr>
          <p:spPr>
            <a:xfrm>
              <a:off x="769499" y="1119724"/>
              <a:ext cx="375359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Step 5: Generate Keys</a:t>
              </a:r>
              <a:endParaRPr lang="ko-KR" altLang="en-US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A82B2856-E01A-8BE3-8796-26B1B1A186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5C187AB7-073D-4808-899E-DB26804E11D2}"/>
              </a:ext>
            </a:extLst>
          </p:cNvPr>
          <p:cNvSpPr txBox="1"/>
          <p:nvPr/>
        </p:nvSpPr>
        <p:spPr>
          <a:xfrm>
            <a:off x="668702" y="1715700"/>
            <a:ext cx="11420233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solidFill>
                  <a:srgbClr val="FF0000"/>
                </a:solidFill>
                <a:latin typeface="SF싸락눈" panose="02000503000000000000" pitchFamily="2" charset="-127"/>
                <a:ea typeface="SF싸락눈" panose="02000503000000000000" pitchFamily="2" charset="-127"/>
              </a:rPr>
              <a:t>1. Generate Security Key &amp; Admin Account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A38C78-8AB3-415B-B9E7-7E8992957644}"/>
              </a:ext>
            </a:extLst>
          </p:cNvPr>
          <p:cNvSpPr txBox="1"/>
          <p:nvPr/>
        </p:nvSpPr>
        <p:spPr>
          <a:xfrm>
            <a:off x="819555" y="2207751"/>
            <a:ext cx="10514752" cy="448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python3 src/key_manager.py generate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626B7A2-5822-4E5F-9042-75BE0C7531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9991" y="2771816"/>
            <a:ext cx="6703223" cy="139457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CFFCEE8-EC8A-4378-896E-C875A4DB595B}"/>
              </a:ext>
            </a:extLst>
          </p:cNvPr>
          <p:cNvSpPr txBox="1"/>
          <p:nvPr/>
        </p:nvSpPr>
        <p:spPr>
          <a:xfrm>
            <a:off x="668702" y="4317018"/>
            <a:ext cx="11420233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solidFill>
                  <a:srgbClr val="FF0000"/>
                </a:solidFill>
                <a:latin typeface="SF싸락눈" panose="02000503000000000000" pitchFamily="2" charset="-127"/>
                <a:ea typeface="SF싸락눈" panose="02000503000000000000" pitchFamily="2" charset="-127"/>
              </a:rPr>
              <a:t>2. Check Password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FCB9807-91C9-432D-98DE-4FFCE5E4C09A}"/>
              </a:ext>
            </a:extLst>
          </p:cNvPr>
          <p:cNvSpPr txBox="1"/>
          <p:nvPr/>
        </p:nvSpPr>
        <p:spPr>
          <a:xfrm>
            <a:off x="819555" y="4809069"/>
            <a:ext cx="10514752" cy="448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cat keys/admin_credentials.txt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94B799C5-7309-42F3-9A75-FF042EBE6F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9991" y="5323507"/>
            <a:ext cx="7783011" cy="1181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530319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5EDF3-F372-3458-10A8-696C601CD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F8550829-3395-13AE-28BE-BE3621C31F3F}"/>
              </a:ext>
            </a:extLst>
          </p:cNvPr>
          <p:cNvGrpSpPr/>
          <p:nvPr/>
        </p:nvGrpSpPr>
        <p:grpSpPr>
          <a:xfrm>
            <a:off x="164064" y="1119724"/>
            <a:ext cx="4629935" cy="523220"/>
            <a:chOff x="164064" y="1119724"/>
            <a:chExt cx="4629935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ACAE52F-E8E5-593A-1A1C-EFE6217484A3}"/>
                </a:ext>
              </a:extLst>
            </p:cNvPr>
            <p:cNvSpPr txBox="1"/>
            <p:nvPr/>
          </p:nvSpPr>
          <p:spPr>
            <a:xfrm>
              <a:off x="769499" y="1119724"/>
              <a:ext cx="402450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Step 6: Run Application</a:t>
              </a:r>
              <a:endParaRPr lang="ko-KR" altLang="en-US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A82B2856-E01A-8BE3-8796-26B1B1A186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5C187AB7-073D-4808-899E-DB26804E11D2}"/>
              </a:ext>
            </a:extLst>
          </p:cNvPr>
          <p:cNvSpPr txBox="1"/>
          <p:nvPr/>
        </p:nvSpPr>
        <p:spPr>
          <a:xfrm>
            <a:off x="668702" y="1715700"/>
            <a:ext cx="11420233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solidFill>
                  <a:srgbClr val="FF0000"/>
                </a:solidFill>
                <a:latin typeface="SF싸락눈" panose="02000503000000000000" pitchFamily="2" charset="-127"/>
                <a:ea typeface="SF싸락눈" panose="02000503000000000000" pitchFamily="2" charset="-127"/>
              </a:rPr>
              <a:t>1. Run the Web Application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A38C78-8AB3-415B-B9E7-7E8992957644}"/>
              </a:ext>
            </a:extLst>
          </p:cNvPr>
          <p:cNvSpPr txBox="1"/>
          <p:nvPr/>
        </p:nvSpPr>
        <p:spPr>
          <a:xfrm>
            <a:off x="819555" y="2207751"/>
            <a:ext cx="10514752" cy="448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b="1" dirty="0" err="1">
                <a:latin typeface="Pretendard Light" panose="02000403000000020004" pitchFamily="2" charset="-127"/>
                <a:ea typeface="Pretendard Light" panose="02000403000000020004" pitchFamily="2" charset="-127"/>
              </a:rPr>
              <a:t>sudo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 python3 src/web_app.py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68C91B8-6983-47FD-8296-A74B52D19C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9744" y="2823940"/>
            <a:ext cx="6309691" cy="3615755"/>
          </a:xfrm>
          <a:prstGeom prst="rect">
            <a:avLst/>
          </a:prstGeom>
        </p:spPr>
      </p:pic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3EE286A5-514B-4A58-9640-5D2BF51E9117}"/>
              </a:ext>
            </a:extLst>
          </p:cNvPr>
          <p:cNvCxnSpPr>
            <a:cxnSpLocks/>
          </p:cNvCxnSpPr>
          <p:nvPr/>
        </p:nvCxnSpPr>
        <p:spPr>
          <a:xfrm flipH="1">
            <a:off x="3716012" y="3786702"/>
            <a:ext cx="4253457" cy="83114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835B8EC-ACC4-4FE8-8499-88DB6161FBF4}"/>
              </a:ext>
            </a:extLst>
          </p:cNvPr>
          <p:cNvSpPr/>
          <p:nvPr/>
        </p:nvSpPr>
        <p:spPr>
          <a:xfrm>
            <a:off x="1087569" y="4553332"/>
            <a:ext cx="2530617" cy="12902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03D7FAD-D032-4BD9-AB0E-BAE74E6292EC}"/>
              </a:ext>
            </a:extLst>
          </p:cNvPr>
          <p:cNvSpPr txBox="1"/>
          <p:nvPr/>
        </p:nvSpPr>
        <p:spPr>
          <a:xfrm>
            <a:off x="7157546" y="3618841"/>
            <a:ext cx="3047999" cy="301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600" b="1" dirty="0">
                <a:solidFill>
                  <a:srgbClr val="C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</a:rPr>
              <a:t>Ctrl+{Click}</a:t>
            </a:r>
          </a:p>
        </p:txBody>
      </p:sp>
    </p:spTree>
    <p:extLst>
      <p:ext uri="{BB962C8B-B14F-4D97-AF65-F5344CB8AC3E}">
        <p14:creationId xmlns:p14="http://schemas.microsoft.com/office/powerpoint/2010/main" val="335370372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5EDF3-F372-3458-10A8-696C601CD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6686ABB-3A03-40E2-A2CE-2A8A9BD462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788" y="2512637"/>
            <a:ext cx="5354796" cy="3923635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F8550829-3395-13AE-28BE-BE3621C31F3F}"/>
              </a:ext>
            </a:extLst>
          </p:cNvPr>
          <p:cNvGrpSpPr/>
          <p:nvPr/>
        </p:nvGrpSpPr>
        <p:grpSpPr>
          <a:xfrm>
            <a:off x="164064" y="1119724"/>
            <a:ext cx="5898231" cy="523220"/>
            <a:chOff x="164064" y="1119724"/>
            <a:chExt cx="5898231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ACAE52F-E8E5-593A-1A1C-EFE6217484A3}"/>
                </a:ext>
              </a:extLst>
            </p:cNvPr>
            <p:cNvSpPr txBox="1"/>
            <p:nvPr/>
          </p:nvSpPr>
          <p:spPr>
            <a:xfrm>
              <a:off x="769499" y="1119724"/>
              <a:ext cx="529279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Step 6: Access to the Webpage</a:t>
              </a:r>
              <a:endParaRPr lang="ko-KR" altLang="en-US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A82B2856-E01A-8BE3-8796-26B1B1A1869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5C187AB7-073D-4808-899E-DB26804E11D2}"/>
              </a:ext>
            </a:extLst>
          </p:cNvPr>
          <p:cNvSpPr txBox="1"/>
          <p:nvPr/>
        </p:nvSpPr>
        <p:spPr>
          <a:xfrm>
            <a:off x="668702" y="1715700"/>
            <a:ext cx="11420233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5"/>
              </a:buBlip>
              <a:tabLst>
                <a:tab pos="269875" algn="l"/>
              </a:tabLst>
            </a:pPr>
            <a:r>
              <a:rPr lang="en-US" altLang="ko-KR" sz="2200" dirty="0">
                <a:solidFill>
                  <a:srgbClr val="FF0000"/>
                </a:solidFill>
                <a:latin typeface="SF싸락눈" panose="02000503000000000000" pitchFamily="2" charset="-127"/>
                <a:ea typeface="SF싸락눈" panose="02000503000000000000" pitchFamily="2" charset="-127"/>
              </a:rPr>
              <a:t>1. Run the Web Application</a:t>
            </a: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3EE286A5-514B-4A58-9640-5D2BF51E9117}"/>
              </a:ext>
            </a:extLst>
          </p:cNvPr>
          <p:cNvCxnSpPr>
            <a:cxnSpLocks/>
          </p:cNvCxnSpPr>
          <p:nvPr/>
        </p:nvCxnSpPr>
        <p:spPr>
          <a:xfrm flipH="1">
            <a:off x="2159876" y="3786702"/>
            <a:ext cx="5809594" cy="210520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835B8EC-ACC4-4FE8-8499-88DB6161FBF4}"/>
              </a:ext>
            </a:extLst>
          </p:cNvPr>
          <p:cNvSpPr/>
          <p:nvPr/>
        </p:nvSpPr>
        <p:spPr>
          <a:xfrm>
            <a:off x="1300405" y="5891910"/>
            <a:ext cx="741230" cy="3433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03D7FAD-D032-4BD9-AB0E-BAE74E6292EC}"/>
              </a:ext>
            </a:extLst>
          </p:cNvPr>
          <p:cNvSpPr txBox="1"/>
          <p:nvPr/>
        </p:nvSpPr>
        <p:spPr>
          <a:xfrm>
            <a:off x="6905298" y="3635891"/>
            <a:ext cx="3047999" cy="301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600" b="1" dirty="0">
                <a:solidFill>
                  <a:srgbClr val="C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</a:rPr>
              <a:t>Click</a:t>
            </a:r>
          </a:p>
        </p:txBody>
      </p:sp>
    </p:spTree>
    <p:extLst>
      <p:ext uri="{BB962C8B-B14F-4D97-AF65-F5344CB8AC3E}">
        <p14:creationId xmlns:p14="http://schemas.microsoft.com/office/powerpoint/2010/main" val="150125575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5EDF3-F372-3458-10A8-696C601CD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8B5B91CA-053B-46EB-A6AF-DAC2384AE5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977" y="1903644"/>
            <a:ext cx="4981317" cy="4512665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F8550829-3395-13AE-28BE-BE3621C31F3F}"/>
              </a:ext>
            </a:extLst>
          </p:cNvPr>
          <p:cNvGrpSpPr/>
          <p:nvPr/>
        </p:nvGrpSpPr>
        <p:grpSpPr>
          <a:xfrm>
            <a:off x="164064" y="1119724"/>
            <a:ext cx="5898231" cy="523220"/>
            <a:chOff x="164064" y="1119724"/>
            <a:chExt cx="5898231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ACAE52F-E8E5-593A-1A1C-EFE6217484A3}"/>
                </a:ext>
              </a:extLst>
            </p:cNvPr>
            <p:cNvSpPr txBox="1"/>
            <p:nvPr/>
          </p:nvSpPr>
          <p:spPr>
            <a:xfrm>
              <a:off x="769499" y="1119724"/>
              <a:ext cx="529279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Step 6: Access to the Webpage</a:t>
              </a:r>
              <a:endParaRPr lang="ko-KR" altLang="en-US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A82B2856-E01A-8BE3-8796-26B1B1A1869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3EE286A5-514B-4A58-9640-5D2BF51E9117}"/>
              </a:ext>
            </a:extLst>
          </p:cNvPr>
          <p:cNvCxnSpPr>
            <a:cxnSpLocks/>
          </p:cNvCxnSpPr>
          <p:nvPr/>
        </p:nvCxnSpPr>
        <p:spPr>
          <a:xfrm flipH="1">
            <a:off x="2899564" y="3786702"/>
            <a:ext cx="5069907" cy="229904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835B8EC-ACC4-4FE8-8499-88DB6161FBF4}"/>
              </a:ext>
            </a:extLst>
          </p:cNvPr>
          <p:cNvSpPr/>
          <p:nvPr/>
        </p:nvSpPr>
        <p:spPr>
          <a:xfrm>
            <a:off x="1253108" y="6085745"/>
            <a:ext cx="1474325" cy="26775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03D7FAD-D032-4BD9-AB0E-BAE74E6292EC}"/>
              </a:ext>
            </a:extLst>
          </p:cNvPr>
          <p:cNvSpPr txBox="1"/>
          <p:nvPr/>
        </p:nvSpPr>
        <p:spPr>
          <a:xfrm>
            <a:off x="6905298" y="3635891"/>
            <a:ext cx="3047999" cy="301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600" b="1" dirty="0">
                <a:solidFill>
                  <a:srgbClr val="C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</a:rPr>
              <a:t>Click</a:t>
            </a:r>
          </a:p>
        </p:txBody>
      </p:sp>
    </p:spTree>
    <p:extLst>
      <p:ext uri="{BB962C8B-B14F-4D97-AF65-F5344CB8AC3E}">
        <p14:creationId xmlns:p14="http://schemas.microsoft.com/office/powerpoint/2010/main" val="184464376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5EDF3-F372-3458-10A8-696C601CD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F8550829-3395-13AE-28BE-BE3621C31F3F}"/>
              </a:ext>
            </a:extLst>
          </p:cNvPr>
          <p:cNvGrpSpPr/>
          <p:nvPr/>
        </p:nvGrpSpPr>
        <p:grpSpPr>
          <a:xfrm>
            <a:off x="164064" y="1119724"/>
            <a:ext cx="5898231" cy="523220"/>
            <a:chOff x="164064" y="1119724"/>
            <a:chExt cx="5898231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ACAE52F-E8E5-593A-1A1C-EFE6217484A3}"/>
                </a:ext>
              </a:extLst>
            </p:cNvPr>
            <p:cNvSpPr txBox="1"/>
            <p:nvPr/>
          </p:nvSpPr>
          <p:spPr>
            <a:xfrm>
              <a:off x="769499" y="1119724"/>
              <a:ext cx="529279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Step 6: Access to the Webpage</a:t>
              </a:r>
              <a:endParaRPr lang="ko-KR" altLang="en-US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A82B2856-E01A-8BE3-8796-26B1B1A186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pic>
        <p:nvPicPr>
          <p:cNvPr id="3" name="그림 2">
            <a:extLst>
              <a:ext uri="{FF2B5EF4-FFF2-40B4-BE49-F238E27FC236}">
                <a16:creationId xmlns:a16="http://schemas.microsoft.com/office/drawing/2014/main" id="{BDD77345-68E6-4FD9-95EC-26FA3099C0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874301"/>
            <a:ext cx="5315692" cy="454405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96E9A05-1A5F-4976-BE05-10AB9EEA7A36}"/>
              </a:ext>
            </a:extLst>
          </p:cNvPr>
          <p:cNvSpPr txBox="1"/>
          <p:nvPr/>
        </p:nvSpPr>
        <p:spPr>
          <a:xfrm>
            <a:off x="668702" y="1715700"/>
            <a:ext cx="11420233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5"/>
              </a:buBlip>
              <a:tabLst>
                <a:tab pos="269875" algn="l"/>
              </a:tabLst>
            </a:pPr>
            <a:r>
              <a:rPr lang="en-US" altLang="ko-KR" sz="2200" dirty="0">
                <a:solidFill>
                  <a:srgbClr val="FF0000"/>
                </a:solidFill>
                <a:latin typeface="SF싸락눈" panose="02000503000000000000" pitchFamily="2" charset="-127"/>
                <a:ea typeface="SF싸락눈" panose="02000503000000000000" pitchFamily="2" charset="-127"/>
              </a:rPr>
              <a:t>1. Log in with Username &amp; Password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F000F94-CABF-45BD-AAA7-CF4A47F2B3AB}"/>
              </a:ext>
            </a:extLst>
          </p:cNvPr>
          <p:cNvSpPr txBox="1"/>
          <p:nvPr/>
        </p:nvSpPr>
        <p:spPr>
          <a:xfrm>
            <a:off x="819555" y="2207751"/>
            <a:ext cx="10514752" cy="848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Username: admin</a:t>
            </a: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Password: admin123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89EC5CB-58A0-41A8-8836-D5B59768F46E}"/>
              </a:ext>
            </a:extLst>
          </p:cNvPr>
          <p:cNvSpPr txBox="1"/>
          <p:nvPr/>
        </p:nvSpPr>
        <p:spPr>
          <a:xfrm>
            <a:off x="668702" y="4852073"/>
            <a:ext cx="5315692" cy="15503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5"/>
              </a:buBlip>
              <a:tabLst>
                <a:tab pos="269875" algn="l"/>
              </a:tabLst>
            </a:pP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Now, let’s dive into the detailed features of the tool and how to use them in </a:t>
            </a:r>
            <a:r>
              <a:rPr lang="en-US" altLang="ko-KR" sz="2200" b="1" dirty="0">
                <a:latin typeface="SF싸락눈" panose="02000503000000000000" pitchFamily="2" charset="-127"/>
                <a:ea typeface="SF싸락눈" panose="02000503000000000000" pitchFamily="2" charset="-127"/>
              </a:rPr>
              <a:t>next section.</a:t>
            </a:r>
          </a:p>
        </p:txBody>
      </p:sp>
    </p:spTree>
    <p:extLst>
      <p:ext uri="{BB962C8B-B14F-4D97-AF65-F5344CB8AC3E}">
        <p14:creationId xmlns:p14="http://schemas.microsoft.com/office/powerpoint/2010/main" val="41646698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6272EFE-19CA-7357-CA3D-A47E6988B1F1}"/>
              </a:ext>
            </a:extLst>
          </p:cNvPr>
          <p:cNvSpPr txBox="1"/>
          <p:nvPr/>
        </p:nvSpPr>
        <p:spPr>
          <a:xfrm>
            <a:off x="3481589" y="3121672"/>
            <a:ext cx="5580117" cy="6146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4500"/>
              </a:lnSpc>
            </a:pPr>
            <a:r>
              <a:rPr lang="en-US" altLang="ko-KR" sz="3200" dirty="0">
                <a:latin typeface="강원교육튼튼" panose="02020603020101020101" pitchFamily="18" charset="-127"/>
                <a:ea typeface="강원교육튼튼" panose="02020603020101020101" pitchFamily="18" charset="-127"/>
              </a:rPr>
              <a:t>Dashboard and Observation </a:t>
            </a:r>
          </a:p>
        </p:txBody>
      </p:sp>
    </p:spTree>
    <p:extLst>
      <p:ext uri="{BB962C8B-B14F-4D97-AF65-F5344CB8AC3E}">
        <p14:creationId xmlns:p14="http://schemas.microsoft.com/office/powerpoint/2010/main" val="279949402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C0D9F-11F6-B511-8366-E176B9158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64F98910-3B41-8F94-6233-C903BEF90B48}"/>
              </a:ext>
            </a:extLst>
          </p:cNvPr>
          <p:cNvGrpSpPr/>
          <p:nvPr/>
        </p:nvGrpSpPr>
        <p:grpSpPr>
          <a:xfrm>
            <a:off x="164064" y="1119724"/>
            <a:ext cx="8690212" cy="523220"/>
            <a:chOff x="164064" y="1119724"/>
            <a:chExt cx="8690212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5DEF75A-2EEA-7942-1913-401F7DF01287}"/>
                </a:ext>
              </a:extLst>
            </p:cNvPr>
            <p:cNvSpPr txBox="1"/>
            <p:nvPr/>
          </p:nvSpPr>
          <p:spPr>
            <a:xfrm>
              <a:off x="769499" y="1119724"/>
              <a:ext cx="808477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Dashboard Overview: Visualizing Network Traffic</a:t>
              </a:r>
              <a:endParaRPr lang="ko-KR" altLang="en-US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60EC06A3-F416-E1A7-1DB3-79C28D68E8B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pic>
        <p:nvPicPr>
          <p:cNvPr id="38" name="그림 37">
            <a:extLst>
              <a:ext uri="{FF2B5EF4-FFF2-40B4-BE49-F238E27FC236}">
                <a16:creationId xmlns:a16="http://schemas.microsoft.com/office/drawing/2014/main" id="{1F92D30D-1BFF-4D1E-957A-5B1DB8FE821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7684"/>
          <a:stretch/>
        </p:blipFill>
        <p:spPr>
          <a:xfrm>
            <a:off x="2704734" y="1816410"/>
            <a:ext cx="6782532" cy="4735929"/>
          </a:xfrm>
          <a:prstGeom prst="rect">
            <a:avLst/>
          </a:prstGeom>
        </p:spPr>
      </p:pic>
      <p:pic>
        <p:nvPicPr>
          <p:cNvPr id="8" name="그래픽 16">
            <a:extLst>
              <a:ext uri="{FF2B5EF4-FFF2-40B4-BE49-F238E27FC236}">
                <a16:creationId xmlns:a16="http://schemas.microsoft.com/office/drawing/2014/main" id="{626A9D47-05ED-4582-A783-E49C50758D8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0800000">
            <a:off x="8832064" y="1230740"/>
            <a:ext cx="1310404" cy="82440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60F5A7C-8F7D-4F91-98CC-6731E597073D}"/>
              </a:ext>
            </a:extLst>
          </p:cNvPr>
          <p:cNvSpPr txBox="1"/>
          <p:nvPr/>
        </p:nvSpPr>
        <p:spPr>
          <a:xfrm>
            <a:off x="9750737" y="1738153"/>
            <a:ext cx="2089910" cy="5109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600" b="1" dirty="0">
                <a:solidFill>
                  <a:srgbClr val="C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</a:rPr>
              <a:t>Start Button for </a:t>
            </a:r>
          </a:p>
          <a:p>
            <a:pPr algn="ctr">
              <a:lnSpc>
                <a:spcPct val="85000"/>
              </a:lnSpc>
            </a:pPr>
            <a:r>
              <a:rPr lang="en-US" sz="1600" b="1" dirty="0">
                <a:solidFill>
                  <a:srgbClr val="C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</a:rPr>
              <a:t>Packet Capturing</a:t>
            </a:r>
          </a:p>
        </p:txBody>
      </p:sp>
      <p:pic>
        <p:nvPicPr>
          <p:cNvPr id="10" name="그래픽 16">
            <a:extLst>
              <a:ext uri="{FF2B5EF4-FFF2-40B4-BE49-F238E27FC236}">
                <a16:creationId xmlns:a16="http://schemas.microsoft.com/office/drawing/2014/main" id="{BC67886C-1A37-4095-9AF8-88563F4269F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97803" y="2113813"/>
            <a:ext cx="3119153" cy="82440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774B333-EF67-4E5E-AE3B-FCB52AFAA7AF}"/>
              </a:ext>
            </a:extLst>
          </p:cNvPr>
          <p:cNvSpPr txBox="1"/>
          <p:nvPr/>
        </p:nvSpPr>
        <p:spPr>
          <a:xfrm>
            <a:off x="821129" y="2180003"/>
            <a:ext cx="2089910" cy="301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600" b="1" dirty="0">
                <a:solidFill>
                  <a:srgbClr val="C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</a:rPr>
              <a:t>Menu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BD8F004-0E26-4E17-B9DE-66B6F8E2C7CB}"/>
              </a:ext>
            </a:extLst>
          </p:cNvPr>
          <p:cNvSpPr/>
          <p:nvPr/>
        </p:nvSpPr>
        <p:spPr>
          <a:xfrm>
            <a:off x="2743200" y="2420360"/>
            <a:ext cx="6705600" cy="404243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3" name="그래픽 16">
            <a:extLst>
              <a:ext uri="{FF2B5EF4-FFF2-40B4-BE49-F238E27FC236}">
                <a16:creationId xmlns:a16="http://schemas.microsoft.com/office/drawing/2014/main" id="{172153CF-43EC-4BD0-8640-3E28591B646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3875041">
            <a:off x="9647754" y="3661483"/>
            <a:ext cx="1310404" cy="82440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9F568D9-7392-4F95-8843-DDF43C024110}"/>
              </a:ext>
            </a:extLst>
          </p:cNvPr>
          <p:cNvSpPr txBox="1"/>
          <p:nvPr/>
        </p:nvSpPr>
        <p:spPr>
          <a:xfrm>
            <a:off x="9624167" y="4654419"/>
            <a:ext cx="2089910" cy="5109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600" b="1" dirty="0">
                <a:solidFill>
                  <a:srgbClr val="C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</a:rPr>
              <a:t>Main Contents of Dashboard</a:t>
            </a:r>
          </a:p>
        </p:txBody>
      </p:sp>
    </p:spTree>
    <p:extLst>
      <p:ext uri="{BB962C8B-B14F-4D97-AF65-F5344CB8AC3E}">
        <p14:creationId xmlns:p14="http://schemas.microsoft.com/office/powerpoint/2010/main" val="210454934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C0D9F-11F6-B511-8366-E176B9158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64F98910-3B41-8F94-6233-C903BEF90B48}"/>
              </a:ext>
            </a:extLst>
          </p:cNvPr>
          <p:cNvGrpSpPr/>
          <p:nvPr/>
        </p:nvGrpSpPr>
        <p:grpSpPr>
          <a:xfrm>
            <a:off x="164064" y="1119724"/>
            <a:ext cx="6206007" cy="523220"/>
            <a:chOff x="164064" y="1119724"/>
            <a:chExt cx="6206007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5DEF75A-2EEA-7942-1913-401F7DF01287}"/>
                </a:ext>
              </a:extLst>
            </p:cNvPr>
            <p:cNvSpPr txBox="1"/>
            <p:nvPr/>
          </p:nvSpPr>
          <p:spPr>
            <a:xfrm>
              <a:off x="769499" y="1119724"/>
              <a:ext cx="560057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Three Key Features: A Quick Tour</a:t>
              </a:r>
              <a:endParaRPr lang="ko-KR" altLang="en-US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60EC06A3-F416-E1A7-1DB3-79C28D68E8B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pic>
        <p:nvPicPr>
          <p:cNvPr id="38" name="그림 37">
            <a:extLst>
              <a:ext uri="{FF2B5EF4-FFF2-40B4-BE49-F238E27FC236}">
                <a16:creationId xmlns:a16="http://schemas.microsoft.com/office/drawing/2014/main" id="{1F92D30D-1BFF-4D1E-957A-5B1DB8FE821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8108" t="7323" r="47300" b="87542"/>
          <a:stretch/>
        </p:blipFill>
        <p:spPr>
          <a:xfrm>
            <a:off x="1955359" y="5863525"/>
            <a:ext cx="8243144" cy="71808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C76B42C-03EA-4EEE-9098-6F0AD5EFD748}"/>
              </a:ext>
            </a:extLst>
          </p:cNvPr>
          <p:cNvSpPr txBox="1"/>
          <p:nvPr/>
        </p:nvSpPr>
        <p:spPr>
          <a:xfrm>
            <a:off x="668703" y="1572160"/>
            <a:ext cx="11042850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5"/>
              </a:buBlip>
              <a:tabLst>
                <a:tab pos="269875" algn="l"/>
              </a:tabLst>
            </a:pP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Dashboard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F1C0E66-7F3A-4EDD-BCB6-D756373A88DA}"/>
              </a:ext>
            </a:extLst>
          </p:cNvPr>
          <p:cNvSpPr txBox="1"/>
          <p:nvPr/>
        </p:nvSpPr>
        <p:spPr>
          <a:xfrm>
            <a:off x="668703" y="2982511"/>
            <a:ext cx="11042850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5"/>
              </a:buBlip>
              <a:tabLst>
                <a:tab pos="269875" algn="l"/>
              </a:tabLst>
            </a:pP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Traffic Monitor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F45365E-21F7-4A9D-8A45-1557894EF6DB}"/>
              </a:ext>
            </a:extLst>
          </p:cNvPr>
          <p:cNvSpPr txBox="1"/>
          <p:nvPr/>
        </p:nvSpPr>
        <p:spPr>
          <a:xfrm>
            <a:off x="668703" y="4315361"/>
            <a:ext cx="11042850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5"/>
              </a:buBlip>
              <a:tabLst>
                <a:tab pos="269875" algn="l"/>
              </a:tabLst>
            </a:pP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Admin Panel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56F398F-3E4A-47C6-BBFF-33642DD17B07}"/>
              </a:ext>
            </a:extLst>
          </p:cNvPr>
          <p:cNvSpPr txBox="1"/>
          <p:nvPr/>
        </p:nvSpPr>
        <p:spPr>
          <a:xfrm>
            <a:off x="819555" y="2045332"/>
            <a:ext cx="10514752" cy="848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A visual summary page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 to understand the network’s overall status and traffic patterns at a glance through graphs and charts.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16F429B-75C9-4D2E-A103-FDAC120BB50D}"/>
              </a:ext>
            </a:extLst>
          </p:cNvPr>
          <p:cNvSpPr txBox="1"/>
          <p:nvPr/>
        </p:nvSpPr>
        <p:spPr>
          <a:xfrm>
            <a:off x="819555" y="3435018"/>
            <a:ext cx="10514752" cy="848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A detailed investigation tool to troubleshoot network issues by 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searching and analyzing specific packets with filtering.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89F0B79-57C8-4BE7-A3AB-CA01D5D61743}"/>
              </a:ext>
            </a:extLst>
          </p:cNvPr>
          <p:cNvSpPr txBox="1"/>
          <p:nvPr/>
        </p:nvSpPr>
        <p:spPr>
          <a:xfrm>
            <a:off x="819555" y="4809198"/>
            <a:ext cx="10514752" cy="848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An admin-only page to control user access and manage the system’s overall 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status and security.</a:t>
            </a:r>
          </a:p>
        </p:txBody>
      </p:sp>
    </p:spTree>
    <p:extLst>
      <p:ext uri="{BB962C8B-B14F-4D97-AF65-F5344CB8AC3E}">
        <p14:creationId xmlns:p14="http://schemas.microsoft.com/office/powerpoint/2010/main" val="304850133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6272EFE-19CA-7357-CA3D-A47E6988B1F1}"/>
              </a:ext>
            </a:extLst>
          </p:cNvPr>
          <p:cNvSpPr txBox="1"/>
          <p:nvPr/>
        </p:nvSpPr>
        <p:spPr>
          <a:xfrm>
            <a:off x="3543392" y="3121672"/>
            <a:ext cx="5435847" cy="17688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4500"/>
              </a:lnSpc>
            </a:pPr>
            <a:r>
              <a:rPr lang="en-US" altLang="ko-KR" sz="3200" dirty="0">
                <a:latin typeface="강원교육튼튼" panose="02020603020101020101" pitchFamily="18" charset="-127"/>
                <a:ea typeface="강원교육튼튼" panose="02020603020101020101" pitchFamily="18" charset="-127"/>
              </a:rPr>
              <a:t>Dashboard and Observation</a:t>
            </a:r>
          </a:p>
          <a:p>
            <a:pPr algn="ctr">
              <a:lnSpc>
                <a:spcPts val="4500"/>
              </a:lnSpc>
            </a:pPr>
            <a:endParaRPr lang="en-US" altLang="ko-KR" sz="3200" dirty="0">
              <a:latin typeface="강원교육튼튼" panose="02020603020101020101" pitchFamily="18" charset="-127"/>
              <a:ea typeface="강원교육튼튼" panose="02020603020101020101" pitchFamily="18" charset="-127"/>
            </a:endParaRPr>
          </a:p>
          <a:p>
            <a:pPr algn="ctr">
              <a:lnSpc>
                <a:spcPts val="4500"/>
              </a:lnSpc>
            </a:pPr>
            <a:r>
              <a:rPr lang="en-US" altLang="ko-KR" sz="3200" b="1" dirty="0">
                <a:latin typeface="강원교육튼튼" panose="02020603020101020101" pitchFamily="18" charset="-127"/>
                <a:ea typeface="강원교육튼튼" panose="02020603020101020101" pitchFamily="18" charset="-127"/>
              </a:rPr>
              <a:t>- Dashboard - </a:t>
            </a:r>
          </a:p>
        </p:txBody>
      </p:sp>
    </p:spTree>
    <p:extLst>
      <p:ext uri="{BB962C8B-B14F-4D97-AF65-F5344CB8AC3E}">
        <p14:creationId xmlns:p14="http://schemas.microsoft.com/office/powerpoint/2010/main" val="417109554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C0D9F-11F6-B511-8366-E176B9158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64F98910-3B41-8F94-6233-C903BEF90B48}"/>
              </a:ext>
            </a:extLst>
          </p:cNvPr>
          <p:cNvGrpSpPr/>
          <p:nvPr/>
        </p:nvGrpSpPr>
        <p:grpSpPr>
          <a:xfrm>
            <a:off x="164064" y="1119724"/>
            <a:ext cx="6013006" cy="523220"/>
            <a:chOff x="164064" y="1119724"/>
            <a:chExt cx="6013006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5DEF75A-2EEA-7942-1913-401F7DF01287}"/>
                </a:ext>
              </a:extLst>
            </p:cNvPr>
            <p:cNvSpPr txBox="1"/>
            <p:nvPr/>
          </p:nvSpPr>
          <p:spPr>
            <a:xfrm>
              <a:off x="769499" y="1119724"/>
              <a:ext cx="540757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A Snapshot of Network’s Health</a:t>
              </a:r>
              <a:endParaRPr lang="ko-KR" altLang="en-US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60EC06A3-F416-E1A7-1DB3-79C28D68E8B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D2A3BF91-D7F1-E229-0F74-006F3F2BD550}"/>
              </a:ext>
            </a:extLst>
          </p:cNvPr>
          <p:cNvSpPr txBox="1"/>
          <p:nvPr/>
        </p:nvSpPr>
        <p:spPr>
          <a:xfrm>
            <a:off x="668703" y="1572160"/>
            <a:ext cx="11042850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The top panel offers a real-time summary of the network’s </a:t>
            </a:r>
            <a:r>
              <a:rPr lang="en-US" altLang="ko-KR" sz="2200" b="1" dirty="0">
                <a:latin typeface="SF싸락눈" panose="02000503000000000000" pitchFamily="2" charset="-127"/>
                <a:ea typeface="SF싸락눈" panose="02000503000000000000" pitchFamily="2" charset="-127"/>
              </a:rPr>
              <a:t>critical information</a:t>
            </a:r>
            <a:endParaRPr lang="en-US" altLang="ko-KR" sz="2200" b="1" dirty="0">
              <a:solidFill>
                <a:srgbClr val="FF0000"/>
              </a:solidFill>
              <a:latin typeface="SF싸락눈" panose="02000503000000000000" pitchFamily="2" charset="-127"/>
              <a:ea typeface="SF싸락눈" panose="02000503000000000000" pitchFamily="2" charset="-127"/>
            </a:endParaRPr>
          </a:p>
        </p:txBody>
      </p:sp>
      <p:pic>
        <p:nvPicPr>
          <p:cNvPr id="38" name="그림 37">
            <a:extLst>
              <a:ext uri="{FF2B5EF4-FFF2-40B4-BE49-F238E27FC236}">
                <a16:creationId xmlns:a16="http://schemas.microsoft.com/office/drawing/2014/main" id="{1F92D30D-1BFF-4D1E-957A-5B1DB8FE821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7684" b="71419"/>
          <a:stretch/>
        </p:blipFill>
        <p:spPr>
          <a:xfrm>
            <a:off x="1551059" y="2277252"/>
            <a:ext cx="9089881" cy="1436735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1B6B3758-FBE8-437C-8381-CE77A31A5D89}"/>
              </a:ext>
            </a:extLst>
          </p:cNvPr>
          <p:cNvSpPr txBox="1"/>
          <p:nvPr/>
        </p:nvSpPr>
        <p:spPr>
          <a:xfrm>
            <a:off x="819555" y="3765644"/>
            <a:ext cx="10514752" cy="2848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solidFill>
                  <a:srgbClr val="FF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</a:rPr>
              <a:t>Total Packets</a:t>
            </a:r>
          </a:p>
          <a:p>
            <a:pPr marL="638175" lvl="1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The cumulative 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count of all captured packets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.</a:t>
            </a: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solidFill>
                  <a:srgbClr val="FF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</a:rPr>
              <a:t>Active Devices</a:t>
            </a:r>
          </a:p>
          <a:p>
            <a:pPr marL="638175" lvl="1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Shows the 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number of unique devices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 currently sending or receiving data.</a:t>
            </a: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solidFill>
                  <a:srgbClr val="FF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</a:rPr>
              <a:t>Capture Status &amp; Interface</a:t>
            </a:r>
          </a:p>
          <a:p>
            <a:pPr marL="638175" lvl="1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Clearly indicates if the monitoring system is currently running (Status) and which network card (interface) is being monitored.</a:t>
            </a:r>
          </a:p>
        </p:txBody>
      </p:sp>
    </p:spTree>
    <p:extLst>
      <p:ext uri="{BB962C8B-B14F-4D97-AF65-F5344CB8AC3E}">
        <p14:creationId xmlns:p14="http://schemas.microsoft.com/office/powerpoint/2010/main" val="64286502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C0D9F-11F6-B511-8366-E176B9158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64F98910-3B41-8F94-6233-C903BEF90B48}"/>
              </a:ext>
            </a:extLst>
          </p:cNvPr>
          <p:cNvGrpSpPr/>
          <p:nvPr/>
        </p:nvGrpSpPr>
        <p:grpSpPr>
          <a:xfrm>
            <a:off x="164064" y="1119724"/>
            <a:ext cx="7077015" cy="523220"/>
            <a:chOff x="164064" y="1119724"/>
            <a:chExt cx="7077015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5DEF75A-2EEA-7942-1913-401F7DF01287}"/>
                </a:ext>
              </a:extLst>
            </p:cNvPr>
            <p:cNvSpPr txBox="1"/>
            <p:nvPr/>
          </p:nvSpPr>
          <p:spPr>
            <a:xfrm>
              <a:off x="769499" y="1119724"/>
              <a:ext cx="647158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Traffic Patterns: What Kind and When?</a:t>
              </a:r>
              <a:endParaRPr lang="ko-KR" altLang="en-US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60EC06A3-F416-E1A7-1DB3-79C28D68E8B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pic>
        <p:nvPicPr>
          <p:cNvPr id="38" name="그림 37">
            <a:extLst>
              <a:ext uri="{FF2B5EF4-FFF2-40B4-BE49-F238E27FC236}">
                <a16:creationId xmlns:a16="http://schemas.microsoft.com/office/drawing/2014/main" id="{1F92D30D-1BFF-4D1E-957A-5B1DB8FE821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9525" b="42075"/>
          <a:stretch/>
        </p:blipFill>
        <p:spPr>
          <a:xfrm>
            <a:off x="340703" y="1720830"/>
            <a:ext cx="7682358" cy="165029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FFA813A-17DA-4FA7-A5C2-9F51A92D422B}"/>
              </a:ext>
            </a:extLst>
          </p:cNvPr>
          <p:cNvSpPr txBox="1"/>
          <p:nvPr/>
        </p:nvSpPr>
        <p:spPr>
          <a:xfrm>
            <a:off x="819555" y="3347196"/>
            <a:ext cx="10514752" cy="38892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solidFill>
                  <a:srgbClr val="FF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</a:rPr>
              <a:t>Protocol Distribution</a:t>
            </a:r>
          </a:p>
          <a:p>
            <a:pPr marL="638175" lvl="1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This donut chart shows the 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proportion of different protocols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, like TCP and UDP.</a:t>
            </a:r>
          </a:p>
          <a:p>
            <a:pPr marL="638175" lvl="1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It helps you 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understand the primary purpose of the network’s usage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, </a:t>
            </a:r>
            <a:b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</a:b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whether it’s for web browsing (TCP) or for video streaming and gaming (UDP).</a:t>
            </a:r>
          </a:p>
          <a:p>
            <a:pPr lvl="1">
              <a:lnSpc>
                <a:spcPct val="130000"/>
              </a:lnSpc>
              <a:buClr>
                <a:srgbClr val="0076A3"/>
              </a:buClr>
            </a:pPr>
            <a:endParaRPr lang="en-US" altLang="ko-KR" sz="800" dirty="0">
              <a:latin typeface="Pretendard Light" panose="02000403000000020004" pitchFamily="2" charset="-127"/>
              <a:ea typeface="Pretendard Light" panose="02000403000000020004" pitchFamily="2" charset="-127"/>
            </a:endParaRP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solidFill>
                  <a:srgbClr val="FF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</a:rPr>
              <a:t>Traffic Over Time</a:t>
            </a:r>
          </a:p>
          <a:p>
            <a:pPr marL="638175" lvl="1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This line graph displays 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the trend of traffic volume over a specific period.</a:t>
            </a:r>
          </a:p>
          <a:p>
            <a:pPr marL="638175" lvl="1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It’s essential for identifying the network’s busiest periods and spotting anomalies, such as sudden and unexpected traffic spikes.</a:t>
            </a: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6D6CFCAB-4841-4A29-9846-0BD41E0CC2A0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50191" t="23957" b="46088"/>
          <a:stretch/>
        </p:blipFill>
        <p:spPr>
          <a:xfrm>
            <a:off x="8139789" y="1723517"/>
            <a:ext cx="3897229" cy="1644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271559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C0D9F-11F6-B511-8366-E176B9158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64F98910-3B41-8F94-6233-C903BEF90B48}"/>
              </a:ext>
            </a:extLst>
          </p:cNvPr>
          <p:cNvGrpSpPr/>
          <p:nvPr/>
        </p:nvGrpSpPr>
        <p:grpSpPr>
          <a:xfrm>
            <a:off x="164064" y="1119724"/>
            <a:ext cx="10802842" cy="523220"/>
            <a:chOff x="164064" y="1119724"/>
            <a:chExt cx="10802842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5DEF75A-2EEA-7942-1913-401F7DF01287}"/>
                </a:ext>
              </a:extLst>
            </p:cNvPr>
            <p:cNvSpPr txBox="1"/>
            <p:nvPr/>
          </p:nvSpPr>
          <p:spPr>
            <a:xfrm>
              <a:off x="769499" y="1119724"/>
              <a:ext cx="1019740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Detailed Analysis: Who is Talking and What Are They Saying?</a:t>
              </a:r>
              <a:endParaRPr lang="ko-KR" altLang="en-US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60EC06A3-F416-E1A7-1DB3-79C28D68E8B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pic>
        <p:nvPicPr>
          <p:cNvPr id="38" name="그림 37">
            <a:extLst>
              <a:ext uri="{FF2B5EF4-FFF2-40B4-BE49-F238E27FC236}">
                <a16:creationId xmlns:a16="http://schemas.microsoft.com/office/drawing/2014/main" id="{1F92D30D-1BFF-4D1E-957A-5B1DB8FE821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58449"/>
          <a:stretch/>
        </p:blipFill>
        <p:spPr>
          <a:xfrm>
            <a:off x="898651" y="1699647"/>
            <a:ext cx="6113452" cy="192134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B25FB30-4641-48B2-92CD-DE81FFEB2711}"/>
              </a:ext>
            </a:extLst>
          </p:cNvPr>
          <p:cNvSpPr txBox="1"/>
          <p:nvPr/>
        </p:nvSpPr>
        <p:spPr>
          <a:xfrm>
            <a:off x="819554" y="3620994"/>
            <a:ext cx="11160635" cy="30090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solidFill>
                  <a:srgbClr val="FF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</a:rPr>
              <a:t>Top Source Ips</a:t>
            </a:r>
          </a:p>
          <a:p>
            <a:pPr marL="638175" lvl="1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This table ranks the IP addresses that have 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generated the most packets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 on the network.</a:t>
            </a:r>
          </a:p>
          <a:p>
            <a:pPr marL="638175" lvl="1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It allows you to identify which devices are 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consuming the most bandwidth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.</a:t>
            </a:r>
          </a:p>
          <a:p>
            <a:pPr lvl="1">
              <a:lnSpc>
                <a:spcPct val="130000"/>
              </a:lnSpc>
              <a:buClr>
                <a:srgbClr val="0076A3"/>
              </a:buClr>
            </a:pPr>
            <a:endParaRPr lang="en-US" altLang="ko-KR" sz="800" dirty="0">
              <a:latin typeface="Pretendard Light" panose="02000403000000020004" pitchFamily="2" charset="-127"/>
              <a:ea typeface="Pretendard Light" panose="02000403000000020004" pitchFamily="2" charset="-127"/>
            </a:endParaRP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solidFill>
                  <a:srgbClr val="FF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</a:rPr>
              <a:t>Recent Packets</a:t>
            </a:r>
          </a:p>
          <a:p>
            <a:pPr marL="638175" lvl="1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A 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real-time log of captured packets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, displayed chronologically with details like source, destination, protocol, and size.</a:t>
            </a:r>
          </a:p>
          <a:p>
            <a:pPr marL="638175" lvl="1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This provides the most 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granular and specific data.</a:t>
            </a:r>
          </a:p>
        </p:txBody>
      </p:sp>
    </p:spTree>
    <p:extLst>
      <p:ext uri="{BB962C8B-B14F-4D97-AF65-F5344CB8AC3E}">
        <p14:creationId xmlns:p14="http://schemas.microsoft.com/office/powerpoint/2010/main" val="8121879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6272EFE-19CA-7357-CA3D-A47E6988B1F1}"/>
              </a:ext>
            </a:extLst>
          </p:cNvPr>
          <p:cNvSpPr txBox="1"/>
          <p:nvPr/>
        </p:nvSpPr>
        <p:spPr>
          <a:xfrm>
            <a:off x="3543392" y="3121672"/>
            <a:ext cx="5435847" cy="17688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4500"/>
              </a:lnSpc>
            </a:pPr>
            <a:r>
              <a:rPr lang="en-US" altLang="ko-KR" sz="3200" dirty="0">
                <a:latin typeface="강원교육튼튼" panose="02020603020101020101" pitchFamily="18" charset="-127"/>
                <a:ea typeface="강원교육튼튼" panose="02020603020101020101" pitchFamily="18" charset="-127"/>
              </a:rPr>
              <a:t>Dashboard and Observation</a:t>
            </a:r>
          </a:p>
          <a:p>
            <a:pPr algn="ctr">
              <a:lnSpc>
                <a:spcPts val="4500"/>
              </a:lnSpc>
            </a:pPr>
            <a:endParaRPr lang="en-US" altLang="ko-KR" sz="3200" dirty="0">
              <a:latin typeface="강원교육튼튼" panose="02020603020101020101" pitchFamily="18" charset="-127"/>
              <a:ea typeface="강원교육튼튼" panose="02020603020101020101" pitchFamily="18" charset="-127"/>
            </a:endParaRPr>
          </a:p>
          <a:p>
            <a:pPr algn="ctr">
              <a:lnSpc>
                <a:spcPts val="4500"/>
              </a:lnSpc>
            </a:pPr>
            <a:r>
              <a:rPr lang="en-US" altLang="ko-KR" sz="3200" b="1" dirty="0">
                <a:latin typeface="강원교육튼튼" panose="02020603020101020101" pitchFamily="18" charset="-127"/>
                <a:ea typeface="강원교육튼튼" panose="02020603020101020101" pitchFamily="18" charset="-127"/>
              </a:rPr>
              <a:t>- Traffic Monitor - </a:t>
            </a:r>
          </a:p>
        </p:txBody>
      </p:sp>
    </p:spTree>
    <p:extLst>
      <p:ext uri="{BB962C8B-B14F-4D97-AF65-F5344CB8AC3E}">
        <p14:creationId xmlns:p14="http://schemas.microsoft.com/office/powerpoint/2010/main" val="6637117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C0D9F-11F6-B511-8366-E176B9158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64F98910-3B41-8F94-6233-C903BEF90B48}"/>
              </a:ext>
            </a:extLst>
          </p:cNvPr>
          <p:cNvGrpSpPr/>
          <p:nvPr/>
        </p:nvGrpSpPr>
        <p:grpSpPr>
          <a:xfrm>
            <a:off x="164064" y="1119724"/>
            <a:ext cx="7220259" cy="523220"/>
            <a:chOff x="164064" y="1119724"/>
            <a:chExt cx="7220259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5DEF75A-2EEA-7942-1913-401F7DF01287}"/>
                </a:ext>
              </a:extLst>
            </p:cNvPr>
            <p:cNvSpPr txBox="1"/>
            <p:nvPr/>
          </p:nvSpPr>
          <p:spPr>
            <a:xfrm>
              <a:off x="769499" y="1119724"/>
              <a:ext cx="661482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Traffic Monitor: Deep Packet Inspection</a:t>
              </a:r>
              <a:endParaRPr lang="ko-KR" altLang="en-US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60EC06A3-F416-E1A7-1DB3-79C28D68E8B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1EA7C03D-9350-4CA1-92D5-266E742B8ADD}"/>
              </a:ext>
            </a:extLst>
          </p:cNvPr>
          <p:cNvSpPr txBox="1"/>
          <p:nvPr/>
        </p:nvSpPr>
        <p:spPr>
          <a:xfrm>
            <a:off x="668703" y="1572160"/>
            <a:ext cx="11042850" cy="25660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The </a:t>
            </a:r>
            <a:r>
              <a:rPr lang="en-US" altLang="ko-KR" sz="2200" b="1" dirty="0">
                <a:latin typeface="SF싸락눈" panose="02000503000000000000" pitchFamily="2" charset="-127"/>
                <a:ea typeface="SF싸락눈" panose="02000503000000000000" pitchFamily="2" charset="-127"/>
              </a:rPr>
              <a:t>Traffic Monitor</a:t>
            </a: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 page is an interactive tool for detailed, real-time analysis of captured packets.</a:t>
            </a:r>
          </a:p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Unlike the main dashboard which provides a summary, this view allows you to </a:t>
            </a:r>
            <a:r>
              <a:rPr lang="en-US" altLang="ko-KR" sz="2200" b="1" dirty="0">
                <a:latin typeface="SF싸락눈" panose="02000503000000000000" pitchFamily="2" charset="-127"/>
                <a:ea typeface="SF싸락눈" panose="02000503000000000000" pitchFamily="2" charset="-127"/>
              </a:rPr>
              <a:t>filter, search, and drill down</a:t>
            </a: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 into specific network conversations for in-depth investigation and troubleshooting.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2FABC19A-302F-42C7-9394-DF804D0E9C9A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6102" b="27759"/>
          <a:stretch/>
        </p:blipFill>
        <p:spPr>
          <a:xfrm>
            <a:off x="5646548" y="3749436"/>
            <a:ext cx="6028841" cy="2911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392476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C0D9F-11F6-B511-8366-E176B9158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64F98910-3B41-8F94-6233-C903BEF90B48}"/>
              </a:ext>
            </a:extLst>
          </p:cNvPr>
          <p:cNvGrpSpPr/>
          <p:nvPr/>
        </p:nvGrpSpPr>
        <p:grpSpPr>
          <a:xfrm>
            <a:off x="164064" y="1119724"/>
            <a:ext cx="7220259" cy="523220"/>
            <a:chOff x="164064" y="1119724"/>
            <a:chExt cx="7220259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5DEF75A-2EEA-7942-1913-401F7DF01287}"/>
                </a:ext>
              </a:extLst>
            </p:cNvPr>
            <p:cNvSpPr txBox="1"/>
            <p:nvPr/>
          </p:nvSpPr>
          <p:spPr>
            <a:xfrm>
              <a:off x="769499" y="1119724"/>
              <a:ext cx="661482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Traffic Monitor: Deep Packet Inspection</a:t>
              </a:r>
              <a:endParaRPr lang="ko-KR" altLang="en-US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60EC06A3-F416-E1A7-1DB3-79C28D68E8B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6B25FB30-4641-48B2-92CD-DE81FFEB2711}"/>
              </a:ext>
            </a:extLst>
          </p:cNvPr>
          <p:cNvSpPr txBox="1"/>
          <p:nvPr/>
        </p:nvSpPr>
        <p:spPr>
          <a:xfrm>
            <a:off x="819554" y="3620994"/>
            <a:ext cx="11160635" cy="30090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solidFill>
                  <a:srgbClr val="FF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</a:rPr>
              <a:t>Filters:</a:t>
            </a:r>
          </a:p>
          <a:p>
            <a:pPr marL="638175" lvl="1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Allows you to pinpoint specific data flows.</a:t>
            </a:r>
          </a:p>
          <a:p>
            <a:pPr marL="638175" lvl="1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You can search by 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Protocol, Source IP, and Destination IP.</a:t>
            </a:r>
          </a:p>
          <a:p>
            <a:pPr lvl="1">
              <a:lnSpc>
                <a:spcPct val="130000"/>
              </a:lnSpc>
              <a:buClr>
                <a:srgbClr val="0076A3"/>
              </a:buClr>
            </a:pPr>
            <a:endParaRPr lang="en-US" altLang="ko-KR" sz="800" b="1" dirty="0">
              <a:latin typeface="Pretendard Light" panose="02000403000000020004" pitchFamily="2" charset="-127"/>
              <a:ea typeface="Pretendard Light" panose="02000403000000020004" pitchFamily="2" charset="-127"/>
            </a:endParaRP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solidFill>
                  <a:srgbClr val="FF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</a:rPr>
              <a:t>Exporting:</a:t>
            </a:r>
          </a:p>
          <a:p>
            <a:pPr marL="638175" lvl="1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Enables offline analysis and reporting.</a:t>
            </a:r>
          </a:p>
          <a:p>
            <a:pPr marL="638175" lvl="1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The “Export CSV” feature allows you to save your filtered results, making it easy to share data or perform further analysis in other tools like Excel.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4F69F8F2-FB2E-46E7-8914-BF9A69EC39C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3339" b="56680"/>
          <a:stretch/>
        </p:blipFill>
        <p:spPr>
          <a:xfrm>
            <a:off x="898651" y="1699647"/>
            <a:ext cx="8775921" cy="1921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69832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6272EFE-19CA-7357-CA3D-A47E6988B1F1}"/>
              </a:ext>
            </a:extLst>
          </p:cNvPr>
          <p:cNvSpPr txBox="1"/>
          <p:nvPr/>
        </p:nvSpPr>
        <p:spPr>
          <a:xfrm>
            <a:off x="3543392" y="3121672"/>
            <a:ext cx="5435847" cy="17688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4500"/>
              </a:lnSpc>
            </a:pPr>
            <a:r>
              <a:rPr lang="en-US" altLang="ko-KR" sz="3200" dirty="0">
                <a:latin typeface="강원교육튼튼" panose="02020603020101020101" pitchFamily="18" charset="-127"/>
                <a:ea typeface="강원교육튼튼" panose="02020603020101020101" pitchFamily="18" charset="-127"/>
              </a:rPr>
              <a:t>Dashboard and Observation</a:t>
            </a:r>
          </a:p>
          <a:p>
            <a:pPr algn="ctr">
              <a:lnSpc>
                <a:spcPts val="4500"/>
              </a:lnSpc>
            </a:pPr>
            <a:endParaRPr lang="en-US" altLang="ko-KR" sz="3200" dirty="0">
              <a:latin typeface="강원교육튼튼" panose="02020603020101020101" pitchFamily="18" charset="-127"/>
              <a:ea typeface="강원교육튼튼" panose="02020603020101020101" pitchFamily="18" charset="-127"/>
            </a:endParaRPr>
          </a:p>
          <a:p>
            <a:pPr algn="ctr">
              <a:lnSpc>
                <a:spcPts val="4500"/>
              </a:lnSpc>
            </a:pPr>
            <a:r>
              <a:rPr lang="en-US" altLang="ko-KR" sz="3200" b="1" dirty="0">
                <a:latin typeface="강원교육튼튼" panose="02020603020101020101" pitchFamily="18" charset="-127"/>
                <a:ea typeface="강원교육튼튼" panose="02020603020101020101" pitchFamily="18" charset="-127"/>
              </a:rPr>
              <a:t>- Admin Panel - </a:t>
            </a:r>
          </a:p>
        </p:txBody>
      </p:sp>
    </p:spTree>
    <p:extLst>
      <p:ext uri="{BB962C8B-B14F-4D97-AF65-F5344CB8AC3E}">
        <p14:creationId xmlns:p14="http://schemas.microsoft.com/office/powerpoint/2010/main" val="169523105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C0D9F-11F6-B511-8366-E176B9158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64F98910-3B41-8F94-6233-C903BEF90B48}"/>
              </a:ext>
            </a:extLst>
          </p:cNvPr>
          <p:cNvGrpSpPr/>
          <p:nvPr/>
        </p:nvGrpSpPr>
        <p:grpSpPr>
          <a:xfrm>
            <a:off x="164064" y="1119724"/>
            <a:ext cx="7220259" cy="523220"/>
            <a:chOff x="164064" y="1119724"/>
            <a:chExt cx="7220259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5DEF75A-2EEA-7942-1913-401F7DF01287}"/>
                </a:ext>
              </a:extLst>
            </p:cNvPr>
            <p:cNvSpPr txBox="1"/>
            <p:nvPr/>
          </p:nvSpPr>
          <p:spPr>
            <a:xfrm>
              <a:off x="769499" y="1119724"/>
              <a:ext cx="661482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Traffic Monitor: Deep Packet Inspection</a:t>
              </a:r>
              <a:endParaRPr lang="ko-KR" altLang="en-US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60EC06A3-F416-E1A7-1DB3-79C28D68E8B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1EA7C03D-9350-4CA1-92D5-266E742B8ADD}"/>
              </a:ext>
            </a:extLst>
          </p:cNvPr>
          <p:cNvSpPr txBox="1"/>
          <p:nvPr/>
        </p:nvSpPr>
        <p:spPr>
          <a:xfrm>
            <a:off x="668703" y="1572160"/>
            <a:ext cx="11042850" cy="25660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The </a:t>
            </a:r>
            <a:r>
              <a:rPr lang="en-US" altLang="ko-KR" sz="2200" b="1" dirty="0">
                <a:latin typeface="SF싸락눈" panose="02000503000000000000" pitchFamily="2" charset="-127"/>
                <a:ea typeface="SF싸락눈" panose="02000503000000000000" pitchFamily="2" charset="-127"/>
              </a:rPr>
              <a:t>Traffic Monitor</a:t>
            </a: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 page is an interactive tool for detailed, real-time analysis of captured packets.</a:t>
            </a:r>
          </a:p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Unlike the main dashboard which provides a summary, this view allows you to </a:t>
            </a:r>
            <a:r>
              <a:rPr lang="en-US" altLang="ko-KR" sz="2200" b="1" dirty="0">
                <a:latin typeface="SF싸락눈" panose="02000503000000000000" pitchFamily="2" charset="-127"/>
                <a:ea typeface="SF싸락눈" panose="02000503000000000000" pitchFamily="2" charset="-127"/>
              </a:rPr>
              <a:t>filter, search, and drill down</a:t>
            </a: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 into specific network conversations for in-depth investigation and troubleshooting.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2FABC19A-302F-42C7-9394-DF804D0E9C9A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6102" b="27759"/>
          <a:stretch/>
        </p:blipFill>
        <p:spPr>
          <a:xfrm>
            <a:off x="5646548" y="3749436"/>
            <a:ext cx="6028841" cy="2911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084622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6DC8FC-A5B9-F0D4-E7D3-D0B91D0CB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>
            <a:extLst>
              <a:ext uri="{FF2B5EF4-FFF2-40B4-BE49-F238E27FC236}">
                <a16:creationId xmlns:a16="http://schemas.microsoft.com/office/drawing/2014/main" id="{803809AA-11D0-AA5B-7B00-A08AE2F89E72}"/>
              </a:ext>
            </a:extLst>
          </p:cNvPr>
          <p:cNvGrpSpPr/>
          <p:nvPr/>
        </p:nvGrpSpPr>
        <p:grpSpPr>
          <a:xfrm>
            <a:off x="164064" y="1119724"/>
            <a:ext cx="7990534" cy="523220"/>
            <a:chOff x="164064" y="1119724"/>
            <a:chExt cx="7990534" cy="523220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21263BF-C896-2B08-D740-8C616646134B}"/>
                </a:ext>
              </a:extLst>
            </p:cNvPr>
            <p:cNvSpPr txBox="1"/>
            <p:nvPr/>
          </p:nvSpPr>
          <p:spPr>
            <a:xfrm>
              <a:off x="769499" y="1119724"/>
              <a:ext cx="738509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Admin Panel – System &amp; User Management</a:t>
              </a:r>
              <a:endParaRPr lang="ko-KR" altLang="en-US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140DAC07-C70A-CB1C-6F43-5755627A8A5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967D96EF-0715-FB29-2F00-85D57785DBE7}"/>
              </a:ext>
            </a:extLst>
          </p:cNvPr>
          <p:cNvSpPr txBox="1"/>
          <p:nvPr/>
        </p:nvSpPr>
        <p:spPr>
          <a:xfrm>
            <a:off x="668703" y="1572160"/>
            <a:ext cx="10660232" cy="1042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The Admin Panel is the central hub for system configuration and security, separate from the traffic analysis dashboard.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4ECC8FA-F0D2-4A1D-9317-2E6F201ED9A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5875"/>
          <a:stretch/>
        </p:blipFill>
        <p:spPr>
          <a:xfrm>
            <a:off x="3017003" y="2733388"/>
            <a:ext cx="5961682" cy="3957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68329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C0D9F-11F6-B511-8366-E176B9158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64F98910-3B41-8F94-6233-C903BEF90B48}"/>
              </a:ext>
            </a:extLst>
          </p:cNvPr>
          <p:cNvGrpSpPr/>
          <p:nvPr/>
        </p:nvGrpSpPr>
        <p:grpSpPr>
          <a:xfrm>
            <a:off x="164064" y="1119724"/>
            <a:ext cx="7220259" cy="523220"/>
            <a:chOff x="164064" y="1119724"/>
            <a:chExt cx="7220259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5DEF75A-2EEA-7942-1913-401F7DF01287}"/>
                </a:ext>
              </a:extLst>
            </p:cNvPr>
            <p:cNvSpPr txBox="1"/>
            <p:nvPr/>
          </p:nvSpPr>
          <p:spPr>
            <a:xfrm>
              <a:off x="769499" y="1119724"/>
              <a:ext cx="661482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Traffic Monitor: Deep Packet Inspection</a:t>
              </a:r>
              <a:endParaRPr lang="ko-KR" altLang="en-US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60EC06A3-F416-E1A7-1DB3-79C28D68E8B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6B25FB30-4641-48B2-92CD-DE81FFEB2711}"/>
              </a:ext>
            </a:extLst>
          </p:cNvPr>
          <p:cNvSpPr txBox="1"/>
          <p:nvPr/>
        </p:nvSpPr>
        <p:spPr>
          <a:xfrm>
            <a:off x="819554" y="3620994"/>
            <a:ext cx="11160635" cy="26089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solidFill>
                  <a:srgbClr val="FF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</a:rPr>
              <a:t>Create New User:</a:t>
            </a:r>
          </a:p>
          <a:p>
            <a:pPr marL="638175" lvl="1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Allows the administrator to 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create new user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 accounts.</a:t>
            </a:r>
          </a:p>
          <a:p>
            <a:pPr marL="638175" lvl="1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You can define a 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Username, Password, assign a Role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 and set an 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expiration date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 for the account.</a:t>
            </a:r>
          </a:p>
          <a:p>
            <a:pPr lvl="1">
              <a:lnSpc>
                <a:spcPct val="130000"/>
              </a:lnSpc>
              <a:buClr>
                <a:srgbClr val="0076A3"/>
              </a:buClr>
            </a:pPr>
            <a:endParaRPr lang="en-US" altLang="ko-KR" sz="800" dirty="0">
              <a:solidFill>
                <a:srgbClr val="FF0000"/>
              </a:solidFill>
              <a:latin typeface="Pretendard Light" panose="02000403000000020004" pitchFamily="2" charset="-127"/>
              <a:ea typeface="Pretendard Light" panose="02000403000000020004" pitchFamily="2" charset="-127"/>
            </a:endParaRP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solidFill>
                  <a:srgbClr val="FF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</a:rPr>
              <a:t>User Management Table:</a:t>
            </a:r>
          </a:p>
          <a:p>
            <a:pPr marL="638175" lvl="1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Provides a comprehensive list of all existing users.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6B12F48F-AC01-4487-8976-4F6F25158CE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9456" b="38471"/>
          <a:stretch/>
        </p:blipFill>
        <p:spPr>
          <a:xfrm>
            <a:off x="877987" y="1699647"/>
            <a:ext cx="8495138" cy="1921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501055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C0D9F-11F6-B511-8366-E176B9158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64F98910-3B41-8F94-6233-C903BEF90B48}"/>
              </a:ext>
            </a:extLst>
          </p:cNvPr>
          <p:cNvGrpSpPr/>
          <p:nvPr/>
        </p:nvGrpSpPr>
        <p:grpSpPr>
          <a:xfrm>
            <a:off x="164064" y="1119724"/>
            <a:ext cx="7220259" cy="523220"/>
            <a:chOff x="164064" y="1119724"/>
            <a:chExt cx="7220259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5DEF75A-2EEA-7942-1913-401F7DF01287}"/>
                </a:ext>
              </a:extLst>
            </p:cNvPr>
            <p:cNvSpPr txBox="1"/>
            <p:nvPr/>
          </p:nvSpPr>
          <p:spPr>
            <a:xfrm>
              <a:off x="769499" y="1119724"/>
              <a:ext cx="661482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Traffic Monitor: Deep Packet Inspection</a:t>
              </a:r>
              <a:endParaRPr lang="ko-KR" altLang="en-US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60EC06A3-F416-E1A7-1DB3-79C28D68E8B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6B25FB30-4641-48B2-92CD-DE81FFEB2711}"/>
              </a:ext>
            </a:extLst>
          </p:cNvPr>
          <p:cNvSpPr txBox="1"/>
          <p:nvPr/>
        </p:nvSpPr>
        <p:spPr>
          <a:xfrm>
            <a:off x="819554" y="3620994"/>
            <a:ext cx="11160635" cy="3249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solidFill>
                  <a:srgbClr val="FF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</a:rPr>
              <a:t>RSA Key Information:</a:t>
            </a:r>
          </a:p>
          <a:p>
            <a:pPr marL="638175" lvl="1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Manages the public key for secure communication.</a:t>
            </a:r>
          </a:p>
          <a:p>
            <a:pPr marL="638175" lvl="1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This is an advanced security feature, likely used to secure API connections or ensure encrypted communication between monitoring components.</a:t>
            </a: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solidFill>
                  <a:srgbClr val="FF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</a:rPr>
              <a:t>System Statistics:</a:t>
            </a:r>
          </a:p>
          <a:p>
            <a:pPr marL="638175" lvl="1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Offer a high-level overview of the system’s health.</a:t>
            </a:r>
          </a:p>
          <a:p>
            <a:pPr marL="638175" lvl="1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You can quickly see the online status and statistics of the system.</a:t>
            </a:r>
          </a:p>
          <a:p>
            <a:pPr marL="638175" lvl="1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You can also initialize the database.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F6FF483-A844-4063-B25E-D07D8DB8521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61529" b="-171"/>
          <a:stretch/>
        </p:blipFill>
        <p:spPr>
          <a:xfrm>
            <a:off x="877987" y="1699646"/>
            <a:ext cx="7072644" cy="1927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10196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706281-8102-18D1-1E2B-E5AAF19E64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8277E04-D1A5-B3AA-616F-EABD6C4C2468}"/>
              </a:ext>
            </a:extLst>
          </p:cNvPr>
          <p:cNvSpPr txBox="1"/>
          <p:nvPr/>
        </p:nvSpPr>
        <p:spPr>
          <a:xfrm>
            <a:off x="3190881" y="2845379"/>
            <a:ext cx="6115044" cy="1186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4500"/>
              </a:lnSpc>
            </a:pPr>
            <a:r>
              <a:rPr lang="en-US" altLang="ko-KR" sz="3000" dirty="0">
                <a:latin typeface="강원교육튼튼" panose="02020603020101020101" pitchFamily="18" charset="-127"/>
                <a:ea typeface="강원교육튼튼" panose="02020603020101020101" pitchFamily="18" charset="-127"/>
              </a:rPr>
              <a:t>Advanced Suggestion</a:t>
            </a:r>
          </a:p>
          <a:p>
            <a:pPr algn="ctr">
              <a:lnSpc>
                <a:spcPts val="4500"/>
              </a:lnSpc>
            </a:pPr>
            <a:r>
              <a:rPr lang="en-US" altLang="ko-KR" sz="3000" dirty="0">
                <a:latin typeface="강원교육튼튼" panose="02020603020101020101" pitchFamily="18" charset="-127"/>
                <a:ea typeface="강원교육튼튼" panose="02020603020101020101" pitchFamily="18" charset="-127"/>
              </a:rPr>
              <a:t>Intelligent Network Monitoring</a:t>
            </a:r>
          </a:p>
        </p:txBody>
      </p:sp>
    </p:spTree>
    <p:extLst>
      <p:ext uri="{BB962C8B-B14F-4D97-AF65-F5344CB8AC3E}">
        <p14:creationId xmlns:p14="http://schemas.microsoft.com/office/powerpoint/2010/main" val="170158343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5EDF3-F372-3458-10A8-696C601CD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F8550829-3395-13AE-28BE-BE3621C31F3F}"/>
              </a:ext>
            </a:extLst>
          </p:cNvPr>
          <p:cNvGrpSpPr/>
          <p:nvPr/>
        </p:nvGrpSpPr>
        <p:grpSpPr>
          <a:xfrm>
            <a:off x="164064" y="1119724"/>
            <a:ext cx="12068060" cy="523220"/>
            <a:chOff x="164064" y="1119724"/>
            <a:chExt cx="12068060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ACAE52F-E8E5-593A-1A1C-EFE6217484A3}"/>
                </a:ext>
              </a:extLst>
            </p:cNvPr>
            <p:cNvSpPr txBox="1"/>
            <p:nvPr/>
          </p:nvSpPr>
          <p:spPr>
            <a:xfrm>
              <a:off x="769499" y="1119724"/>
              <a:ext cx="1146262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Future Enhancements: Intelligent Network Monitoring with AI &amp; LLM</a:t>
              </a:r>
              <a:endParaRPr lang="ko-KR" altLang="en-US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A82B2856-E01A-8BE3-8796-26B1B1A186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F67EBD3-6B5D-0B04-3152-653837BD277B}"/>
              </a:ext>
            </a:extLst>
          </p:cNvPr>
          <p:cNvSpPr txBox="1"/>
          <p:nvPr/>
        </p:nvSpPr>
        <p:spPr>
          <a:xfrm>
            <a:off x="668702" y="1715700"/>
            <a:ext cx="11037683" cy="15503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Our current system provides a robust foundation for advanced network analysis.</a:t>
            </a:r>
          </a:p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By integrating AI and Large Language Models (LLMs), we can unlock powerful new capabilities.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4751888-3DF3-482E-A28D-DE5CA6BA85E3}"/>
              </a:ext>
            </a:extLst>
          </p:cNvPr>
          <p:cNvSpPr txBox="1"/>
          <p:nvPr/>
        </p:nvSpPr>
        <p:spPr>
          <a:xfrm>
            <a:off x="819555" y="3496897"/>
            <a:ext cx="6851836" cy="2848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buClr>
                <a:srgbClr val="0076A3"/>
              </a:buClr>
            </a:pPr>
            <a:r>
              <a:rPr lang="en-US" altLang="ko-KR" sz="2000" dirty="0">
                <a:solidFill>
                  <a:srgbClr val="FF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</a:rPr>
              <a:t>1. Intelligent Threat Detection</a:t>
            </a:r>
          </a:p>
          <a:p>
            <a:pPr marL="638175" lvl="1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Anomaly Detection</a:t>
            </a:r>
          </a:p>
          <a:p>
            <a:pPr marL="638175" lvl="1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Proactive Defense</a:t>
            </a:r>
          </a:p>
          <a:p>
            <a:pPr lvl="1">
              <a:lnSpc>
                <a:spcPct val="130000"/>
              </a:lnSpc>
              <a:buClr>
                <a:srgbClr val="0076A3"/>
              </a:buClr>
            </a:pP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</a:endParaRPr>
          </a:p>
          <a:p>
            <a:pPr>
              <a:lnSpc>
                <a:spcPct val="130000"/>
              </a:lnSpc>
              <a:buClr>
                <a:srgbClr val="0076A3"/>
              </a:buClr>
            </a:pPr>
            <a:r>
              <a:rPr lang="en-US" altLang="ko-KR" sz="2000" dirty="0">
                <a:solidFill>
                  <a:srgbClr val="FF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</a:rPr>
              <a:t>2. Content-Based Filtering &amp; Blocking</a:t>
            </a:r>
          </a:p>
          <a:p>
            <a:pPr marL="638175" lvl="1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Harmful Website Detection</a:t>
            </a:r>
          </a:p>
          <a:p>
            <a:pPr marL="638175" lvl="1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Time-Based Access Control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445186D-5471-49F4-AD75-E54456244D22}"/>
              </a:ext>
            </a:extLst>
          </p:cNvPr>
          <p:cNvSpPr txBox="1"/>
          <p:nvPr/>
        </p:nvSpPr>
        <p:spPr>
          <a:xfrm>
            <a:off x="5983073" y="3496897"/>
            <a:ext cx="6851836" cy="2848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buClr>
                <a:srgbClr val="0076A3"/>
              </a:buClr>
            </a:pPr>
            <a:r>
              <a:rPr lang="en-US" altLang="ko-KR" sz="2000" dirty="0">
                <a:solidFill>
                  <a:srgbClr val="FF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</a:rPr>
              <a:t>3. Predictive Network Management</a:t>
            </a:r>
          </a:p>
          <a:p>
            <a:pPr marL="638175" lvl="1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Bandwidth Prediction</a:t>
            </a:r>
          </a:p>
          <a:p>
            <a:pPr marL="638175" lvl="1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Automated Troubleshooting</a:t>
            </a:r>
          </a:p>
          <a:p>
            <a:pPr marL="638175" lvl="1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</a:endParaRPr>
          </a:p>
          <a:p>
            <a:pPr>
              <a:lnSpc>
                <a:spcPct val="130000"/>
              </a:lnSpc>
              <a:buClr>
                <a:srgbClr val="0076A3"/>
              </a:buClr>
            </a:pPr>
            <a:r>
              <a:rPr lang="en-US" altLang="ko-KR" sz="2000" dirty="0">
                <a:solidFill>
                  <a:srgbClr val="FF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</a:rPr>
              <a:t>4. Enhanced Network Insights &amp; Reporting</a:t>
            </a:r>
          </a:p>
          <a:p>
            <a:pPr marL="638175" lvl="1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User Behavior Analysis</a:t>
            </a:r>
          </a:p>
          <a:p>
            <a:pPr marL="638175" lvl="1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Natural Language Reporting</a:t>
            </a:r>
          </a:p>
        </p:txBody>
      </p:sp>
    </p:spTree>
    <p:extLst>
      <p:ext uri="{BB962C8B-B14F-4D97-AF65-F5344CB8AC3E}">
        <p14:creationId xmlns:p14="http://schemas.microsoft.com/office/powerpoint/2010/main" val="8840901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18995</TotalTime>
  <Words>3023</Words>
  <Application>Microsoft Office PowerPoint</Application>
  <PresentationFormat>와이드스크린</PresentationFormat>
  <Paragraphs>408</Paragraphs>
  <Slides>54</Slides>
  <Notes>53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54</vt:i4>
      </vt:variant>
    </vt:vector>
  </HeadingPairs>
  <TitlesOfParts>
    <vt:vector size="65" baseType="lpstr">
      <vt:lpstr>ONE 모바일고딕 Regular</vt:lpstr>
      <vt:lpstr>Pretendard</vt:lpstr>
      <vt:lpstr>Pretendard Light</vt:lpstr>
      <vt:lpstr>Pretendard Medium</vt:lpstr>
      <vt:lpstr>Pretendard SemiBold</vt:lpstr>
      <vt:lpstr>SF싸락눈</vt:lpstr>
      <vt:lpstr>강원교육튼튼</vt:lpstr>
      <vt:lpstr>말싸미815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안수현</dc:creator>
  <cp:lastModifiedBy>oollccddss</cp:lastModifiedBy>
  <cp:revision>320</cp:revision>
  <dcterms:created xsi:type="dcterms:W3CDTF">2025-02-04T05:54:06Z</dcterms:created>
  <dcterms:modified xsi:type="dcterms:W3CDTF">2025-11-17T10:11:18Z</dcterms:modified>
</cp:coreProperties>
</file>